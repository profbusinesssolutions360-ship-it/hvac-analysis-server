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pn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png"/><Relationship Id="rId27" Type="http://schemas.openxmlformats.org/officeDocument/2006/relationships/image" Target="../media/image-17-27.png"/><Relationship Id="rId28" Type="http://schemas.openxmlformats.org/officeDocument/2006/relationships/image" Target="../media/image-17-28.png"/><Relationship Id="rId29" Type="http://schemas.openxmlformats.org/officeDocument/2006/relationships/image" Target="../media/image-17-29.png"/><Relationship Id="rId30" Type="http://schemas.openxmlformats.org/officeDocument/2006/relationships/image" Target="../media/image-17-30.png"/><Relationship Id="rId31" Type="http://schemas.openxmlformats.org/officeDocument/2006/relationships/image" Target="../media/image-17-31.png"/><Relationship Id="rId32" Type="http://schemas.openxmlformats.org/officeDocument/2006/relationships/image" Target="../media/image-17-32.png"/><Relationship Id="rId33" Type="http://schemas.openxmlformats.org/officeDocument/2006/relationships/image" Target="../media/image-17-33.png"/><Relationship Id="rId34" Type="http://schemas.openxmlformats.org/officeDocument/2006/relationships/image" Target="../media/image-17-34.png"/><Relationship Id="rId35" Type="http://schemas.openxmlformats.org/officeDocument/2006/relationships/image" Target="../media/image-17-35.png"/><Relationship Id="rId36" Type="http://schemas.openxmlformats.org/officeDocument/2006/relationships/image" Target="../media/image-17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-38887" r="-38887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-28" r="-28" t="0" b="0"/>
          <a:stretch/>
        </p:blipFill>
        <p:spPr>
          <a:xfrm>
            <a:off x="761695" y="935431"/>
            <a:ext cx="6019495" cy="37124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13739" y="935431"/>
            <a:ext cx="566836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13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[COMPANY NAME] </a:t>
            </a:r>
            <a:endParaRPr lang="en-US" sz="10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-7078" r="-7078" t="0" b="0"/>
          <a:stretch/>
        </p:blipFill>
        <p:spPr>
          <a:xfrm>
            <a:off x="923544" y="1054303"/>
            <a:ext cx="114300" cy="133502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761695" y="1612087"/>
            <a:ext cx="6020410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12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DORMANT CUSTOMER</a:t>
            </a:r>
            <a:pPr algn="l" indent="0" marL="0">
              <a:buNone/>
            </a:pPr>
            <a:endParaRPr lang="en-US" sz="4800" dirty="0"/>
          </a:p>
          <a:p>
            <a:pPr algn="l" indent="0" marL="0">
              <a:buNone/>
            </a:pPr>
            <a:r>
              <a:rPr lang="en-US" sz="4800" b="1" spc="-112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REPORT</a:t>
            </a:r>
            <a:endParaRPr lang="en-US" sz="4800" dirty="0"/>
          </a:p>
        </p:txBody>
      </p:sp>
      <p:sp>
        <p:nvSpPr>
          <p:cNvPr id="10" name="Shape 4"/>
          <p:cNvSpPr/>
          <p:nvPr/>
        </p:nvSpPr>
        <p:spPr>
          <a:xfrm>
            <a:off x="761695" y="3852367"/>
            <a:ext cx="57607" cy="6949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1047902" y="3852367"/>
            <a:ext cx="57342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Complete Analysis of Your Customer</a:t>
            </a:r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Portfolio &amp; Reactivation Opportunity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761695" y="5079492"/>
            <a:ext cx="2152498" cy="847649"/>
          </a:xfrm>
          <a:prstGeom prst="roundRect">
            <a:avLst>
              <a:gd name="adj" fmla="val 1939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000354" y="5279746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FOR</a:t>
            </a:r>
            <a:endParaRPr lang="en-US" sz="800" dirty="0"/>
          </a:p>
        </p:txBody>
      </p:sp>
      <p:sp>
        <p:nvSpPr>
          <p:cNvPr id="14" name="Text 8"/>
          <p:cNvSpPr txBox="1"/>
          <p:nvPr/>
        </p:nvSpPr>
        <p:spPr>
          <a:xfrm>
            <a:off x="1000354" y="5493715"/>
            <a:ext cx="18626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[Owner Name] &amp; Team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3217774" y="5079492"/>
            <a:ext cx="1904695" cy="847649"/>
          </a:xfrm>
          <a:prstGeom prst="roundRect">
            <a:avLst>
              <a:gd name="adj" fmla="val 1939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3456432" y="5279746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3456432" y="5493715"/>
            <a:ext cx="1569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January 21, 2026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 rot="2340000">
            <a:off x="6483096" y="615391"/>
            <a:ext cx="5629046" cy="5629046"/>
          </a:xfrm>
          <a:prstGeom prst="ellipse">
            <a:avLst/>
          </a:prstGeom>
          <a:noFill/>
          <a:ln w="254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0696651" y="2029054"/>
            <a:ext cx="114300" cy="1143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96505" y="4552798"/>
            <a:ext cx="75895" cy="75895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772400" y="1904695"/>
            <a:ext cx="3047695" cy="3047695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20302" y="2952598"/>
            <a:ext cx="952805" cy="952805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3" b="-13"/>
          <a:stretch/>
        </p:blipFill>
        <p:spPr>
          <a:xfrm>
            <a:off x="8641080" y="4114800"/>
            <a:ext cx="2655418" cy="933602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8869680" y="4352544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5" b="-45"/>
          <a:stretch/>
        </p:blipFill>
        <p:spPr>
          <a:xfrm>
            <a:off x="8969350" y="4466844"/>
            <a:ext cx="256946" cy="2286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9479585" y="4304995"/>
            <a:ext cx="17227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Identified Opportunity</a:t>
            </a:r>
            <a:endParaRPr lang="en-US" sz="900" dirty="0"/>
          </a:p>
        </p:txBody>
      </p:sp>
      <p:sp>
        <p:nvSpPr>
          <p:cNvPr id="27" name="Text 17"/>
          <p:cNvSpPr txBox="1"/>
          <p:nvPr/>
        </p:nvSpPr>
        <p:spPr>
          <a:xfrm>
            <a:off x="9479585" y="4515307"/>
            <a:ext cx="15910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$47,000+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62195" y="987552"/>
            <a:ext cx="666780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analyzing your customer database, we've identified </a:t>
            </a:r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$47,000 in dormant annual revenue</a:t>
            </a:r>
            <a:pPr algn="l" indent="0" marL="0">
              <a:buNone/>
            </a:pPr>
            <a:r>
              <a:rPr lang="en-US" sz="21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sitting in customers you've already paid to acquire.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762195" y="2496312"/>
            <a:ext cx="666780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report shows you exactly where that opportunity exists, which customers to target first, and the realistic path to </a:t>
            </a:r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recovering 30-40% of this revenue</a:t>
            </a:r>
            <a:pPr algn="l" indent="0" marL="0">
              <a:buNone/>
            </a:pPr>
            <a:r>
              <a:rPr lang="en-US" sz="21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the next 90 days.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762195" y="4774997"/>
            <a:ext cx="6667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62195" y="5165446"/>
            <a:ext cx="20391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Hidden Opportunity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762195" y="5413248"/>
            <a:ext cx="24259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$47,000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 year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080199" y="5165446"/>
            <a:ext cx="20391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Dormant Assets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080199" y="5413248"/>
            <a:ext cx="24259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1,440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398203" y="5165446"/>
            <a:ext cx="20391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to Reactivate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398203" y="5413248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1670487" y="6400800"/>
            <a:ext cx="143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-35714" b="-35714"/>
          <a:stretch/>
        </p:blipFill>
        <p:spPr>
          <a:xfrm>
            <a:off x="0" y="0"/>
            <a:ext cx="4000500" cy="68580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76402" y="571500"/>
            <a:ext cx="3048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6402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6402" y="2104949"/>
            <a:ext cx="3048610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</a:t>
            </a:r>
            <a:pPr algn="l" indent="0" marL="0">
              <a:buNone/>
            </a:pP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</a:t>
            </a:r>
            <a:endParaRPr lang="en-US" sz="4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0" b="0"/>
          <a:stretch/>
        </p:blipFill>
        <p:spPr>
          <a:xfrm>
            <a:off x="476402" y="961949"/>
            <a:ext cx="761695" cy="7616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76402" y="3564331"/>
            <a:ext cx="3048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 Period: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Jan 2024 - Jan 2026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76402" y="4143146"/>
            <a:ext cx="3048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Source: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CRM Database Export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695" y="262433"/>
            <a:ext cx="47549" cy="15910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09844" y="262433"/>
            <a:ext cx="5820156" cy="1591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businesses treat sales as transactions. Done right, sales are the </a:t>
            </a:r>
            <a:pPr algn="l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beginning</a:t>
            </a:r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a buying relationship.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333695" y="2227478"/>
            <a:ext cx="60963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customers aren't just revenue events—they are tangible </a:t>
            </a:r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assets on your balance sheet</a:t>
            </a:r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You've already paid the acquisition cost to win their trust.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33695" y="3256178"/>
            <a:ext cx="6096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Letting them go dormant isn't a marketing problem; it's an </a:t>
            </a:r>
            <a:pPr algn="l"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management problem</a:t>
            </a:r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33695" y="4418381"/>
            <a:ext cx="6096305" cy="1028700"/>
          </a:xfrm>
          <a:prstGeom prst="roundRect">
            <a:avLst>
              <a:gd name="adj" fmla="val 13169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5572354" y="4694530"/>
            <a:ext cx="171907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934456" y="4657039"/>
            <a:ext cx="5257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"You are not in the HVAC business. You are in the customer relationship business that happens to do HVAC."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33695" y="5824728"/>
            <a:ext cx="60963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33695" y="6215177"/>
            <a:ext cx="1314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$200–$500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302606" y="6605626"/>
            <a:ext cx="137617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Acquisition Cost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796735" y="6357823"/>
            <a:ext cx="12344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057339" y="6215177"/>
            <a:ext cx="1047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975958" y="6605626"/>
            <a:ext cx="121158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Already Earned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257032" y="6357823"/>
            <a:ext cx="12344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=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518550" y="6215177"/>
            <a:ext cx="10003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ASSET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518550" y="6605626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Be Managed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672316" y="6400800"/>
            <a:ext cx="143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0" y="0"/>
            <a:ext cx="4572000" cy="6858000"/>
          </a:xfrm>
          <a:custGeom>
            <a:avLst/>
            <a:gdLst/>
            <a:ahLst/>
            <a:cxnLst/>
            <a:rect l="l" t="t" r="r" b="b"/>
            <a:pathLst>
              <a:path w="4572000" h="6858000">
                <a:moveTo>
                  <a:pt x="0" y="0"/>
                </a:moveTo>
                <a:lnTo>
                  <a:pt x="4572000" y="0"/>
                </a:lnTo>
                <a:lnTo>
                  <a:pt x="3886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04011" y="2663647"/>
            <a:ext cx="2572207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You're Not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the HVAC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</a:t>
            </a:r>
            <a:endParaRPr lang="en-US" sz="31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004011" y="4212641"/>
            <a:ext cx="571500" cy="3840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004011" y="4479646"/>
            <a:ext cx="25722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75" kern="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Asset Management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spc="75" kern="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Philosophy</a:t>
            </a:r>
            <a:endParaRPr lang="en-US" sz="13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l="-469" r="-469" t="0" b="0"/>
          <a:stretch/>
        </p:blipFill>
        <p:spPr>
          <a:xfrm>
            <a:off x="1004011" y="1863547"/>
            <a:ext cx="504749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4190695" y="571500"/>
            <a:ext cx="7429500" cy="34866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98157" y="2214677"/>
            <a:ext cx="1420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Breakdown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90695" y="4438498"/>
            <a:ext cx="2324405" cy="1848002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90695" y="4438498"/>
            <a:ext cx="2324405" cy="38405"/>
          </a:xfrm>
          <a:prstGeom prst="roundRect">
            <a:avLst>
              <a:gd name="adj" fmla="val 294549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19295" y="4705502"/>
            <a:ext cx="66111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787238" y="4705502"/>
            <a:ext cx="505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419295" y="5162702"/>
            <a:ext cx="1114654" cy="276149"/>
          </a:xfrm>
          <a:prstGeom prst="roundRect">
            <a:avLst>
              <a:gd name="adj" fmla="val 9134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19295" y="5162702"/>
            <a:ext cx="11146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960 Customers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33795" y="5224882"/>
            <a:ext cx="152705" cy="15270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419295" y="5553151"/>
            <a:ext cx="1867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419295" y="5676595"/>
            <a:ext cx="1867205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Purchased in last 12 months.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Currently engaged. 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743700" y="4438498"/>
            <a:ext cx="2324405" cy="1848002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43700" y="4438498"/>
            <a:ext cx="2324405" cy="38405"/>
          </a:xfrm>
          <a:prstGeom prst="roundRect">
            <a:avLst>
              <a:gd name="adj" fmla="val 294549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972300" y="4705502"/>
            <a:ext cx="77083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At-Risk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8360359" y="4705502"/>
            <a:ext cx="4864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972300" y="5162702"/>
            <a:ext cx="1114654" cy="276149"/>
          </a:xfrm>
          <a:prstGeom prst="roundRect">
            <a:avLst>
              <a:gd name="adj" fmla="val 9134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972300" y="5162702"/>
            <a:ext cx="11146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800 Customers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86800" y="5224882"/>
            <a:ext cx="152705" cy="15270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972300" y="5553151"/>
            <a:ext cx="1867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972300" y="5676595"/>
            <a:ext cx="1867205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12-24 months since purchase.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Engagement fading. 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296705" y="4438498"/>
            <a:ext cx="2324405" cy="1848002"/>
          </a:xfrm>
          <a:prstGeom prst="roundRect">
            <a:avLst>
              <a:gd name="adj" fmla="val 6121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96705" y="4438498"/>
            <a:ext cx="2324405" cy="38405"/>
          </a:xfrm>
          <a:prstGeom prst="roundRect">
            <a:avLst>
              <a:gd name="adj" fmla="val 294549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534449" y="4705502"/>
            <a:ext cx="810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Dormant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10880446" y="4705502"/>
            <a:ext cx="505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9534449" y="5162702"/>
            <a:ext cx="1228954" cy="276149"/>
          </a:xfrm>
          <a:prstGeom prst="roundRect">
            <a:avLst>
              <a:gd name="adj" fmla="val 91345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534449" y="5162702"/>
            <a:ext cx="12289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1,440 Customers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229746" y="5224882"/>
            <a:ext cx="152705" cy="15270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534449" y="5553151"/>
            <a:ext cx="18480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534449" y="5676595"/>
            <a:ext cx="1848002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2D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Opportunity.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24+ months silent. 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659514" y="6400800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Analysis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381305" y="909828"/>
            <a:ext cx="2857500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Current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Asset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</a:t>
            </a:r>
            <a:endParaRPr lang="en-US" sz="3100" dirty="0"/>
          </a:p>
        </p:txBody>
      </p:sp>
      <p:sp>
        <p:nvSpPr>
          <p:cNvPr id="40" name="Shape 33"/>
          <p:cNvSpPr/>
          <p:nvPr/>
        </p:nvSpPr>
        <p:spPr>
          <a:xfrm>
            <a:off x="381305" y="3637483"/>
            <a:ext cx="2857500" cy="1647749"/>
          </a:xfrm>
          <a:prstGeom prst="roundRect">
            <a:avLst>
              <a:gd name="adj" fmla="val 769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76656" y="3932834"/>
            <a:ext cx="2267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75" kern="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Database Size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676656" y="4208983"/>
            <a:ext cx="22677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3,200</a:t>
            </a:r>
            <a:endParaRPr lang="en-US" sz="4200" dirty="0"/>
          </a:p>
        </p:txBody>
      </p:sp>
      <p:sp>
        <p:nvSpPr>
          <p:cNvPr id="43" name="Text 36"/>
          <p:cNvSpPr txBox="1"/>
          <p:nvPr/>
        </p:nvSpPr>
        <p:spPr>
          <a:xfrm>
            <a:off x="381305" y="3211373"/>
            <a:ext cx="2857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segmented your database based on recency of purchase to identify asset health.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676656" y="4818888"/>
            <a:ext cx="2267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Unique customer records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1805" y="571500"/>
            <a:ext cx="7049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Calculating Your Idle Investment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1805" y="1505102"/>
            <a:ext cx="3066898" cy="2009851"/>
          </a:xfrm>
          <a:prstGeom prst="roundRect">
            <a:avLst>
              <a:gd name="adj" fmla="val 5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1805" y="3476549"/>
            <a:ext cx="3066898" cy="38405"/>
          </a:xfrm>
          <a:prstGeom prst="roundRect">
            <a:avLst>
              <a:gd name="adj" fmla="val 270818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0405" y="1733702"/>
            <a:ext cx="381305" cy="381305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4705502" y="1848002"/>
            <a:ext cx="19019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610405" y="2266798"/>
            <a:ext cx="2610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Dormant Assets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610405" y="2566721"/>
            <a:ext cx="2610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1,440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610405" y="3062326"/>
            <a:ext cx="2610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636154" y="2281428"/>
            <a:ext cx="1901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×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001000" y="1505102"/>
            <a:ext cx="3066898" cy="2009851"/>
          </a:xfrm>
          <a:prstGeom prst="roundRect">
            <a:avLst>
              <a:gd name="adj" fmla="val 5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01000" y="3476549"/>
            <a:ext cx="3066898" cy="38405"/>
          </a:xfrm>
          <a:prstGeom prst="roundRect">
            <a:avLst>
              <a:gd name="adj" fmla="val 27081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1733702"/>
            <a:ext cx="381305" cy="38130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43900" y="1848002"/>
            <a:ext cx="152705" cy="152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229600" y="2266798"/>
            <a:ext cx="2610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Acquisition Cost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8229600" y="2566721"/>
            <a:ext cx="2610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$200 - $500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3062326"/>
            <a:ext cx="2610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Customer (CAC)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255350" y="2281428"/>
            <a:ext cx="1901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=</a:t>
            </a:r>
            <a:endParaRPr lang="en-US" sz="2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-5" r="-5" t="0" b="0"/>
          <a:stretch/>
        </p:blipFill>
        <p:spPr>
          <a:xfrm>
            <a:off x="4381805" y="3991356"/>
            <a:ext cx="7048195" cy="151424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381805" y="3991356"/>
            <a:ext cx="75895" cy="1495044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772254" y="4381805"/>
            <a:ext cx="6268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Sunk Cost Sitting Dormant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772254" y="4733849"/>
            <a:ext cx="62682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$288k — $720k</a:t>
            </a:r>
            <a:endParaRPr lang="en-US" sz="4800" dirty="0"/>
          </a:p>
        </p:txBody>
      </p:sp>
      <p:sp>
        <p:nvSpPr>
          <p:cNvPr id="26" name="Text 21"/>
          <p:cNvSpPr txBox="1"/>
          <p:nvPr/>
        </p:nvSpPr>
        <p:spPr>
          <a:xfrm>
            <a:off x="4772254" y="5495544"/>
            <a:ext cx="62682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2D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That's up to three-quarters of a million dollars in marketing investment generating </a:t>
            </a:r>
            <a:pPr algn="ctr"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return</a:t>
            </a:r>
            <a:pPr algn="ctr" indent="0" marL="0">
              <a:buNone/>
            </a:pPr>
            <a:r>
              <a:rPr lang="en-US" sz="1300" dirty="0">
                <a:solidFill>
                  <a:srgbClr val="7C2D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right now. </a:t>
            </a:r>
            <a:endParaRPr lang="en-US" sz="13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1805" y="5924398"/>
            <a:ext cx="152705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686300" y="5886907"/>
            <a:ext cx="5715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Asset Perspective: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If you bought a $500,000 piece of equipment and left it in the warehouse unplugged, you'd fix it immediately. Your customer list is that equipment. 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1670487" y="6400800"/>
            <a:ext cx="143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Acquisition Reality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381305" y="909828"/>
            <a:ext cx="2857500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Sunk Cost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Your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</a:t>
            </a:r>
            <a:endParaRPr lang="en-US" sz="3100" dirty="0"/>
          </a:p>
        </p:txBody>
      </p:sp>
      <p:sp>
        <p:nvSpPr>
          <p:cNvPr id="35" name="Shape 28"/>
          <p:cNvSpPr/>
          <p:nvPr/>
        </p:nvSpPr>
        <p:spPr>
          <a:xfrm>
            <a:off x="381305" y="3116275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80644" y="3116275"/>
            <a:ext cx="3162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isn't a theoretical projection.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580644" y="3512210"/>
            <a:ext cx="265816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actual cash you have already deployed in marketing spend, commissions, and overhead to acquire customers who are now silent.</a:t>
            </a:r>
            <a:endParaRPr lang="en-US" sz="12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rcRect l="0" r="0" t="0" b="0"/>
          <a:stretch/>
        </p:blipFill>
        <p:spPr>
          <a:xfrm>
            <a:off x="381305" y="4731106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1805" y="571500"/>
            <a:ext cx="7049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You're Losing Annually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1805" y="1505102"/>
            <a:ext cx="3066898" cy="2009851"/>
          </a:xfrm>
          <a:prstGeom prst="roundRect">
            <a:avLst>
              <a:gd name="adj" fmla="val 5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1805" y="3476549"/>
            <a:ext cx="3066898" cy="38405"/>
          </a:xfrm>
          <a:prstGeom prst="roundRect">
            <a:avLst>
              <a:gd name="adj" fmla="val 270818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0405" y="1733702"/>
            <a:ext cx="381305" cy="381305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4705502" y="1848002"/>
            <a:ext cx="19019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610405" y="2266798"/>
            <a:ext cx="2610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Dormant Base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610405" y="2566721"/>
            <a:ext cx="2610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1,440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610405" y="3062326"/>
            <a:ext cx="2610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&gt;24 Months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636154" y="2281428"/>
            <a:ext cx="1901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×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001000" y="1505102"/>
            <a:ext cx="3066898" cy="2009851"/>
          </a:xfrm>
          <a:prstGeom prst="roundRect">
            <a:avLst>
              <a:gd name="adj" fmla="val 5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01000" y="3476549"/>
            <a:ext cx="3066898" cy="38405"/>
          </a:xfrm>
          <a:prstGeom prst="roundRect">
            <a:avLst>
              <a:gd name="adj" fmla="val 27081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1733702"/>
            <a:ext cx="381305" cy="38130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00" b="-100"/>
          <a:stretch/>
        </p:blipFill>
        <p:spPr>
          <a:xfrm>
            <a:off x="8363102" y="1848002"/>
            <a:ext cx="114300" cy="152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229600" y="2266798"/>
            <a:ext cx="2610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Typical Service Value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8229600" y="2566721"/>
            <a:ext cx="2610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~$32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3062326"/>
            <a:ext cx="2610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Head (Conservative Avg)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255350" y="2281428"/>
            <a:ext cx="1901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=</a:t>
            </a:r>
            <a:endParaRPr lang="en-US" sz="2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0" b="-20"/>
          <a:stretch/>
        </p:blipFill>
        <p:spPr>
          <a:xfrm>
            <a:off x="4381805" y="3991356"/>
            <a:ext cx="7048195" cy="1314907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381805" y="3991356"/>
            <a:ext cx="75895" cy="1295705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772254" y="4381805"/>
            <a:ext cx="6268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Annual Unrealized Revenue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772254" y="4733849"/>
            <a:ext cx="62682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$47,000</a:t>
            </a:r>
            <a:endParaRPr lang="en-US" sz="5400" dirty="0"/>
          </a:p>
        </p:txBody>
      </p:sp>
      <p:sp>
        <p:nvSpPr>
          <p:cNvPr id="26" name="Text 21"/>
          <p:cNvSpPr txBox="1"/>
          <p:nvPr/>
        </p:nvSpPr>
        <p:spPr>
          <a:xfrm>
            <a:off x="4772254" y="5572354"/>
            <a:ext cx="62682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2D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If these dormant customers simply returned to a standard service cadence, this is the </a:t>
            </a:r>
            <a:pPr algn="ctr"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pure profit</a:t>
            </a:r>
            <a:pPr algn="ctr" indent="0" marL="0">
              <a:buNone/>
            </a:pPr>
            <a:r>
              <a:rPr lang="en-US" sz="1300" dirty="0">
                <a:solidFill>
                  <a:srgbClr val="7C2D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leaking from your business. </a:t>
            </a:r>
            <a:endParaRPr lang="en-US" sz="13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1805" y="5724144"/>
            <a:ext cx="152705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686300" y="5686654"/>
            <a:ext cx="5715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Reality Check: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Based on industry averages, dormant customers often represent a $350-$400 ticket value upon return. This calculation assumes a conservative reactivation mix. 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1665915" y="6400800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Loss Calculation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Annual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Dormant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</a:t>
            </a:r>
            <a:endParaRPr lang="en-US" sz="3100" dirty="0"/>
          </a:p>
        </p:txBody>
      </p:sp>
      <p:sp>
        <p:nvSpPr>
          <p:cNvPr id="35" name="Shape 28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the opportunity cost of silence.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580644" y="3275381"/>
            <a:ext cx="2658161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these customers aren't buying from you, their HVAC needs haven't disappeared. They are spending this money elsewhere.</a:t>
            </a:r>
            <a:endParaRPr lang="en-US" sz="12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rcRect l="0" r="0" t="0" b="0"/>
          <a:stretch/>
        </p:blipFill>
        <p:spPr>
          <a:xfrm>
            <a:off x="381305" y="4251046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571500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Performance Gap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90695" y="1947672"/>
            <a:ext cx="4324198" cy="381030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4381805" y="2138782"/>
            <a:ext cx="3943807" cy="3429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381805" y="5662879"/>
            <a:ext cx="3943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Reactivation Rate (% of Dormant Base)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991295" y="1410005"/>
            <a:ext cx="2628900" cy="1524305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91295" y="1410005"/>
            <a:ext cx="47549" cy="1524305"/>
          </a:xfrm>
          <a:prstGeom prst="roundRect">
            <a:avLst>
              <a:gd name="adj" fmla="val 288460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67444" y="1638605"/>
            <a:ext cx="21241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Gap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267444" y="1886407"/>
            <a:ext cx="25091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7.5% </a:t>
            </a:r>
            <a:pPr algn="l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points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9267444" y="2305202"/>
            <a:ext cx="2124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are performing at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~28%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the industry standard. 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991295" y="3161995"/>
            <a:ext cx="2628900" cy="1524305"/>
          </a:xfrm>
          <a:prstGeom prst="roundRect">
            <a:avLst>
              <a:gd name="adj" fmla="val 8998"/>
            </a:avLst>
          </a:prstGeom>
          <a:solidFill>
            <a:srgbClr val="FFF7ED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991295" y="3161995"/>
            <a:ext cx="47549" cy="1524305"/>
          </a:xfrm>
          <a:prstGeom prst="roundRect">
            <a:avLst>
              <a:gd name="adj" fmla="val 28846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67444" y="3390595"/>
            <a:ext cx="21241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Annual Cost of Gap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267444" y="3638398"/>
            <a:ext cx="21241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$23,000</a:t>
            </a:r>
            <a:endParaRPr lang="en-US" sz="2700" dirty="0"/>
          </a:p>
        </p:txBody>
      </p:sp>
      <p:sp>
        <p:nvSpPr>
          <p:cNvPr id="18" name="Text 15"/>
          <p:cNvSpPr txBox="1"/>
          <p:nvPr/>
        </p:nvSpPr>
        <p:spPr>
          <a:xfrm>
            <a:off x="9267444" y="4058107"/>
            <a:ext cx="2124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unrealized revenue compared to peers of your size.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991295" y="4914900"/>
            <a:ext cx="2628900" cy="1380744"/>
          </a:xfrm>
          <a:prstGeom prst="roundRect">
            <a:avLst>
              <a:gd name="adj" fmla="val 7308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9182405" y="5143500"/>
            <a:ext cx="171907" cy="15270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506102" y="5105095"/>
            <a:ext cx="1924812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Volume Reality: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Companies your size typically reactivate 115–175 dormant customers per year. You're currently on track to reactivate 43. 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11668658" y="6400800"/>
            <a:ext cx="143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 Benchmark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You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</a:t>
            </a:r>
            <a:endParaRPr lang="en-US" sz="3100" dirty="0"/>
          </a:p>
        </p:txBody>
      </p:sp>
      <p:sp>
        <p:nvSpPr>
          <p:cNvPr id="28" name="Shape 23"/>
          <p:cNvSpPr/>
          <p:nvPr/>
        </p:nvSpPr>
        <p:spPr>
          <a:xfrm>
            <a:off x="381305" y="2155241"/>
            <a:ext cx="9144" cy="1218895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80644" y="2155241"/>
            <a:ext cx="265816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compared your current reactivation performance against anonymized data from 140+ HVAC companies in the $2M-$10M revenue range.</a:t>
            </a:r>
            <a:endParaRPr lang="en-US" sz="12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-57" r="-57" t="0" b="0"/>
          <a:stretch/>
        </p:blipFill>
        <p:spPr>
          <a:xfrm>
            <a:off x="381305" y="3374136"/>
            <a:ext cx="40050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728777"/>
            <a:ext cx="7429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Economics of Attention</a:t>
            </a:r>
            <a:endParaRPr lang="en-US" sz="2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4" r="-4" t="0" b="0"/>
          <a:stretch/>
        </p:blipFill>
        <p:spPr>
          <a:xfrm>
            <a:off x="4190695" y="1414577"/>
            <a:ext cx="7429500" cy="3619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00754" y="1423721"/>
            <a:ext cx="3705149" cy="3600907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72023" y="1805026"/>
            <a:ext cx="761695" cy="381305"/>
          </a:xfrm>
          <a:prstGeom prst="roundRect">
            <a:avLst>
              <a:gd name="adj" fmla="val 239808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4" b="-24"/>
          <a:stretch/>
        </p:blipFill>
        <p:spPr>
          <a:xfrm>
            <a:off x="5814670" y="1805026"/>
            <a:ext cx="476402" cy="3813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68266" y="2376526"/>
            <a:ext cx="2371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75" kern="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Acquisition Focus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352898" y="2757830"/>
            <a:ext cx="1400861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$500</a:t>
            </a:r>
            <a:endParaRPr lang="en-US" sz="4200" dirty="0"/>
          </a:p>
        </p:txBody>
      </p:sp>
      <p:sp>
        <p:nvSpPr>
          <p:cNvPr id="12" name="Text 8"/>
          <p:cNvSpPr txBox="1"/>
          <p:nvPr/>
        </p:nvSpPr>
        <p:spPr>
          <a:xfrm>
            <a:off x="4981651" y="3366821"/>
            <a:ext cx="21506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Per New Customer (CAC)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5335524" y="3781044"/>
            <a:ext cx="2171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Cold leads with zero trust 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5195621" y="3807562"/>
            <a:ext cx="105156" cy="1335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83073" y="4082796"/>
            <a:ext cx="22475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Low conversion rates (2-3%) 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837" r="-837" t="0" b="0"/>
          <a:stretch/>
        </p:blipFill>
        <p:spPr>
          <a:xfrm>
            <a:off x="5195621" y="4108399"/>
            <a:ext cx="152705" cy="1335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02275" y="4383634"/>
            <a:ext cx="20921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High competitive friction 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-1507" r="-1507" t="0" b="0"/>
          <a:stretch/>
        </p:blipFill>
        <p:spPr>
          <a:xfrm>
            <a:off x="5195621" y="4409237"/>
            <a:ext cx="171907" cy="13350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905902" y="1423721"/>
            <a:ext cx="3705149" cy="3600907"/>
          </a:xfrm>
          <a:prstGeom prst="roundRect">
            <a:avLst>
              <a:gd name="adj" fmla="val 215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9377172" y="1805026"/>
            <a:ext cx="761695" cy="381305"/>
          </a:xfrm>
          <a:prstGeom prst="roundRect">
            <a:avLst>
              <a:gd name="adj" fmla="val 239808"/>
            </a:avLst>
          </a:prstGeom>
          <a:solidFill>
            <a:srgbClr val="F9731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568282" y="1805026"/>
            <a:ext cx="381305" cy="3813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494776" y="2376526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75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Reactivation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9261958" y="2757830"/>
            <a:ext cx="10003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$75</a:t>
            </a:r>
            <a:endParaRPr lang="en-US" sz="4200" dirty="0"/>
          </a:p>
        </p:txBody>
      </p:sp>
      <p:sp>
        <p:nvSpPr>
          <p:cNvPr id="24" name="Text 16"/>
          <p:cNvSpPr txBox="1"/>
          <p:nvPr/>
        </p:nvSpPr>
        <p:spPr>
          <a:xfrm>
            <a:off x="8925458" y="3366821"/>
            <a:ext cx="16724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Per Reactivation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9015984" y="3781044"/>
            <a:ext cx="188549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target YOUR past clients</a:t>
            </a:r>
            <a:endParaRPr lang="en-US" sz="10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8900770" y="3807562"/>
            <a:ext cx="114300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049817" y="4269334"/>
            <a:ext cx="18516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Warmer intent &amp; trust 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8900770" y="4294937"/>
            <a:ext cx="114300" cy="13350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049817" y="4570171"/>
            <a:ext cx="18516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Faster sales cycle </a:t>
            </a:r>
            <a:endParaRPr lang="en-US" sz="10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8900770" y="4595774"/>
            <a:ext cx="114300" cy="133502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4190695" y="5319979"/>
            <a:ext cx="7429500" cy="809244"/>
          </a:xfrm>
          <a:prstGeom prst="roundRect">
            <a:avLst>
              <a:gd name="adj" fmla="val 21270"/>
            </a:avLst>
          </a:prstGeom>
          <a:solidFill>
            <a:srgbClr val="1E293B"/>
          </a:solidFill>
          <a:ln/>
        </p:spPr>
      </p:sp>
      <p:sp>
        <p:nvSpPr>
          <p:cNvPr id="32" name="Shape 21"/>
          <p:cNvSpPr/>
          <p:nvPr/>
        </p:nvSpPr>
        <p:spPr>
          <a:xfrm>
            <a:off x="4190695" y="5319979"/>
            <a:ext cx="38405" cy="809244"/>
          </a:xfrm>
          <a:prstGeom prst="roundRect">
            <a:avLst>
              <a:gd name="adj" fmla="val 44817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457700" y="5609844"/>
            <a:ext cx="228600" cy="2286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876495" y="5510174"/>
            <a:ext cx="65151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Reality Check: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dormant customers don't stop needing HVAC service. They just start buying from someone else. Usually a competitor who simply stayed in touch.</a:t>
            </a:r>
            <a:endParaRPr lang="en-US" sz="1100" dirty="0"/>
          </a:p>
        </p:txBody>
      </p:sp>
      <p:sp>
        <p:nvSpPr>
          <p:cNvPr id="35" name="Text 23"/>
          <p:cNvSpPr txBox="1"/>
          <p:nvPr/>
        </p:nvSpPr>
        <p:spPr>
          <a:xfrm>
            <a:off x="11662258" y="6400800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Competitor Reality</a:t>
            </a:r>
            <a:endParaRPr lang="en-US" sz="900" dirty="0"/>
          </a:p>
        </p:txBody>
      </p:sp>
      <p:sp>
        <p:nvSpPr>
          <p:cNvPr id="39" name="Shape 26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You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Chase New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Leads...</a:t>
            </a:r>
            <a:endParaRPr lang="en-US" sz="3100" dirty="0"/>
          </a:p>
        </p:txBody>
      </p:sp>
      <p:sp>
        <p:nvSpPr>
          <p:cNvPr id="41" name="Shape 28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9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competitors aren't just outbidding you on Google Ads.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are quietly harvesting the low-hanging fruit that you planted, paid for, and then ignored.</a:t>
            </a:r>
            <a:endParaRPr lang="en-US" sz="120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>
            <a:alphaModFix amt="80000"/>
          </a:blip>
          <a:srcRect l="-80" r="-80" t="0" b="0"/>
          <a:stretch/>
        </p:blipFill>
        <p:spPr>
          <a:xfrm>
            <a:off x="381305" y="4006901"/>
            <a:ext cx="286207" cy="457200"/>
          </a:xfrm>
          <a:prstGeom prst="rect">
            <a:avLst/>
          </a:prstGeom>
        </p:spPr>
      </p:pic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667244" y="2986430"/>
            <a:ext cx="476402" cy="476402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7667244" y="2986430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571500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It's Not What You Think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90695" y="1123798"/>
            <a:ext cx="762426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businesses blame price or service. The data tells a different story.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4190695" y="2447849"/>
            <a:ext cx="3524098" cy="3810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24474" y="3924605"/>
            <a:ext cx="6574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Driver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624474" y="4324198"/>
            <a:ext cx="657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62%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096098" y="1762049"/>
            <a:ext cx="3524098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8096098" y="1762049"/>
            <a:ext cx="38405" cy="761695"/>
          </a:xfrm>
          <a:prstGeom prst="roundRect">
            <a:avLst>
              <a:gd name="adj" fmla="val 47618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4698" y="1969618"/>
            <a:ext cx="762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8%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087307" y="1914754"/>
            <a:ext cx="2343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Quality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087307" y="2180844"/>
            <a:ext cx="2343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Unhappy with last service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096098" y="2671877"/>
            <a:ext cx="3524098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8096098" y="2671877"/>
            <a:ext cx="38405" cy="761695"/>
          </a:xfrm>
          <a:prstGeom prst="roundRect">
            <a:avLst>
              <a:gd name="adj" fmla="val 47618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4698" y="2878531"/>
            <a:ext cx="762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12%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087307" y="2824582"/>
            <a:ext cx="2343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Moved Away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087307" y="3090672"/>
            <a:ext cx="2343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longer need local service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096098" y="3581705"/>
            <a:ext cx="3524098" cy="76169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8096098" y="3581705"/>
            <a:ext cx="38405" cy="761695"/>
          </a:xfrm>
          <a:prstGeom prst="roundRect">
            <a:avLst>
              <a:gd name="adj" fmla="val 47618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24698" y="3788359"/>
            <a:ext cx="762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18%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087307" y="3733495"/>
            <a:ext cx="2343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Price Shopping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087307" y="4000500"/>
            <a:ext cx="2343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Switched to cheaper competitor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61350" y="4483303"/>
            <a:ext cx="3600907" cy="780898"/>
          </a:xfrm>
          <a:prstGeom prst="roundRect">
            <a:avLst>
              <a:gd name="adj" fmla="val 22848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14300" dist="38100" dir="16200000">
              <a:srgbClr val="f97316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061350" y="4483303"/>
            <a:ext cx="38405" cy="780898"/>
          </a:xfrm>
          <a:prstGeom prst="roundRect">
            <a:avLst>
              <a:gd name="adj" fmla="val 464574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94522" y="4694530"/>
            <a:ext cx="7818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62%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071762" y="4638751"/>
            <a:ext cx="25530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Simply Forgot / No Contact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071762" y="4911242"/>
            <a:ext cx="2391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Perceived indifference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096098" y="5686654"/>
            <a:ext cx="3524098" cy="1257300"/>
          </a:xfrm>
          <a:prstGeom prst="roundRect">
            <a:avLst>
              <a:gd name="adj" fmla="val 8815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96351" y="5905195"/>
            <a:ext cx="190195" cy="190195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639251" y="5886907"/>
            <a:ext cx="27816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Good News:</a:t>
            </a:r>
            <a:pPr algn="l" indent="0" marL="0">
              <a:buNone/>
            </a:pPr>
            <a:r>
              <a:rPr lang="en-US" sz="1100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Most dormant customers didn't leave because of a problem. They left because of </a:t>
            </a:r>
            <a:pPr algn="l" indent="0" marL="0">
              <a:buNone/>
            </a:pPr>
            <a:r>
              <a:rPr lang="en-US" sz="1100" i="1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silence</a:t>
            </a:r>
            <a:pPr algn="l" indent="0" marL="0">
              <a:buNone/>
            </a:pPr>
            <a:r>
              <a:rPr lang="en-US" sz="1100" dirty="0">
                <a:solidFill>
                  <a:srgbClr val="064E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This means they are winnable. 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1665915" y="6400800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Root Cause Analysis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 Dormant</a:t>
            </a:r>
            <a:endParaRPr lang="en-US" sz="3100" dirty="0"/>
          </a:p>
        </p:txBody>
      </p:sp>
      <p:sp>
        <p:nvSpPr>
          <p:cNvPr id="39" name="Shape 34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580644" y="2635301"/>
            <a:ext cx="2658161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surveyed customer behavior across the HVAC industry to understand the real reasons behind dormancy.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580644" y="3763670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results contradict the common fear that "something went wrong."</a:t>
            </a:r>
            <a:endParaRPr lang="en-US" sz="12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0" r="0" t="0" b="0"/>
          <a:stretch/>
        </p:blipFill>
        <p:spPr>
          <a:xfrm>
            <a:off x="381305" y="4251046"/>
            <a:ext cx="3429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476402"/>
            <a:ext cx="7429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Projected Asset Decay (Next 12 Months)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190695" y="1067105"/>
            <a:ext cx="7429500" cy="448056"/>
          </a:xfrm>
          <a:prstGeom prst="roundRect">
            <a:avLst>
              <a:gd name="adj" fmla="val 694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90949" y="1224382"/>
            <a:ext cx="133502" cy="1335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638751" y="1067105"/>
            <a:ext cx="5486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Projection assumes current 0% reactivation effort and standard industry churn rates.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90695" y="1705356"/>
            <a:ext cx="7429500" cy="2943454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8" r="-8" t="0" b="0"/>
          <a:stretch/>
        </p:blipFill>
        <p:spPr>
          <a:xfrm>
            <a:off x="4390949" y="1904695"/>
            <a:ext cx="7029907" cy="254294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90695" y="4934102"/>
            <a:ext cx="1524305" cy="1447495"/>
          </a:xfrm>
          <a:prstGeom prst="roundRect">
            <a:avLst>
              <a:gd name="adj" fmla="val 99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90695" y="4934102"/>
            <a:ext cx="1524305" cy="38405"/>
          </a:xfrm>
          <a:prstGeom prst="roundRect">
            <a:avLst>
              <a:gd name="adj" fmla="val 375938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381805" y="5162702"/>
            <a:ext cx="1143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 3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381805" y="5410505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+80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4381805" y="5848502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Dormant Customers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05195" y="4934102"/>
            <a:ext cx="1524305" cy="1447495"/>
          </a:xfrm>
          <a:prstGeom prst="roundRect">
            <a:avLst>
              <a:gd name="adj" fmla="val 997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05195" y="4934102"/>
            <a:ext cx="1524305" cy="38405"/>
          </a:xfrm>
          <a:prstGeom prst="roundRect">
            <a:avLst>
              <a:gd name="adj" fmla="val 37593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096305" y="5162702"/>
            <a:ext cx="1143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 6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096305" y="5410505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+165</a:t>
            </a:r>
            <a:endParaRPr lang="en-US" sz="2100" dirty="0"/>
          </a:p>
        </p:txBody>
      </p:sp>
      <p:sp>
        <p:nvSpPr>
          <p:cNvPr id="20" name="Text 16"/>
          <p:cNvSpPr txBox="1"/>
          <p:nvPr/>
        </p:nvSpPr>
        <p:spPr>
          <a:xfrm>
            <a:off x="6096305" y="5848502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Dormant Customers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619695" y="4934102"/>
            <a:ext cx="1524305" cy="1447495"/>
          </a:xfrm>
          <a:prstGeom prst="roundRect">
            <a:avLst>
              <a:gd name="adj" fmla="val 997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619695" y="4934102"/>
            <a:ext cx="1524305" cy="38405"/>
          </a:xfrm>
          <a:prstGeom prst="roundRect">
            <a:avLst>
              <a:gd name="adj" fmla="val 37593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810805" y="5162702"/>
            <a:ext cx="1143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 12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7810805" y="5410505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+340</a:t>
            </a:r>
            <a:endParaRPr lang="en-US" sz="2100" dirty="0"/>
          </a:p>
        </p:txBody>
      </p:sp>
      <p:sp>
        <p:nvSpPr>
          <p:cNvPr id="25" name="Text 21"/>
          <p:cNvSpPr txBox="1"/>
          <p:nvPr/>
        </p:nvSpPr>
        <p:spPr>
          <a:xfrm>
            <a:off x="7810805" y="5848502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Dormant Customers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334195" y="4934102"/>
            <a:ext cx="2286000" cy="1447495"/>
          </a:xfrm>
          <a:prstGeom prst="roundRect">
            <a:avLst>
              <a:gd name="adj" fmla="val 9974"/>
            </a:avLst>
          </a:prstGeom>
          <a:solidFill>
            <a:srgbClr val="7F1D1D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9334195" y="4934102"/>
            <a:ext cx="2286000" cy="38405"/>
          </a:xfrm>
          <a:prstGeom prst="roundRect">
            <a:avLst>
              <a:gd name="adj" fmla="val 37593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525305" y="5191049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FCA5A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Cumulative Revenue Loss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9525305" y="5438851"/>
            <a:ext cx="206654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$156,000+</a:t>
            </a:r>
            <a:endParaRPr lang="en-US" sz="2700" dirty="0"/>
          </a:p>
        </p:txBody>
      </p:sp>
      <p:sp>
        <p:nvSpPr>
          <p:cNvPr id="30" name="Text 26"/>
          <p:cNvSpPr txBox="1"/>
          <p:nvPr/>
        </p:nvSpPr>
        <p:spPr>
          <a:xfrm>
            <a:off x="9525305" y="5991149"/>
            <a:ext cx="1905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Annualized Value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1694262" y="6400800"/>
            <a:ext cx="1563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Projection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Nothing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Changes</a:t>
            </a:r>
            <a:endParaRPr lang="en-US" sz="3100" dirty="0"/>
          </a:p>
        </p:txBody>
      </p:sp>
      <p:sp>
        <p:nvSpPr>
          <p:cNvPr id="37" name="Shape 32"/>
          <p:cNvSpPr/>
          <p:nvPr/>
        </p:nvSpPr>
        <p:spPr>
          <a:xfrm>
            <a:off x="381305" y="2155241"/>
            <a:ext cx="9144" cy="225765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580644" y="2155241"/>
            <a:ext cx="26581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Dormancy is progressive.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580644" y="2552090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Today's "At-Risk" customers will become next month's "Dormant" customers.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580644" y="3435401"/>
            <a:ext cx="2658161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Without intervention, the natural churn rate of your database compounds rapidly over the next year.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Reactivation Potential: </a:t>
            </a:r>
            <a:pPr algn="l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20%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90695" y="2090318"/>
            <a:ext cx="3429000" cy="3810305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8" r="-8" t="0" b="0"/>
          <a:stretch/>
        </p:blipFill>
        <p:spPr>
          <a:xfrm>
            <a:off x="4476902" y="2276856"/>
            <a:ext cx="2857500" cy="19046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884725" y="3571646"/>
            <a:ext cx="204734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8.2</a:t>
            </a:r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/10</a:t>
            </a:r>
            <a:endParaRPr lang="en-US" sz="4800" dirty="0"/>
          </a:p>
        </p:txBody>
      </p:sp>
      <p:sp>
        <p:nvSpPr>
          <p:cNvPr id="9" name="Shape 6"/>
          <p:cNvSpPr/>
          <p:nvPr/>
        </p:nvSpPr>
        <p:spPr>
          <a:xfrm>
            <a:off x="4751222" y="4466844"/>
            <a:ext cx="2314346" cy="314554"/>
          </a:xfrm>
          <a:prstGeom prst="roundRect">
            <a:avLst>
              <a:gd name="adj" fmla="val 29069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1222" y="4466844"/>
            <a:ext cx="231526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Excellent Potential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762195" y="4972507"/>
            <a:ext cx="2286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database health and market position put you in the </a:t>
            </a:r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20%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HVAC businesses for reactivation opportunity. 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096098" y="1314907"/>
            <a:ext cx="3524098" cy="1019556"/>
          </a:xfrm>
          <a:prstGeom prst="roundRect">
            <a:avLst>
              <a:gd name="adj" fmla="val 20117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096098" y="1314907"/>
            <a:ext cx="38405" cy="1019556"/>
          </a:xfrm>
          <a:prstGeom prst="roundRect">
            <a:avLst>
              <a:gd name="adj" fmla="val 534043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4698" y="1595628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8467344" y="1729130"/>
            <a:ext cx="171907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973007" y="1505102"/>
            <a:ext cx="2162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Quality: High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973007" y="1772107"/>
            <a:ext cx="20766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Recent service history and valid contact info for 85%+ of records.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239805" y="1723644"/>
            <a:ext cx="190195" cy="1901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096098" y="2486254"/>
            <a:ext cx="3524098" cy="1248156"/>
          </a:xfrm>
          <a:prstGeom prst="roundRect">
            <a:avLst>
              <a:gd name="adj" fmla="val 13422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096098" y="2486254"/>
            <a:ext cx="38405" cy="1248156"/>
          </a:xfrm>
          <a:prstGeom prst="roundRect">
            <a:avLst>
              <a:gd name="adj" fmla="val 436203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24698" y="2881274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58200" y="3014777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73007" y="2676449"/>
            <a:ext cx="2076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Value: Above Avg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973007" y="3172054"/>
            <a:ext cx="20766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average ticket and LTV exceed regional industry benchmarks.</a:t>
            </a:r>
            <a:endParaRPr lang="en-US" sz="9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239805" y="3010205"/>
            <a:ext cx="190195" cy="190195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096098" y="3886200"/>
            <a:ext cx="3524098" cy="1209751"/>
          </a:xfrm>
          <a:prstGeom prst="roundRect">
            <a:avLst>
              <a:gd name="adj" fmla="val 14284"/>
            </a:avLst>
          </a:prstGeom>
          <a:solidFill>
            <a:srgbClr val="FFFFFF"/>
          </a:solidFill>
          <a:ln/>
        </p:spPr>
      </p:sp>
      <p:sp>
        <p:nvSpPr>
          <p:cNvPr id="27" name="Shape 20"/>
          <p:cNvSpPr/>
          <p:nvPr/>
        </p:nvSpPr>
        <p:spPr>
          <a:xfrm>
            <a:off x="8096098" y="3886200"/>
            <a:ext cx="38405" cy="1209751"/>
          </a:xfrm>
          <a:prstGeom prst="roundRect">
            <a:avLst>
              <a:gd name="adj" fmla="val 44994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324698" y="4260190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58200" y="4393692"/>
            <a:ext cx="190195" cy="19019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973007" y="4076395"/>
            <a:ext cx="22567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Variety: Strong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8973007" y="4343400"/>
            <a:ext cx="2076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Multiple entry points (Install, Maintenance, Repair) increase win-back odds.</a:t>
            </a:r>
            <a:endParaRPr lang="en-US" sz="9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239805" y="4388206"/>
            <a:ext cx="190195" cy="190195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096098" y="5243170"/>
            <a:ext cx="3524098" cy="1438351"/>
          </a:xfrm>
          <a:prstGeom prst="roundRect">
            <a:avLst>
              <a:gd name="adj" fmla="val 10104"/>
            </a:avLst>
          </a:prstGeom>
          <a:solidFill>
            <a:srgbClr val="FFFFFF"/>
          </a:solidFill>
          <a:ln/>
        </p:spPr>
      </p:sp>
      <p:sp>
        <p:nvSpPr>
          <p:cNvPr id="34" name="Shape 25"/>
          <p:cNvSpPr/>
          <p:nvPr/>
        </p:nvSpPr>
        <p:spPr>
          <a:xfrm>
            <a:off x="8096098" y="5243170"/>
            <a:ext cx="38405" cy="1438351"/>
          </a:xfrm>
          <a:prstGeom prst="roundRect">
            <a:avLst>
              <a:gd name="adj" fmla="val 37842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8324698" y="5731459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-1282" r="-1282" t="0" b="0"/>
          <a:stretch/>
        </p:blipFill>
        <p:spPr>
          <a:xfrm>
            <a:off x="8443570" y="5864962"/>
            <a:ext cx="219456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973007" y="5434279"/>
            <a:ext cx="2076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Recognition: Established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8973007" y="5928970"/>
            <a:ext cx="20766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Long-standing local presence means "warm" reactivation is easier.</a:t>
            </a:r>
            <a:endParaRPr lang="en-US" sz="9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1239805" y="5860390"/>
            <a:ext cx="190195" cy="19019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1728094" y="6400800"/>
            <a:ext cx="1417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Opportunity Analysis</a:t>
            </a:r>
            <a:endParaRPr lang="en-US" sz="900" dirty="0"/>
          </a:p>
        </p:txBody>
      </p:sp>
      <p:sp>
        <p:nvSpPr>
          <p:cNvPr id="44" name="Shape 32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Reactivation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</a:t>
            </a:r>
            <a:endParaRPr lang="en-US" sz="3100" dirty="0"/>
          </a:p>
        </p:txBody>
      </p:sp>
      <p:sp>
        <p:nvSpPr>
          <p:cNvPr id="46" name="Shape 34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We've analyzed your database against 4 key success indicators.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score indicates the probability of successfully reactivating dormant revenue in the first 90 days.</a:t>
            </a:r>
            <a:endParaRPr lang="en-US" sz="12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>
            <a:alphaModFix amt="80000"/>
          </a:blip>
          <a:srcRect l="0" r="0" t="0" b="0"/>
          <a:stretch/>
        </p:blipFill>
        <p:spPr>
          <a:xfrm>
            <a:off x="381305" y="4006901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Highest-Probability Reactivation List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90695" y="1162202"/>
            <a:ext cx="7429500" cy="733349"/>
          </a:xfrm>
          <a:prstGeom prst="roundRect">
            <a:avLst>
              <a:gd name="adj" fmla="val 12955"/>
            </a:avLst>
          </a:prstGeom>
          <a:solidFill>
            <a:srgbClr val="FFF7ED"/>
          </a:solidFill>
          <a:ln/>
        </p:spPr>
      </p:sp>
      <p:sp>
        <p:nvSpPr>
          <p:cNvPr id="7" name="Shape 5"/>
          <p:cNvSpPr/>
          <p:nvPr/>
        </p:nvSpPr>
        <p:spPr>
          <a:xfrm>
            <a:off x="4190695" y="1162202"/>
            <a:ext cx="38405" cy="733349"/>
          </a:xfrm>
          <a:prstGeom prst="roundRect">
            <a:avLst>
              <a:gd name="adj" fmla="val 24737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57700" y="1433779"/>
            <a:ext cx="142646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753051" y="1314907"/>
            <a:ext cx="66394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34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Pareto Principle in Action:</a:t>
            </a:r>
            <a:pPr algn="l"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These top 200 customers represent </a:t>
            </a:r>
            <a:pPr algn="l" indent="0" marL="0">
              <a:buNone/>
            </a:pPr>
            <a:r>
              <a:rPr lang="en-US" sz="1100" b="1" dirty="0">
                <a:solidFill>
                  <a:srgbClr val="9A34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65%</a:t>
            </a:r>
            <a:pPr algn="l"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your total reactivation opportunity value.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90695" y="2180844"/>
            <a:ext cx="7429500" cy="362925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0754" y="2190902"/>
          <a:ext cx="7411212" cy="4534510"/>
        </p:xfrm>
        <a:graphic>
          <a:graphicData uri="http://schemas.openxmlformats.org/drawingml/2006/table">
            <a:tbl>
              <a:tblPr/>
              <a:tblGrid>
                <a:gridCol w="1315822"/>
                <a:gridCol w="1402690"/>
                <a:gridCol w="1615745"/>
                <a:gridCol w="1344168"/>
                <a:gridCol w="1731874"/>
              </a:tblGrid>
              <a:tr h="6477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ID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LAST PURCHASE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LAST SERVICE TYPE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LIFETIME VALUE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REACTIVATION SCORE</a:t>
                      </a:r>
                      <a:endParaRPr lang="en-US" sz="9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77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#1847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 months ago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HVAC Install (Complete)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$3,200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04785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9.1 / 10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#2910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14 months ago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Premium Maintenance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$2,800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04785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8.9 / 10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#4432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 months ago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Emergency Repair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$4,100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04785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8.7 / 10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#1105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 months ago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System Upgrade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$5,500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04785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8.5 / 10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#3321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 months ago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Annual Tune-up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$1,900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04785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8.2 / 10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#5022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 months ago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Filter Replacement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$1,450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b="1" dirty="0">
                          <a:solidFill>
                            <a:srgbClr val="B45309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7.9 / 10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200754" y="6719926"/>
            <a:ext cx="7410298" cy="42885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9"/>
          <p:cNvSpPr/>
          <p:nvPr/>
        </p:nvSpPr>
        <p:spPr>
          <a:xfrm>
            <a:off x="4200754" y="6719926"/>
            <a:ext cx="74102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200754" y="6843370"/>
            <a:ext cx="74112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0" rIns="228600" bIns="11430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...and 194 more high-priority targets identified in the full appendix.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54719" y="6219749"/>
            <a:ext cx="133502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64117" y="6191402"/>
            <a:ext cx="29251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list available in attached CSV export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1704320" y="6400800"/>
            <a:ext cx="154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Analysis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Top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Targets</a:t>
            </a:r>
            <a:endParaRPr lang="en-US" sz="3100" dirty="0"/>
          </a:p>
        </p:txBody>
      </p:sp>
      <p:sp>
        <p:nvSpPr>
          <p:cNvPr id="23" name="Shape 17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80644" y="2635301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We've scored all 1,440 dormant customers based on purchase history, service type, and recency.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80644" y="3519526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top 200 represent the "low-hanging fruit" — the easiest wins with the highest potential value.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0" r="0" t="0" b="0"/>
          <a:stretch/>
        </p:blipFill>
        <p:spPr>
          <a:xfrm>
            <a:off x="381305" y="4251046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095598" y="476402"/>
            <a:ext cx="7620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Priority Segments for Immediate Action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4095598" y="972007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 with these 3 groups to capture the "low-hanging fruit" in your database.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95598" y="1485900"/>
            <a:ext cx="2391156" cy="4895698"/>
          </a:xfrm>
          <a:prstGeom prst="roundRect">
            <a:avLst>
              <a:gd name="adj" fmla="val 36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05656" y="3047695"/>
            <a:ext cx="2371954" cy="9144"/>
          </a:xfrm>
          <a:prstGeom prst="roundRect">
            <a:avLst>
              <a:gd name="adj" fmla="val 146341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4256" y="1723644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76902" y="1867205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334256" y="2352751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Recent Dormant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334256" y="2632558"/>
            <a:ext cx="1914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6–18 months inactive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334256" y="3285439"/>
            <a:ext cx="1914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Volume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334256" y="3494837"/>
            <a:ext cx="1914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340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cust.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334256" y="4724705"/>
            <a:ext cx="15471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Reactivation Prob.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926226" y="4705502"/>
            <a:ext cx="324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197" r="-197" t="0" b="0"/>
          <a:stretch/>
        </p:blipFill>
        <p:spPr>
          <a:xfrm>
            <a:off x="4334256" y="5009998"/>
            <a:ext cx="1911096" cy="75895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-157" r="-157" t="0" b="0"/>
          <a:stretch/>
        </p:blipFill>
        <p:spPr>
          <a:xfrm>
            <a:off x="4334256" y="5009998"/>
            <a:ext cx="477317" cy="758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105656" y="5315407"/>
            <a:ext cx="2371954" cy="1057046"/>
          </a:xfrm>
          <a:prstGeom prst="roundRect">
            <a:avLst>
              <a:gd name="adj" fmla="val 18704"/>
            </a:avLst>
          </a:prstGeom>
          <a:solidFill>
            <a:srgbClr val="F8FAFC"/>
          </a:solidFill>
          <a:ln/>
        </p:spPr>
      </p:sp>
      <p:sp>
        <p:nvSpPr>
          <p:cNvPr id="20" name="Shape 15"/>
          <p:cNvSpPr/>
          <p:nvPr/>
        </p:nvSpPr>
        <p:spPr>
          <a:xfrm>
            <a:off x="4105656" y="5315407"/>
            <a:ext cx="2371954" cy="9144"/>
          </a:xfrm>
          <a:prstGeom prst="roundRect">
            <a:avLst>
              <a:gd name="adj" fmla="val 216216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257446" y="5477256"/>
            <a:ext cx="206745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memory of your service is still fresh. They haven't established deep loyalty with a competitor yet.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711696" y="1447495"/>
            <a:ext cx="2391156" cy="4934102"/>
          </a:xfrm>
          <a:prstGeom prst="roundRect">
            <a:avLst>
              <a:gd name="adj" fmla="val 36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11696" y="1447495"/>
            <a:ext cx="2391156" cy="38405"/>
          </a:xfrm>
          <a:prstGeom prst="roundRect">
            <a:avLst>
              <a:gd name="adj" fmla="val 22766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721754" y="3038551"/>
            <a:ext cx="2371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950354" y="1714500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93001" y="1857146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950354" y="2343607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High-Value Past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950354" y="2623414"/>
            <a:ext cx="1914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LTV &gt; $3,000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6950354" y="3275381"/>
            <a:ext cx="1914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Volume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950354" y="3485693"/>
            <a:ext cx="1914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cust.</a:t>
            </a:r>
            <a:endParaRPr lang="en-US" sz="2400" dirty="0"/>
          </a:p>
        </p:txBody>
      </p:sp>
      <p:sp>
        <p:nvSpPr>
          <p:cNvPr id="31" name="Text 25"/>
          <p:cNvSpPr txBox="1"/>
          <p:nvPr/>
        </p:nvSpPr>
        <p:spPr>
          <a:xfrm>
            <a:off x="6950354" y="4724705"/>
            <a:ext cx="15471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Reactivation Prob.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8528609" y="4705502"/>
            <a:ext cx="333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-193" r="-193" t="0" b="0"/>
          <a:stretch/>
        </p:blipFill>
        <p:spPr>
          <a:xfrm>
            <a:off x="6950354" y="5009998"/>
            <a:ext cx="1911096" cy="75895"/>
          </a:xfrm>
          <a:prstGeom prst="rect">
            <a:avLst/>
          </a:prstGeom>
        </p:spPr>
      </p:pic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205" r="-205" t="0" b="0"/>
          <a:stretch/>
        </p:blipFill>
        <p:spPr>
          <a:xfrm>
            <a:off x="6950354" y="5009998"/>
            <a:ext cx="573329" cy="75895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6721754" y="5315407"/>
            <a:ext cx="2371954" cy="1057046"/>
          </a:xfrm>
          <a:prstGeom prst="roundRect">
            <a:avLst>
              <a:gd name="adj" fmla="val 18704"/>
            </a:avLst>
          </a:prstGeom>
          <a:solidFill>
            <a:srgbClr val="F8FAFC"/>
          </a:solidFill>
          <a:ln/>
        </p:spPr>
      </p:sp>
      <p:sp>
        <p:nvSpPr>
          <p:cNvPr id="36" name="Shape 28"/>
          <p:cNvSpPr/>
          <p:nvPr/>
        </p:nvSpPr>
        <p:spPr>
          <a:xfrm>
            <a:off x="6721754" y="5315407"/>
            <a:ext cx="2371954" cy="9144"/>
          </a:xfrm>
          <a:prstGeom prst="roundRect">
            <a:avLst>
              <a:gd name="adj" fmla="val 216216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6873545" y="5477256"/>
            <a:ext cx="206745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Proven spenders who appreciate quality. They are worth higher-cost outreach (phone/direct mail).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9327794" y="1485900"/>
            <a:ext cx="2391156" cy="4895698"/>
          </a:xfrm>
          <a:prstGeom prst="roundRect">
            <a:avLst>
              <a:gd name="adj" fmla="val 36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9337853" y="3047695"/>
            <a:ext cx="2371954" cy="9144"/>
          </a:xfrm>
          <a:prstGeom prst="roundRect">
            <a:avLst>
              <a:gd name="adj" fmla="val 146341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9566453" y="1723644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-1282" r="-1282" t="0" b="0"/>
          <a:stretch/>
        </p:blipFill>
        <p:spPr>
          <a:xfrm>
            <a:off x="9694469" y="1867205"/>
            <a:ext cx="219456" cy="19019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566453" y="2352751"/>
            <a:ext cx="2202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Multi-Service Buyers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9566453" y="2632558"/>
            <a:ext cx="1914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Purchased 3+ services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9566453" y="3285439"/>
            <a:ext cx="1914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Volume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9566453" y="3494837"/>
            <a:ext cx="1914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125 </a:t>
            </a:r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cust.</a:t>
            </a:r>
            <a:endParaRPr lang="en-US" sz="2400" dirty="0"/>
          </a:p>
        </p:txBody>
      </p:sp>
      <p:sp>
        <p:nvSpPr>
          <p:cNvPr id="46" name="Text 37"/>
          <p:cNvSpPr txBox="1"/>
          <p:nvPr/>
        </p:nvSpPr>
        <p:spPr>
          <a:xfrm>
            <a:off x="9566453" y="4910328"/>
            <a:ext cx="15471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Reactivation Prob.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11159338" y="4891126"/>
            <a:ext cx="324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35%</a:t>
            </a:r>
            <a:endParaRPr lang="en-US" sz="120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rcRect l="-193" r="-193" t="0" b="0"/>
          <a:stretch/>
        </p:blipFill>
        <p:spPr>
          <a:xfrm>
            <a:off x="9566453" y="5195621"/>
            <a:ext cx="1911096" cy="75895"/>
          </a:xfrm>
          <a:prstGeom prst="rect">
            <a:avLst/>
          </a:prstGeom>
        </p:spPr>
      </p:pic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rcRect l="-228" r="-228" t="0" b="0"/>
          <a:stretch/>
        </p:blipFill>
        <p:spPr>
          <a:xfrm>
            <a:off x="9566453" y="5195621"/>
            <a:ext cx="669341" cy="75895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9337853" y="5501030"/>
            <a:ext cx="2371954" cy="875995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/>
        </p:spPr>
      </p:sp>
      <p:sp>
        <p:nvSpPr>
          <p:cNvPr id="51" name="Shape 40"/>
          <p:cNvSpPr/>
          <p:nvPr/>
        </p:nvSpPr>
        <p:spPr>
          <a:xfrm>
            <a:off x="9337853" y="5501030"/>
            <a:ext cx="2371954" cy="9144"/>
          </a:xfrm>
          <a:prstGeom prst="roundRect">
            <a:avLst>
              <a:gd name="adj" fmla="val 2608696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9489643" y="5662879"/>
            <a:ext cx="20674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Highest trust level. They viewed you as their "go-to" partner. Usually just need a reminder.</a:t>
            </a:r>
            <a:endParaRPr lang="en-US" sz="900" dirty="0"/>
          </a:p>
        </p:txBody>
      </p:sp>
      <p:sp>
        <p:nvSpPr>
          <p:cNvPr id="53" name="Text 42"/>
          <p:cNvSpPr txBox="1"/>
          <p:nvPr/>
        </p:nvSpPr>
        <p:spPr>
          <a:xfrm>
            <a:off x="11705234" y="6400800"/>
            <a:ext cx="154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Quick-Win Segments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6"/>
          <p:cNvSpPr txBox="1"/>
          <p:nvPr/>
        </p:nvSpPr>
        <p:spPr>
          <a:xfrm>
            <a:off x="381305" y="909828"/>
            <a:ext cx="2857500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Fastest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Opportunities</a:t>
            </a:r>
            <a:endParaRPr lang="en-US" sz="3100" dirty="0"/>
          </a:p>
        </p:txBody>
      </p:sp>
      <p:sp>
        <p:nvSpPr>
          <p:cNvPr id="59" name="Shape 47"/>
          <p:cNvSpPr/>
          <p:nvPr/>
        </p:nvSpPr>
        <p:spPr>
          <a:xfrm>
            <a:off x="381305" y="3116275"/>
            <a:ext cx="9144" cy="113385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580644" y="3116275"/>
            <a:ext cx="3162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all dormant customers are equal.</a:t>
            </a:r>
            <a:endParaRPr lang="en-US" sz="1200" dirty="0"/>
          </a:p>
        </p:txBody>
      </p:sp>
      <p:sp>
        <p:nvSpPr>
          <p:cNvPr id="61" name="Text 49"/>
          <p:cNvSpPr txBox="1"/>
          <p:nvPr/>
        </p:nvSpPr>
        <p:spPr>
          <a:xfrm>
            <a:off x="580644" y="3512210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We've identified three specific segments that offer the path of least resistance for immediate cash flow.</a:t>
            </a:r>
            <a:endParaRPr lang="en-US" sz="1200" dirty="0"/>
          </a:p>
        </p:txBody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>
            <a:alphaModFix amt="80000"/>
          </a:blip>
          <a:srcRect l="0" r="0" t="0" b="0"/>
          <a:stretch/>
        </p:blipFill>
        <p:spPr>
          <a:xfrm>
            <a:off x="381305" y="4243730"/>
            <a:ext cx="3429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1805" y="571500"/>
            <a:ext cx="7049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Math of Partial Success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1805" y="1410005"/>
            <a:ext cx="2076602" cy="1752905"/>
          </a:xfrm>
          <a:prstGeom prst="roundRect">
            <a:avLst>
              <a:gd name="adj" fmla="val 6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1805" y="3124505"/>
            <a:ext cx="2076602" cy="38405"/>
          </a:xfrm>
          <a:prstGeom prst="roundRect">
            <a:avLst>
              <a:gd name="adj" fmla="val 310557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600200"/>
            <a:ext cx="342900" cy="3429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4677156" y="1695298"/>
            <a:ext cx="133502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0" y="2057400"/>
            <a:ext cx="1696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Dormant Base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324405"/>
            <a:ext cx="16962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1,440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762402"/>
            <a:ext cx="1696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596482" y="2115007"/>
            <a:ext cx="1426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×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869887" y="1410005"/>
            <a:ext cx="2076602" cy="1752905"/>
          </a:xfrm>
          <a:prstGeom prst="roundRect">
            <a:avLst>
              <a:gd name="adj" fmla="val 6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69887" y="3124505"/>
            <a:ext cx="2076602" cy="38405"/>
          </a:xfrm>
          <a:prstGeom prst="roundRect">
            <a:avLst>
              <a:gd name="adj" fmla="val 31055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60082" y="1600200"/>
            <a:ext cx="342900" cy="3429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55180" y="1695298"/>
            <a:ext cx="152705" cy="152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60082" y="2057400"/>
            <a:ext cx="1696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 Rate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7060082" y="2324405"/>
            <a:ext cx="16962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</a:t>
            </a:r>
            <a:endParaRPr lang="en-US" sz="2100" dirty="0"/>
          </a:p>
        </p:txBody>
      </p:sp>
      <p:sp>
        <p:nvSpPr>
          <p:cNvPr id="20" name="Text 16"/>
          <p:cNvSpPr txBox="1"/>
          <p:nvPr/>
        </p:nvSpPr>
        <p:spPr>
          <a:xfrm>
            <a:off x="7060082" y="2762402"/>
            <a:ext cx="1696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Conservative Goal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9084564" y="2115007"/>
            <a:ext cx="1426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=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9357970" y="1410005"/>
            <a:ext cx="2076602" cy="1752905"/>
          </a:xfrm>
          <a:prstGeom prst="roundRect">
            <a:avLst>
              <a:gd name="adj" fmla="val 6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357970" y="3124505"/>
            <a:ext cx="2076602" cy="38405"/>
          </a:xfrm>
          <a:prstGeom prst="roundRect">
            <a:avLst>
              <a:gd name="adj" fmla="val 310557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549079" y="1600200"/>
            <a:ext cx="342900" cy="3429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9624974" y="1695298"/>
            <a:ext cx="190195" cy="15270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549079" y="2057400"/>
            <a:ext cx="1696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Reactivated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9549079" y="2324405"/>
            <a:ext cx="16962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432</a:t>
            </a:r>
            <a:endParaRPr lang="en-US" sz="2100" dirty="0"/>
          </a:p>
        </p:txBody>
      </p:sp>
      <p:sp>
        <p:nvSpPr>
          <p:cNvPr id="28" name="Text 23"/>
          <p:cNvSpPr txBox="1"/>
          <p:nvPr/>
        </p:nvSpPr>
        <p:spPr>
          <a:xfrm>
            <a:off x="9549079" y="2762402"/>
            <a:ext cx="1696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Active Customers</a:t>
            </a:r>
            <a:endParaRPr lang="en-US" sz="9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" b="-2"/>
          <a:stretch/>
        </p:blipFill>
        <p:spPr>
          <a:xfrm>
            <a:off x="4381805" y="3543300"/>
            <a:ext cx="7048195" cy="20574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4381805" y="3543300"/>
            <a:ext cx="75895" cy="2038198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677156" y="3838651"/>
            <a:ext cx="6458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Recovered Annual Revenue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4677156" y="4134002"/>
            <a:ext cx="64584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$47,000+</a:t>
            </a:r>
            <a:endParaRPr lang="en-US" sz="4800" dirty="0"/>
          </a:p>
        </p:txBody>
      </p:sp>
      <p:sp>
        <p:nvSpPr>
          <p:cNvPr id="33" name="Text 27"/>
          <p:cNvSpPr txBox="1"/>
          <p:nvPr/>
        </p:nvSpPr>
        <p:spPr>
          <a:xfrm>
            <a:off x="4677156" y="4858207"/>
            <a:ext cx="64584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2D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That's pure revenue added to your top line </a:t>
            </a:r>
            <a:pPr algn="ctr"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without spending a dollar</a:t>
            </a:r>
            <a:pPr algn="ctr" indent="0" marL="0">
              <a:buNone/>
            </a:pPr>
            <a:r>
              <a:rPr lang="en-US" sz="1300" dirty="0">
                <a:solidFill>
                  <a:srgbClr val="7C2D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 new leads. </a:t>
            </a:r>
            <a:endParaRPr lang="en-US" sz="13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1805" y="5924398"/>
            <a:ext cx="190195" cy="19019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724705" y="5886907"/>
            <a:ext cx="6191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30%?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Based on industry benchmarks for multi-touch reactivation campaigns, 30% is a realistic target for customers dormant 6-18 months. Even a 20% success rate would yield over $30,000. 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11694262" y="6400800"/>
            <a:ext cx="1563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Advantage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30%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</a:t>
            </a:r>
            <a:endParaRPr lang="en-US" sz="3100" dirty="0"/>
          </a:p>
        </p:txBody>
      </p:sp>
      <p:sp>
        <p:nvSpPr>
          <p:cNvPr id="42" name="Shape 34"/>
          <p:cNvSpPr/>
          <p:nvPr/>
        </p:nvSpPr>
        <p:spPr>
          <a:xfrm>
            <a:off x="381305" y="2155241"/>
            <a:ext cx="9144" cy="1772107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580644" y="2155241"/>
            <a:ext cx="3162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don't need to win everyone back.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580644" y="2552090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Reactivating just a fraction of your dormant list yields massive returns compared to the cost of acquisition.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580644" y="3435401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isn't about volume—it's about efficiency.</a:t>
            </a:r>
            <a:endParaRPr lang="en-US" sz="120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rcRect l="0" r="0" t="0" b="0"/>
          <a:stretch/>
        </p:blipFill>
        <p:spPr>
          <a:xfrm>
            <a:off x="381305" y="3922776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Projected Revenue Ramp-Up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90695" y="1218895"/>
            <a:ext cx="7429500" cy="3038551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7" r="-7" t="0" b="0"/>
          <a:stretch/>
        </p:blipFill>
        <p:spPr>
          <a:xfrm>
            <a:off x="4476902" y="1410005"/>
            <a:ext cx="6858000" cy="27523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90695" y="4486046"/>
            <a:ext cx="2352751" cy="1238098"/>
          </a:xfrm>
          <a:prstGeom prst="roundRect">
            <a:avLst>
              <a:gd name="adj" fmla="val 11362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190695" y="4486046"/>
            <a:ext cx="2352751" cy="38405"/>
          </a:xfrm>
          <a:prstGeom prst="roundRect">
            <a:avLst>
              <a:gd name="adj" fmla="val 366298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81805" y="4714646"/>
            <a:ext cx="19723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 1: Foundation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381805" y="4962449"/>
            <a:ext cx="1972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$8,400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91202" y="5343754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28 Reactivations 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524" b="-524"/>
          <a:stretch/>
        </p:blipFill>
        <p:spPr>
          <a:xfrm>
            <a:off x="4381805" y="5374843"/>
            <a:ext cx="152705" cy="1234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30898" y="4486046"/>
            <a:ext cx="2352751" cy="1238098"/>
          </a:xfrm>
          <a:prstGeom prst="roundRect">
            <a:avLst>
              <a:gd name="adj" fmla="val 11362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6730898" y="4486046"/>
            <a:ext cx="2352751" cy="38405"/>
          </a:xfrm>
          <a:prstGeom prst="roundRect">
            <a:avLst>
              <a:gd name="adj" fmla="val 366298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21094" y="4714646"/>
            <a:ext cx="19723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 2: Momentum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6921094" y="4962449"/>
            <a:ext cx="1972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$15,600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7130491" y="5343754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52 Reactivations 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524" b="-524"/>
          <a:stretch/>
        </p:blipFill>
        <p:spPr>
          <a:xfrm>
            <a:off x="6921094" y="5374843"/>
            <a:ext cx="152705" cy="1234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271102" y="4486046"/>
            <a:ext cx="2352751" cy="1238098"/>
          </a:xfrm>
          <a:prstGeom prst="roundRect">
            <a:avLst>
              <a:gd name="adj" fmla="val 11362"/>
            </a:avLst>
          </a:prstGeom>
          <a:solidFill>
            <a:srgbClr val="F0FDF4"/>
          </a:solidFill>
          <a:ln/>
        </p:spPr>
      </p:sp>
      <p:sp>
        <p:nvSpPr>
          <p:cNvPr id="21" name="Shape 16"/>
          <p:cNvSpPr/>
          <p:nvPr/>
        </p:nvSpPr>
        <p:spPr>
          <a:xfrm>
            <a:off x="9271102" y="4486046"/>
            <a:ext cx="2352751" cy="38405"/>
          </a:xfrm>
          <a:prstGeom prst="roundRect">
            <a:avLst>
              <a:gd name="adj" fmla="val 36629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461297" y="4714646"/>
            <a:ext cx="19723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 3: Optimization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9461297" y="4962449"/>
            <a:ext cx="1972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$23,800</a:t>
            </a:r>
            <a:endParaRPr lang="en-US" sz="1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24" b="-524"/>
          <a:stretch/>
        </p:blipFill>
        <p:spPr>
          <a:xfrm>
            <a:off x="9461297" y="5374843"/>
            <a:ext cx="152705" cy="1234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670694" y="5343754"/>
            <a:ext cx="13761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79 Reactivations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521" b="-521"/>
          <a:stretch/>
        </p:blipFill>
        <p:spPr>
          <a:xfrm>
            <a:off x="4190695" y="5910682"/>
            <a:ext cx="7429500" cy="476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33595" y="5910682"/>
            <a:ext cx="70866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Note: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Projections based on average HVAC ticket value of $300-$350 and standard campaign conversion curves. </a:t>
            </a:r>
            <a:endParaRPr lang="en-US" sz="9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34256" y="6078017"/>
            <a:ext cx="123444" cy="1234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1705234" y="6400800"/>
            <a:ext cx="154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Projection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90-Day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</a:t>
            </a:r>
            <a:endParaRPr lang="en-US" sz="3100" dirty="0"/>
          </a:p>
        </p:txBody>
      </p:sp>
      <p:sp>
        <p:nvSpPr>
          <p:cNvPr id="35" name="Shape 26"/>
          <p:cNvSpPr/>
          <p:nvPr/>
        </p:nvSpPr>
        <p:spPr>
          <a:xfrm>
            <a:off x="381305" y="215524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580644" y="2155241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Reactivation isn't instant—it builds momentum.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580644" y="2795321"/>
            <a:ext cx="2658161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multi-touch campaigns saturate your list, response rates (and revenue) compound month over month.</a:t>
            </a:r>
            <a:endParaRPr lang="en-US" sz="12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>
            <a:alphaModFix amt="80000"/>
          </a:blip>
          <a:srcRect l="0" r="0" t="0" b="0"/>
          <a:stretch/>
        </p:blipFill>
        <p:spPr>
          <a:xfrm>
            <a:off x="381305" y="3770986"/>
            <a:ext cx="457200" cy="457200"/>
          </a:xfrm>
          <a:prstGeom prst="rect">
            <a:avLst/>
          </a:prstGeom>
        </p:spPr>
      </p:pic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-2" r="-2" t="0" b="0"/>
          <a:stretch/>
        </p:blipFill>
        <p:spPr>
          <a:xfrm>
            <a:off x="9567367" y="476402"/>
            <a:ext cx="2053742" cy="116220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9595714" y="666598"/>
            <a:ext cx="1743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75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90-Day Revenue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9731959" y="886054"/>
            <a:ext cx="16075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$47,800</a:t>
            </a:r>
            <a:endParaRPr lang="en-US" sz="2700" dirty="0"/>
          </a:p>
        </p:txBody>
      </p:sp>
      <p:sp>
        <p:nvSpPr>
          <p:cNvPr id="42" name="Text 31"/>
          <p:cNvSpPr txBox="1"/>
          <p:nvPr/>
        </p:nvSpPr>
        <p:spPr>
          <a:xfrm>
            <a:off x="9852660" y="1276502"/>
            <a:ext cx="1485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Conservative Estimate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Reactivation vs. New Acquisition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4190695" y="1314907"/>
            <a:ext cx="3524098" cy="3619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76902" y="2362810"/>
            <a:ext cx="29525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76902" y="168615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86630" y="1819656"/>
            <a:ext cx="237744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086807" y="1657807"/>
            <a:ext cx="13341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Customer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Acquisition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476902" y="2614270"/>
            <a:ext cx="13533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Input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791249" y="2600554"/>
            <a:ext cx="6876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$500.00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476902" y="2995574"/>
            <a:ext cx="135605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Conversion Rate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062826" y="298094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2.0%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476902" y="3376879"/>
            <a:ext cx="135605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Generated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251192" y="3362249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476902" y="3819449"/>
            <a:ext cx="295259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476902" y="4019702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Per Sale (CAC)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476902" y="42675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$250.00</a:t>
            </a:r>
            <a:endParaRPr lang="en-US" sz="3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-198" r="-198" t="0" b="0"/>
          <a:stretch/>
        </p:blipFill>
        <p:spPr>
          <a:xfrm>
            <a:off x="4476902" y="4819802"/>
            <a:ext cx="2952598" cy="7589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198" r="-198" t="0" b="0"/>
          <a:stretch/>
        </p:blipFill>
        <p:spPr>
          <a:xfrm>
            <a:off x="4476902" y="4819802"/>
            <a:ext cx="2952598" cy="7589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190695" y="5219395"/>
            <a:ext cx="7429500" cy="523951"/>
          </a:xfrm>
          <a:prstGeom prst="roundRect">
            <a:avLst>
              <a:gd name="adj" fmla="val 50769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29354" y="5386730"/>
            <a:ext cx="142646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724705" y="5219395"/>
            <a:ext cx="646755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Bottom Line:</a:t>
            </a:r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can acquire </a:t>
            </a:r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reactivated customers</a:t>
            </a:r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the same cost as finding </a:t>
            </a:r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new stranger</a:t>
            </a:r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1699748" y="6400800"/>
            <a:ext cx="154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-3" r="-3" t="0" b="0"/>
          <a:stretch/>
        </p:blipFill>
        <p:spPr>
          <a:xfrm>
            <a:off x="8061350" y="1278331"/>
            <a:ext cx="3594506" cy="3691433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352130" y="235183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352130" y="1656893"/>
            <a:ext cx="466344" cy="466344"/>
          </a:xfrm>
          <a:prstGeom prst="roundRect">
            <a:avLst>
              <a:gd name="adj" fmla="val 96038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488375" y="1793138"/>
            <a:ext cx="200254" cy="20025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973922" y="1627632"/>
            <a:ext cx="138165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Dormant Asset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Reactivation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8352130" y="2604211"/>
            <a:ext cx="1274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Campaign Input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10830154" y="2589581"/>
            <a:ext cx="58887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$75.00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8352130" y="2992831"/>
            <a:ext cx="135879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Conversion Rate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10929823" y="2978201"/>
            <a:ext cx="49011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12.0%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8352130" y="3381451"/>
            <a:ext cx="135879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Generated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11121847" y="3366821"/>
            <a:ext cx="29352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~12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8352130" y="3833165"/>
            <a:ext cx="3019349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8352130" y="4037076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Per Sale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8352130" y="4290365"/>
            <a:ext cx="30202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$6.25</a:t>
            </a:r>
            <a:endParaRPr lang="en-US" sz="31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-4" r="-4" t="0" b="0"/>
          <a:stretch/>
        </p:blipFill>
        <p:spPr>
          <a:xfrm>
            <a:off x="8352130" y="4853635"/>
            <a:ext cx="3012034" cy="77724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8352130" y="4853635"/>
            <a:ext cx="75895" cy="85954"/>
          </a:xfrm>
          <a:prstGeom prst="roundRect">
            <a:avLst>
              <a:gd name="adj" fmla="val 1204822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Opportunity Analysis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ROI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Math</a:t>
            </a:r>
            <a:endParaRPr lang="en-US" sz="3100" dirty="0"/>
          </a:p>
        </p:txBody>
      </p:sp>
      <p:sp>
        <p:nvSpPr>
          <p:cNvPr id="47" name="Shape 36"/>
          <p:cNvSpPr/>
          <p:nvPr/>
        </p:nvSpPr>
        <p:spPr>
          <a:xfrm>
            <a:off x="381305" y="215524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7"/>
          <p:cNvSpPr txBox="1"/>
          <p:nvPr/>
        </p:nvSpPr>
        <p:spPr>
          <a:xfrm>
            <a:off x="580644" y="2155241"/>
            <a:ext cx="265816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we compare the unit economics of acquiring a new customer versus reactivating an asset you already own, the difference isn't just marginal.</a:t>
            </a:r>
            <a:endParaRPr lang="en-US" sz="1200" dirty="0"/>
          </a:p>
        </p:txBody>
      </p:sp>
      <p:sp>
        <p:nvSpPr>
          <p:cNvPr id="49" name="Text 38"/>
          <p:cNvSpPr txBox="1"/>
          <p:nvPr/>
        </p:nvSpPr>
        <p:spPr>
          <a:xfrm>
            <a:off x="580644" y="3526841"/>
            <a:ext cx="26581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It's exponential.</a:t>
            </a:r>
            <a:endParaRPr lang="en-US" sz="120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>
            <a:alphaModFix amt="80000"/>
          </a:blip>
          <a:srcRect l="0" r="0" t="0" b="0"/>
          <a:stretch/>
        </p:blipFill>
        <p:spPr>
          <a:xfrm>
            <a:off x="381305" y="3770986"/>
            <a:ext cx="571500" cy="457200"/>
          </a:xfrm>
          <a:prstGeom prst="rect">
            <a:avLst/>
          </a:prstGeom>
        </p:spPr>
      </p:pic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rcRect l="-160" r="-160" t="0" b="0"/>
          <a:stretch/>
        </p:blipFill>
        <p:spPr>
          <a:xfrm>
            <a:off x="6756502" y="2790749"/>
            <a:ext cx="2305202" cy="666598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7289597" y="2790749"/>
            <a:ext cx="17721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40x Better ROI </a:t>
            </a:r>
            <a:endParaRPr lang="en-US" sz="150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rcRect l="-1648" r="-1648" t="0" b="0"/>
          <a:stretch/>
        </p:blipFill>
        <p:spPr>
          <a:xfrm>
            <a:off x="7023506" y="3029407"/>
            <a:ext cx="171907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One Email Blast Won't Work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90695" y="1218895"/>
            <a:ext cx="742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execute a 90-day orchestrated campaign to surround your dormant customers.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90695" y="1676095"/>
            <a:ext cx="7429500" cy="2933395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381244" y="1914754"/>
            <a:ext cx="4050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 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206386" y="1914754"/>
            <a:ext cx="4855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 30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096451" y="1914754"/>
            <a:ext cx="4855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 60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87430" y="1914754"/>
            <a:ext cx="4855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 90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29607" y="2373782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Email 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29354" y="2404872"/>
            <a:ext cx="123444" cy="123444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202" r="-202" t="0" b="0"/>
          <a:stretch/>
        </p:blipFill>
        <p:spPr>
          <a:xfrm>
            <a:off x="5533949" y="2428646"/>
            <a:ext cx="5848502" cy="75895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12257" y="2352751"/>
            <a:ext cx="228600" cy="22860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79008" y="2419502"/>
            <a:ext cx="95098" cy="95098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96558" y="2352751"/>
            <a:ext cx="228600" cy="22860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363310" y="2419502"/>
            <a:ext cx="95098" cy="95098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881774" y="2352751"/>
            <a:ext cx="228600" cy="22860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48526" y="2419502"/>
            <a:ext cx="95098" cy="95098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051292" y="2352751"/>
            <a:ext cx="228600" cy="228600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118043" y="2419502"/>
            <a:ext cx="95098" cy="95098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636508" y="2352751"/>
            <a:ext cx="228600" cy="228600"/>
          </a:xfrm>
          <a:prstGeom prst="rect">
            <a:avLst/>
          </a:prstGeom>
        </p:spPr>
      </p:pic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703259" y="2419502"/>
            <a:ext cx="95098" cy="95098"/>
          </a:xfrm>
          <a:prstGeom prst="rect">
            <a:avLst/>
          </a:prstGeom>
        </p:spPr>
      </p:pic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806026" y="2352751"/>
            <a:ext cx="228600" cy="228600"/>
          </a:xfrm>
          <a:prstGeom prst="rect">
            <a:avLst/>
          </a:prstGeom>
        </p:spPr>
      </p:pic>
      <p:pic>
        <p:nvPicPr>
          <p:cNvPr id="2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872777" y="2419502"/>
            <a:ext cx="95098" cy="95098"/>
          </a:xfrm>
          <a:prstGeom prst="rect">
            <a:avLst/>
          </a:prstGeom>
        </p:spPr>
      </p:pic>
      <p:pic>
        <p:nvPicPr>
          <p:cNvPr id="2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390327" y="2352751"/>
            <a:ext cx="228600" cy="228600"/>
          </a:xfrm>
          <a:prstGeom prst="rect">
            <a:avLst/>
          </a:prstGeom>
        </p:spPr>
      </p:pic>
      <p:pic>
        <p:nvPicPr>
          <p:cNvPr id="2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0457078" y="2419502"/>
            <a:ext cx="95098" cy="95098"/>
          </a:xfrm>
          <a:prstGeom prst="rect">
            <a:avLst/>
          </a:prstGeom>
        </p:spPr>
      </p:pic>
      <p:sp>
        <p:nvSpPr>
          <p:cNvPr id="29" name="Text 11"/>
          <p:cNvSpPr txBox="1"/>
          <p:nvPr/>
        </p:nvSpPr>
        <p:spPr>
          <a:xfrm>
            <a:off x="4629607" y="2907792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Mail </a:t>
            </a:r>
            <a:endParaRPr lang="en-US" sz="900" dirty="0"/>
          </a:p>
        </p:txBody>
      </p:sp>
      <p:pic>
        <p:nvPicPr>
          <p:cNvPr id="3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429354" y="2938882"/>
            <a:ext cx="123444" cy="123444"/>
          </a:xfrm>
          <a:prstGeom prst="rect">
            <a:avLst/>
          </a:prstGeom>
        </p:spPr>
      </p:pic>
      <p:sp>
        <p:nvSpPr>
          <p:cNvPr id="31" name="Shape 12"/>
          <p:cNvSpPr/>
          <p:nvPr/>
        </p:nvSpPr>
        <p:spPr>
          <a:xfrm>
            <a:off x="5533949" y="2962656"/>
            <a:ext cx="5848502" cy="75895"/>
          </a:xfrm>
          <a:prstGeom prst="roundRect">
            <a:avLst>
              <a:gd name="adj" fmla="val 1204822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17" descr="preencoded.png">    </p:cNvPr>
          <p:cNvPicPr>
            <a:picLocks noChangeAspect="1"/>
          </p:cNvPicPr>
          <p:nvPr/>
        </p:nvPicPr>
        <p:blipFill>
          <a:blip r:embed="rId18"/>
          <a:srcRect l="-234" r="-234" t="0" b="0"/>
          <a:stretch/>
        </p:blipFill>
        <p:spPr>
          <a:xfrm>
            <a:off x="6119165" y="2885846"/>
            <a:ext cx="705002" cy="228600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6119165" y="2885846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Postcard 1</a:t>
            </a:r>
            <a:endParaRPr lang="en-US" sz="800" dirty="0"/>
          </a:p>
        </p:txBody>
      </p:sp>
      <p:pic>
        <p:nvPicPr>
          <p:cNvPr id="34" name="Image 18" descr="preencoded.png">    </p:cNvPr>
          <p:cNvPicPr>
            <a:picLocks noChangeAspect="1"/>
          </p:cNvPicPr>
          <p:nvPr/>
        </p:nvPicPr>
        <p:blipFill>
          <a:blip r:embed="rId19"/>
          <a:srcRect l="-234" r="-234" t="0" b="0"/>
          <a:stretch/>
        </p:blipFill>
        <p:spPr>
          <a:xfrm>
            <a:off x="7872984" y="2885846"/>
            <a:ext cx="705002" cy="228600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7872984" y="2885846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Postcard 2</a:t>
            </a:r>
            <a:endParaRPr lang="en-US" sz="800" dirty="0"/>
          </a:p>
        </p:txBody>
      </p:sp>
      <p:pic>
        <p:nvPicPr>
          <p:cNvPr id="36" name="Image 19" descr="preencoded.png">    </p:cNvPr>
          <p:cNvPicPr>
            <a:picLocks noChangeAspect="1"/>
          </p:cNvPicPr>
          <p:nvPr/>
        </p:nvPicPr>
        <p:blipFill>
          <a:blip r:embed="rId20"/>
          <a:srcRect l="-234" r="-234" t="0" b="0"/>
          <a:stretch/>
        </p:blipFill>
        <p:spPr>
          <a:xfrm>
            <a:off x="9627718" y="2885846"/>
            <a:ext cx="705002" cy="228600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9627718" y="2885846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Postcard 3</a:t>
            </a:r>
            <a:endParaRPr lang="en-US" sz="800" dirty="0"/>
          </a:p>
        </p:txBody>
      </p:sp>
      <p:sp>
        <p:nvSpPr>
          <p:cNvPr id="38" name="Text 16"/>
          <p:cNvSpPr txBox="1"/>
          <p:nvPr/>
        </p:nvSpPr>
        <p:spPr>
          <a:xfrm>
            <a:off x="4629607" y="3440887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Phone </a:t>
            </a:r>
            <a:endParaRPr lang="en-US" sz="900" dirty="0"/>
          </a:p>
        </p:txBody>
      </p:sp>
      <p:pic>
        <p:nvPicPr>
          <p:cNvPr id="39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4429354" y="3471977"/>
            <a:ext cx="123444" cy="123444"/>
          </a:xfrm>
          <a:prstGeom prst="rect">
            <a:avLst/>
          </a:prstGeom>
        </p:spPr>
      </p:pic>
      <p:pic>
        <p:nvPicPr>
          <p:cNvPr id="40" name="Image 21" descr="preencoded.png">    </p:cNvPr>
          <p:cNvPicPr>
            <a:picLocks noChangeAspect="1"/>
          </p:cNvPicPr>
          <p:nvPr/>
        </p:nvPicPr>
        <p:blipFill>
          <a:blip r:embed="rId22"/>
          <a:srcRect l="-202" r="-202" t="0" b="0"/>
          <a:stretch/>
        </p:blipFill>
        <p:spPr>
          <a:xfrm>
            <a:off x="5533949" y="3495751"/>
            <a:ext cx="5848502" cy="75895"/>
          </a:xfrm>
          <a:prstGeom prst="rect">
            <a:avLst/>
          </a:prstGeom>
        </p:spPr>
      </p:pic>
      <p:sp>
        <p:nvSpPr>
          <p:cNvPr id="41" name="Text 17"/>
          <p:cNvSpPr txBox="1"/>
          <p:nvPr/>
        </p:nvSpPr>
        <p:spPr>
          <a:xfrm>
            <a:off x="4629607" y="3973982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News </a:t>
            </a:r>
            <a:endParaRPr lang="en-US" sz="900" dirty="0"/>
          </a:p>
        </p:txBody>
      </p:sp>
      <p:pic>
        <p:nvPicPr>
          <p:cNvPr id="42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4429354" y="4005072"/>
            <a:ext cx="123444" cy="123444"/>
          </a:xfrm>
          <a:prstGeom prst="rect">
            <a:avLst/>
          </a:prstGeom>
        </p:spPr>
      </p:pic>
      <p:sp>
        <p:nvSpPr>
          <p:cNvPr id="43" name="Shape 18"/>
          <p:cNvSpPr/>
          <p:nvPr/>
        </p:nvSpPr>
        <p:spPr>
          <a:xfrm>
            <a:off x="5533949" y="4028846"/>
            <a:ext cx="5848502" cy="75895"/>
          </a:xfrm>
          <a:prstGeom prst="roundRect">
            <a:avLst>
              <a:gd name="adj" fmla="val 1204822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23" descr="preencoded.png">    </p:cNvPr>
          <p:cNvPicPr>
            <a:picLocks noChangeAspect="1"/>
          </p:cNvPicPr>
          <p:nvPr/>
        </p:nvPicPr>
        <p:blipFill>
          <a:blip r:embed="rId24"/>
          <a:srcRect l="-923" r="-923" t="0" b="0"/>
          <a:stretch/>
        </p:blipFill>
        <p:spPr>
          <a:xfrm>
            <a:off x="7288682" y="3952951"/>
            <a:ext cx="476402" cy="228600"/>
          </a:xfrm>
          <a:prstGeom prst="rect">
            <a:avLst/>
          </a:prstGeom>
        </p:spPr>
      </p:pic>
      <p:sp>
        <p:nvSpPr>
          <p:cNvPr id="45" name="Text 19"/>
          <p:cNvSpPr txBox="1"/>
          <p:nvPr/>
        </p:nvSpPr>
        <p:spPr>
          <a:xfrm>
            <a:off x="7288682" y="3952951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News</a:t>
            </a:r>
            <a:endParaRPr lang="en-US" sz="800" dirty="0"/>
          </a:p>
        </p:txBody>
      </p:sp>
      <p:pic>
        <p:nvPicPr>
          <p:cNvPr id="46" name="Image 24" descr="preencoded.png">    </p:cNvPr>
          <p:cNvPicPr>
            <a:picLocks noChangeAspect="1"/>
          </p:cNvPicPr>
          <p:nvPr/>
        </p:nvPicPr>
        <p:blipFill>
          <a:blip r:embed="rId25"/>
          <a:srcRect l="-923" r="-923" t="0" b="0"/>
          <a:stretch/>
        </p:blipFill>
        <p:spPr>
          <a:xfrm>
            <a:off x="9042502" y="3952951"/>
            <a:ext cx="476402" cy="228600"/>
          </a:xfrm>
          <a:prstGeom prst="rect">
            <a:avLst/>
          </a:prstGeom>
        </p:spPr>
      </p:pic>
      <p:sp>
        <p:nvSpPr>
          <p:cNvPr id="47" name="Text 20"/>
          <p:cNvSpPr txBox="1"/>
          <p:nvPr/>
        </p:nvSpPr>
        <p:spPr>
          <a:xfrm>
            <a:off x="9042502" y="3952951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News</a:t>
            </a:r>
            <a:endParaRPr lang="en-US" sz="800" dirty="0"/>
          </a:p>
        </p:txBody>
      </p:sp>
      <p:pic>
        <p:nvPicPr>
          <p:cNvPr id="48" name="Image 25" descr="preencoded.png">    </p:cNvPr>
          <p:cNvPicPr>
            <a:picLocks noChangeAspect="1"/>
          </p:cNvPicPr>
          <p:nvPr/>
        </p:nvPicPr>
        <p:blipFill>
          <a:blip r:embed="rId26"/>
          <a:srcRect l="-923" r="-923" t="0" b="0"/>
          <a:stretch/>
        </p:blipFill>
        <p:spPr>
          <a:xfrm>
            <a:off x="10797235" y="3952951"/>
            <a:ext cx="476402" cy="228600"/>
          </a:xfrm>
          <a:prstGeom prst="rect">
            <a:avLst/>
          </a:prstGeom>
        </p:spPr>
      </p:pic>
      <p:sp>
        <p:nvSpPr>
          <p:cNvPr id="49" name="Text 21"/>
          <p:cNvSpPr txBox="1"/>
          <p:nvPr/>
        </p:nvSpPr>
        <p:spPr>
          <a:xfrm>
            <a:off x="10797235" y="3952951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News</a:t>
            </a:r>
            <a:endParaRPr lang="en-US" sz="800" dirty="0"/>
          </a:p>
        </p:txBody>
      </p:sp>
      <p:sp>
        <p:nvSpPr>
          <p:cNvPr id="50" name="Shape 22"/>
          <p:cNvSpPr/>
          <p:nvPr/>
        </p:nvSpPr>
        <p:spPr>
          <a:xfrm>
            <a:off x="4190695" y="4895698"/>
            <a:ext cx="1714500" cy="2447849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23"/>
          <p:cNvSpPr/>
          <p:nvPr/>
        </p:nvSpPr>
        <p:spPr>
          <a:xfrm>
            <a:off x="4390949" y="5095951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4486046" y="5191049"/>
            <a:ext cx="152705" cy="152705"/>
          </a:xfrm>
          <a:prstGeom prst="rect">
            <a:avLst/>
          </a:prstGeom>
        </p:spPr>
      </p:pic>
      <p:sp>
        <p:nvSpPr>
          <p:cNvPr id="53" name="Text 24"/>
          <p:cNvSpPr txBox="1"/>
          <p:nvPr/>
        </p:nvSpPr>
        <p:spPr>
          <a:xfrm>
            <a:off x="4848149" y="5095951"/>
            <a:ext cx="743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Sequence</a:t>
            </a:r>
            <a:endParaRPr lang="en-US" sz="1100" dirty="0"/>
          </a:p>
        </p:txBody>
      </p:sp>
      <p:sp>
        <p:nvSpPr>
          <p:cNvPr id="54" name="Text 25"/>
          <p:cNvSpPr txBox="1"/>
          <p:nvPr/>
        </p:nvSpPr>
        <p:spPr>
          <a:xfrm>
            <a:off x="4390949" y="5553151"/>
            <a:ext cx="1314907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engine of the campaign. High frequency, low cost automated touchpoints to gauge interest.</a:t>
            </a:r>
            <a:endParaRPr lang="en-US" sz="900" dirty="0"/>
          </a:p>
        </p:txBody>
      </p:sp>
      <p:sp>
        <p:nvSpPr>
          <p:cNvPr id="55" name="Shape 26"/>
          <p:cNvSpPr/>
          <p:nvPr/>
        </p:nvSpPr>
        <p:spPr>
          <a:xfrm>
            <a:off x="4390949" y="6782105"/>
            <a:ext cx="1314907" cy="362102"/>
          </a:xfrm>
          <a:prstGeom prst="roundRect">
            <a:avLst>
              <a:gd name="adj" fmla="val 5316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27"/>
          <p:cNvSpPr txBox="1"/>
          <p:nvPr/>
        </p:nvSpPr>
        <p:spPr>
          <a:xfrm>
            <a:off x="4390949" y="6782105"/>
            <a:ext cx="1314907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Volume / Low Cost</a:t>
            </a:r>
            <a:endParaRPr lang="en-US" sz="800" dirty="0"/>
          </a:p>
        </p:txBody>
      </p:sp>
      <p:sp>
        <p:nvSpPr>
          <p:cNvPr id="57" name="Shape 28"/>
          <p:cNvSpPr/>
          <p:nvPr/>
        </p:nvSpPr>
        <p:spPr>
          <a:xfrm>
            <a:off x="6096305" y="4895698"/>
            <a:ext cx="1714500" cy="2447849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29"/>
          <p:cNvSpPr/>
          <p:nvPr/>
        </p:nvSpPr>
        <p:spPr>
          <a:xfrm>
            <a:off x="6295644" y="5095951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9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6391656" y="5191049"/>
            <a:ext cx="152705" cy="152705"/>
          </a:xfrm>
          <a:prstGeom prst="rect">
            <a:avLst/>
          </a:prstGeom>
        </p:spPr>
      </p:pic>
      <p:sp>
        <p:nvSpPr>
          <p:cNvPr id="60" name="Text 30"/>
          <p:cNvSpPr txBox="1"/>
          <p:nvPr/>
        </p:nvSpPr>
        <p:spPr>
          <a:xfrm>
            <a:off x="6752844" y="5095951"/>
            <a:ext cx="4672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Mail</a:t>
            </a:r>
            <a:endParaRPr lang="en-US" sz="1100" dirty="0"/>
          </a:p>
        </p:txBody>
      </p:sp>
      <p:sp>
        <p:nvSpPr>
          <p:cNvPr id="61" name="Text 31"/>
          <p:cNvSpPr txBox="1"/>
          <p:nvPr/>
        </p:nvSpPr>
        <p:spPr>
          <a:xfrm>
            <a:off x="6295644" y="5553151"/>
            <a:ext cx="1314907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mail creates a "pattern interrupt" and cuts through digital noise. 100% viewability rate.</a:t>
            </a:r>
            <a:endParaRPr lang="en-US" sz="900" dirty="0"/>
          </a:p>
        </p:txBody>
      </p:sp>
      <p:sp>
        <p:nvSpPr>
          <p:cNvPr id="62" name="Shape 32"/>
          <p:cNvSpPr/>
          <p:nvPr/>
        </p:nvSpPr>
        <p:spPr>
          <a:xfrm>
            <a:off x="6295644" y="6924751"/>
            <a:ext cx="790956" cy="219456"/>
          </a:xfrm>
          <a:prstGeom prst="roundRect">
            <a:avLst>
              <a:gd name="adj" fmla="val 144928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33"/>
          <p:cNvSpPr txBox="1"/>
          <p:nvPr/>
        </p:nvSpPr>
        <p:spPr>
          <a:xfrm>
            <a:off x="6295644" y="6924751"/>
            <a:ext cx="790956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Impact</a:t>
            </a:r>
            <a:endParaRPr lang="en-US" sz="800" dirty="0"/>
          </a:p>
        </p:txBody>
      </p:sp>
      <p:sp>
        <p:nvSpPr>
          <p:cNvPr id="64" name="Shape 34"/>
          <p:cNvSpPr/>
          <p:nvPr/>
        </p:nvSpPr>
        <p:spPr>
          <a:xfrm>
            <a:off x="8001000" y="4895698"/>
            <a:ext cx="1714500" cy="2447849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35"/>
          <p:cNvSpPr/>
          <p:nvPr/>
        </p:nvSpPr>
        <p:spPr>
          <a:xfrm>
            <a:off x="8201254" y="5095951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8296351" y="5191049"/>
            <a:ext cx="152705" cy="152705"/>
          </a:xfrm>
          <a:prstGeom prst="rect">
            <a:avLst/>
          </a:prstGeom>
        </p:spPr>
      </p:pic>
      <p:sp>
        <p:nvSpPr>
          <p:cNvPr id="67" name="Text 36"/>
          <p:cNvSpPr txBox="1"/>
          <p:nvPr/>
        </p:nvSpPr>
        <p:spPr>
          <a:xfrm>
            <a:off x="8658454" y="5095951"/>
            <a:ext cx="5532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Priority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Phone</a:t>
            </a:r>
            <a:endParaRPr lang="en-US" sz="1100" dirty="0"/>
          </a:p>
        </p:txBody>
      </p:sp>
      <p:sp>
        <p:nvSpPr>
          <p:cNvPr id="68" name="Text 37"/>
          <p:cNvSpPr txBox="1"/>
          <p:nvPr/>
        </p:nvSpPr>
        <p:spPr>
          <a:xfrm>
            <a:off x="8201254" y="5553151"/>
            <a:ext cx="1314907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Targeted human outreach for your highest-value dormant assets (LTV &gt; $3k).</a:t>
            </a:r>
            <a:endParaRPr lang="en-US" sz="900" dirty="0"/>
          </a:p>
        </p:txBody>
      </p:sp>
      <p:sp>
        <p:nvSpPr>
          <p:cNvPr id="69" name="Shape 38"/>
          <p:cNvSpPr/>
          <p:nvPr/>
        </p:nvSpPr>
        <p:spPr>
          <a:xfrm>
            <a:off x="8201254" y="6924751"/>
            <a:ext cx="1152144" cy="219456"/>
          </a:xfrm>
          <a:prstGeom prst="roundRect">
            <a:avLst>
              <a:gd name="adj" fmla="val 144928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39"/>
          <p:cNvSpPr txBox="1"/>
          <p:nvPr/>
        </p:nvSpPr>
        <p:spPr>
          <a:xfrm>
            <a:off x="8201254" y="6924751"/>
            <a:ext cx="1153058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Conversion Driver</a:t>
            </a:r>
            <a:endParaRPr lang="en-US" sz="800" dirty="0"/>
          </a:p>
        </p:txBody>
      </p:sp>
      <p:sp>
        <p:nvSpPr>
          <p:cNvPr id="71" name="Shape 40"/>
          <p:cNvSpPr/>
          <p:nvPr/>
        </p:nvSpPr>
        <p:spPr>
          <a:xfrm>
            <a:off x="9905695" y="4895698"/>
            <a:ext cx="1714500" cy="2447849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41"/>
          <p:cNvSpPr/>
          <p:nvPr/>
        </p:nvSpPr>
        <p:spPr>
          <a:xfrm>
            <a:off x="10105949" y="5095951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3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10201046" y="5191049"/>
            <a:ext cx="152705" cy="152705"/>
          </a:xfrm>
          <a:prstGeom prst="rect">
            <a:avLst/>
          </a:prstGeom>
        </p:spPr>
      </p:pic>
      <p:sp>
        <p:nvSpPr>
          <p:cNvPr id="74" name="Text 42"/>
          <p:cNvSpPr txBox="1"/>
          <p:nvPr/>
        </p:nvSpPr>
        <p:spPr>
          <a:xfrm>
            <a:off x="10563149" y="5095951"/>
            <a:ext cx="819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Newsletter</a:t>
            </a:r>
            <a:endParaRPr lang="en-US" sz="1100" dirty="0"/>
          </a:p>
        </p:txBody>
      </p:sp>
      <p:sp>
        <p:nvSpPr>
          <p:cNvPr id="75" name="Text 43"/>
          <p:cNvSpPr txBox="1"/>
          <p:nvPr/>
        </p:nvSpPr>
        <p:spPr>
          <a:xfrm>
            <a:off x="10105949" y="5553151"/>
            <a:ext cx="1314907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Adds value without asking for a sale. Rebuilds trust and positions you as the expert.</a:t>
            </a:r>
            <a:endParaRPr lang="en-US" sz="900" dirty="0"/>
          </a:p>
        </p:txBody>
      </p:sp>
      <p:sp>
        <p:nvSpPr>
          <p:cNvPr id="76" name="Shape 44"/>
          <p:cNvSpPr/>
          <p:nvPr/>
        </p:nvSpPr>
        <p:spPr>
          <a:xfrm>
            <a:off x="10105949" y="6924751"/>
            <a:ext cx="1123798" cy="219456"/>
          </a:xfrm>
          <a:prstGeom prst="roundRect">
            <a:avLst>
              <a:gd name="adj" fmla="val 144928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45"/>
          <p:cNvSpPr txBox="1"/>
          <p:nvPr/>
        </p:nvSpPr>
        <p:spPr>
          <a:xfrm>
            <a:off x="10105949" y="6924751"/>
            <a:ext cx="112471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Relationship Glue</a:t>
            </a:r>
            <a:endParaRPr lang="en-US" sz="800" dirty="0"/>
          </a:p>
        </p:txBody>
      </p:sp>
      <p:sp>
        <p:nvSpPr>
          <p:cNvPr id="78" name="Text 46"/>
          <p:cNvSpPr txBox="1"/>
          <p:nvPr/>
        </p:nvSpPr>
        <p:spPr>
          <a:xfrm>
            <a:off x="11702491" y="6400800"/>
            <a:ext cx="154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900" dirty="0"/>
          </a:p>
        </p:txBody>
      </p:sp>
      <p:pic>
        <p:nvPicPr>
          <p:cNvPr id="79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6569964" y="3400654"/>
            <a:ext cx="267005" cy="267005"/>
          </a:xfrm>
          <a:prstGeom prst="rect">
            <a:avLst/>
          </a:prstGeom>
        </p:spPr>
      </p:pic>
      <p:pic>
        <p:nvPicPr>
          <p:cNvPr id="80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6655918" y="3486607"/>
            <a:ext cx="95098" cy="95098"/>
          </a:xfrm>
          <a:prstGeom prst="rect">
            <a:avLst/>
          </a:prstGeom>
        </p:spPr>
      </p:pic>
      <p:pic>
        <p:nvPicPr>
          <p:cNvPr id="81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8324698" y="3400654"/>
            <a:ext cx="267005" cy="267005"/>
          </a:xfrm>
          <a:prstGeom prst="rect">
            <a:avLst/>
          </a:prstGeom>
        </p:spPr>
      </p:pic>
      <p:pic>
        <p:nvPicPr>
          <p:cNvPr id="82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0" b="0"/>
          <a:stretch/>
        </p:blipFill>
        <p:spPr>
          <a:xfrm>
            <a:off x="8410651" y="3486607"/>
            <a:ext cx="95098" cy="95098"/>
          </a:xfrm>
          <a:prstGeom prst="rect">
            <a:avLst/>
          </a:prstGeom>
        </p:spPr>
      </p:pic>
      <p:sp>
        <p:nvSpPr>
          <p:cNvPr id="83" name="Shape 47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4" name="Image 34" descr="preencoded.png">    </p:cNvPr>
          <p:cNvPicPr>
            <a:picLocks noChangeAspect="1"/>
          </p:cNvPicPr>
          <p:nvPr/>
        </p:nvPicPr>
        <p:blipFill>
          <a:blip r:embed="rId35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85" name="Text 48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Takes</a:t>
            </a:r>
            <a:endParaRPr lang="en-US" sz="900" dirty="0"/>
          </a:p>
        </p:txBody>
      </p:sp>
      <p:sp>
        <p:nvSpPr>
          <p:cNvPr id="86" name="Shape 49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50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Systematic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Multi-Touch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3100" dirty="0"/>
          </a:p>
        </p:txBody>
      </p:sp>
      <p:sp>
        <p:nvSpPr>
          <p:cNvPr id="88" name="Shape 51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52"/>
          <p:cNvSpPr txBox="1"/>
          <p:nvPr/>
        </p:nvSpPr>
        <p:spPr>
          <a:xfrm>
            <a:off x="580644" y="2635301"/>
            <a:ext cx="3162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Reactivation requires persistence.</a:t>
            </a:r>
            <a:endParaRPr lang="en-US" sz="1200" dirty="0"/>
          </a:p>
        </p:txBody>
      </p:sp>
      <p:sp>
        <p:nvSpPr>
          <p:cNvPr id="90" name="Text 53"/>
          <p:cNvSpPr txBox="1"/>
          <p:nvPr/>
        </p:nvSpPr>
        <p:spPr>
          <a:xfrm>
            <a:off x="580644" y="3032150"/>
            <a:ext cx="2658161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single email is easily ignored. A coordinated system across digital and physical channels makes your offer impossible to miss.</a:t>
            </a:r>
            <a:endParaRPr lang="en-US" sz="1200" dirty="0"/>
          </a:p>
        </p:txBody>
      </p:sp>
      <p:pic>
        <p:nvPicPr>
          <p:cNvPr id="91" name="Image 35" descr="preencoded.png">    </p:cNvPr>
          <p:cNvPicPr>
            <a:picLocks noChangeAspect="1"/>
          </p:cNvPicPr>
          <p:nvPr/>
        </p:nvPicPr>
        <p:blipFill>
          <a:blip r:embed="rId36">
            <a:alphaModFix amt="80000"/>
          </a:blip>
          <a:srcRect l="-44" r="-44" t="0" b="0"/>
          <a:stretch/>
        </p:blipFill>
        <p:spPr>
          <a:xfrm>
            <a:off x="381305" y="4006901"/>
            <a:ext cx="51480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1805" y="858622"/>
            <a:ext cx="729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Introducing Your Asset Recovery System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4381805" y="1697126"/>
            <a:ext cx="7048195" cy="28099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39005" y="1506931"/>
            <a:ext cx="381305" cy="381305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4943246" y="1602029"/>
            <a:ext cx="171907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934102" y="2173529"/>
            <a:ext cx="6020410" cy="1858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systematic 90-day program that treats your dormant customers like </a:t>
            </a:r>
            <a:pPr algn="l" indent="0" marL="0">
              <a:buNone/>
            </a:pPr>
            <a:r>
              <a:rPr lang="en-US" sz="19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valuable assets</a:t>
            </a:r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with professional, multi-touch outreach designed specifically for HVAC customer reactivation. 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4381805" y="49834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90618" y="5116982"/>
            <a:ext cx="237744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990795" y="4983480"/>
            <a:ext cx="1762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Systematic Process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990795" y="5250485"/>
            <a:ext cx="155265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Replaces ad-hoc "blasts" with a structured, engineered workflow.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6825996" y="49834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59498" y="5116982"/>
            <a:ext cx="190195" cy="1901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435901" y="4983480"/>
            <a:ext cx="1552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Multi-Touch &amp; Channel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7435901" y="5479085"/>
            <a:ext cx="155265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email, direct mail, and phone to cut through the noise.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9271102" y="49834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-1648" r="-1648" t="0" b="0"/>
          <a:stretch/>
        </p:blipFill>
        <p:spPr>
          <a:xfrm>
            <a:off x="9413748" y="5116982"/>
            <a:ext cx="171907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881006" y="4983480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HVAC Specific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9881006" y="5250485"/>
            <a:ext cx="155265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Messaging tailored to service cycles, seasonality, and equipment life.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1697005" y="6400800"/>
            <a:ext cx="154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Revenue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Reactivation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</a:t>
            </a:r>
            <a:endParaRPr lang="en-US" sz="3100" dirty="0"/>
          </a:p>
        </p:txBody>
      </p:sp>
      <p:sp>
        <p:nvSpPr>
          <p:cNvPr id="28" name="Shape 20"/>
          <p:cNvSpPr/>
          <p:nvPr/>
        </p:nvSpPr>
        <p:spPr>
          <a:xfrm>
            <a:off x="381305" y="2635301"/>
            <a:ext cx="9144" cy="113385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Stop treating dormant customers like dead leads.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580644" y="3275381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 treating them like the assets they are.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rcRect l="0" r="0" t="0" b="0"/>
          <a:stretch/>
        </p:blipFill>
        <p:spPr>
          <a:xfrm>
            <a:off x="381305" y="376367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Complete Reactivation System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90695" y="1314907"/>
            <a:ext cx="3600907" cy="1591056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90695" y="1314907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29354" y="1552651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81144" y="1705356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152644" y="1552651"/>
            <a:ext cx="2400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Personalized Email 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152644" y="1867205"/>
            <a:ext cx="24003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 targeted campaigns per month sent to up to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5,000 contacts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Includes subject line testing and spam-check optimization. 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20202" y="1314907"/>
            <a:ext cx="3600907" cy="1591056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020202" y="1314907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57946" y="1552651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10651" y="1705356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982151" y="1552651"/>
            <a:ext cx="2400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Direct Mail Postcards 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982151" y="1867205"/>
            <a:ext cx="24003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high-impact postcard drops per month to segmented lists. Full color, 6x9 oversized format to cut through mailbox clutter.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190695" y="3133649"/>
            <a:ext cx="3600907" cy="1591056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90695" y="3133649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429354" y="33723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81144" y="3524098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152644" y="3372307"/>
            <a:ext cx="2400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VIP Newsletter 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152644" y="3685946"/>
            <a:ext cx="24003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 monthly printed or digital newsletter sent to your top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1,000 customers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maintain top-of-mind awareness and trust. 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020202" y="3133649"/>
            <a:ext cx="3600907" cy="1591056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20202" y="3133649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257946" y="33723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10651" y="3524098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982151" y="3372307"/>
            <a:ext cx="2400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Call Tracking 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982151" y="3685946"/>
            <a:ext cx="24003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Dedicated tracking numbers and real-time dashboard. We record and score every inbound call to verify lead quality.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190695" y="4953305"/>
            <a:ext cx="3600907" cy="1591056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190695" y="4953305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429354" y="5191049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81144" y="5343754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152644" y="5191049"/>
            <a:ext cx="2400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Monthly Reporting 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152644" y="5505602"/>
            <a:ext cx="24003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performance reports showing open rates, response rates, appointments booked, and direct revenue generated.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8020202" y="4953305"/>
            <a:ext cx="3600907" cy="1591056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020202" y="4953305"/>
            <a:ext cx="38405" cy="1571854"/>
          </a:xfrm>
          <a:prstGeom prst="rect">
            <a:avLst/>
          </a:prstGeom>
          <a:solidFill>
            <a:srgbClr val="F97316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257946" y="5191049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8438998" y="5343754"/>
            <a:ext cx="171907" cy="2286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982151" y="5191049"/>
            <a:ext cx="2400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CRM Integration 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8982151" y="5505602"/>
            <a:ext cx="24003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 sync with your existing tools. We pull data and push notes directly to your system of record.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190695" y="6543446"/>
            <a:ext cx="74295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190695" y="6774790"/>
            <a:ext cx="123444" cy="12344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4390949" y="6743700"/>
            <a:ext cx="2543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 Done-For-You Implementation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8338414" y="6760159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64748B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 With: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9324137" y="6743700"/>
            <a:ext cx="10378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ServiceTitan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10229393" y="6743700"/>
            <a:ext cx="1125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Housecall Pro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11216945" y="6743700"/>
            <a:ext cx="5221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Jobber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11699748" y="6400800"/>
            <a:ext cx="154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Included</a:t>
            </a:r>
            <a:endParaRPr lang="en-US" sz="3100" dirty="0"/>
          </a:p>
        </p:txBody>
      </p:sp>
      <p:sp>
        <p:nvSpPr>
          <p:cNvPr id="55" name="Shape 45"/>
          <p:cNvSpPr/>
          <p:nvPr/>
        </p:nvSpPr>
        <p:spPr>
          <a:xfrm>
            <a:off x="381305" y="215524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580644" y="2155241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a complete, "done-for-you" reactivation system.</a:t>
            </a:r>
            <a:endParaRPr lang="en-US" sz="1200" dirty="0"/>
          </a:p>
        </p:txBody>
      </p:sp>
      <p:sp>
        <p:nvSpPr>
          <p:cNvPr id="57" name="Text 47"/>
          <p:cNvSpPr txBox="1"/>
          <p:nvPr/>
        </p:nvSpPr>
        <p:spPr>
          <a:xfrm>
            <a:off x="580644" y="2795321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handle the segmentation, creative, deployment, and tracking. You handle the appointments.</a:t>
            </a:r>
            <a:endParaRPr lang="en-US" sz="12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rcRect l="0" r="0" t="0" b="0"/>
          <a:stretch/>
        </p:blipFill>
        <p:spPr>
          <a:xfrm>
            <a:off x="381305" y="3526841"/>
            <a:ext cx="5715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Phase-by-Phase Roadmap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670487" y="6400800"/>
            <a:ext cx="143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2" b="-402"/>
          <a:stretch/>
        </p:blipFill>
        <p:spPr>
          <a:xfrm>
            <a:off x="4667098" y="1695298"/>
            <a:ext cx="6476695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90695" y="1314907"/>
            <a:ext cx="2324405" cy="5162702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97" b="-397"/>
          <a:stretch/>
        </p:blipFill>
        <p:spPr>
          <a:xfrm>
            <a:off x="4200754" y="1324051"/>
            <a:ext cx="2305202" cy="57607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62702" y="1190549"/>
            <a:ext cx="381305" cy="3813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62702" y="1190549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429354" y="1666951"/>
            <a:ext cx="1848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 1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4429354" y="1914754"/>
            <a:ext cx="18480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648810" y="2356409"/>
            <a:ext cx="162854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Segmentation: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Cleaning list and identifying priority tiers.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4429354" y="2356409"/>
            <a:ext cx="105156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648810" y="3309214"/>
            <a:ext cx="162854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Message Development: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Crafting offers for At-Risk vs. Dormant.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4429354" y="3309214"/>
            <a:ext cx="105156" cy="1143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648810" y="4061765"/>
            <a:ext cx="162854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Launch: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Wave 1 Email + Postcard drop.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4429354" y="4061765"/>
            <a:ext cx="105156" cy="1143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648810" y="4614062"/>
            <a:ext cx="162854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Tracking Setup: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 recording and dashboard configuration.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4429354" y="4614062"/>
            <a:ext cx="105156" cy="1143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200754" y="5595214"/>
            <a:ext cx="2305202" cy="875995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/>
        </p:spPr>
      </p:sp>
      <p:sp>
        <p:nvSpPr>
          <p:cNvPr id="23" name="Shape 14"/>
          <p:cNvSpPr/>
          <p:nvPr/>
        </p:nvSpPr>
        <p:spPr>
          <a:xfrm>
            <a:off x="4200754" y="5595214"/>
            <a:ext cx="2305202" cy="9144"/>
          </a:xfrm>
          <a:prstGeom prst="roundRect">
            <a:avLst>
              <a:gd name="adj" fmla="val 2608696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4429354" y="5795467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Goal</a:t>
            </a:r>
            <a:endParaRPr lang="en-US" sz="800" dirty="0"/>
          </a:p>
        </p:txBody>
      </p:sp>
      <p:sp>
        <p:nvSpPr>
          <p:cNvPr id="25" name="Text 16"/>
          <p:cNvSpPr txBox="1"/>
          <p:nvPr/>
        </p:nvSpPr>
        <p:spPr>
          <a:xfrm>
            <a:off x="4429354" y="599023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25–30 Leads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743700" y="1314907"/>
            <a:ext cx="2324405" cy="5162702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397" b="-397"/>
          <a:stretch/>
        </p:blipFill>
        <p:spPr>
          <a:xfrm>
            <a:off x="6752844" y="1324051"/>
            <a:ext cx="2305202" cy="57607"/>
          </a:xfrm>
          <a:prstGeom prst="rect">
            <a:avLst/>
          </a:prstGeom>
        </p:spPr>
      </p:pic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715707" y="1190549"/>
            <a:ext cx="381305" cy="38130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715707" y="1190549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19"/>
          <p:cNvSpPr txBox="1"/>
          <p:nvPr/>
        </p:nvSpPr>
        <p:spPr>
          <a:xfrm>
            <a:off x="6981444" y="1666951"/>
            <a:ext cx="1848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 2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6981444" y="1914754"/>
            <a:ext cx="18480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Momentum</a:t>
            </a:r>
            <a:endParaRPr lang="en-US" sz="1600" dirty="0"/>
          </a:p>
        </p:txBody>
      </p:sp>
      <p:sp>
        <p:nvSpPr>
          <p:cNvPr id="32" name="Text 21"/>
          <p:cNvSpPr txBox="1"/>
          <p:nvPr/>
        </p:nvSpPr>
        <p:spPr>
          <a:xfrm>
            <a:off x="7200900" y="2356409"/>
            <a:ext cx="162854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Touch: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Follow-up sequences to non-responders.</a:t>
            </a:r>
            <a:endParaRPr lang="en-US" sz="10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6981444" y="2356409"/>
            <a:ext cx="105156" cy="1143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200900" y="3108960"/>
            <a:ext cx="162854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Phone Outreach: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Concierge calls to top 200 high-value targets.</a:t>
            </a:r>
            <a:endParaRPr lang="en-US" sz="10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6981444" y="3108960"/>
            <a:ext cx="105156" cy="1143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7200900" y="3861511"/>
            <a:ext cx="162854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Newsletter Launch: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First retention-focused content piece sent.</a:t>
            </a:r>
            <a:endParaRPr lang="en-US" sz="10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6981444" y="3861511"/>
            <a:ext cx="105156" cy="11430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7200900" y="4614062"/>
            <a:ext cx="162854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Response Analysis: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Reviewing call recordings for training.</a:t>
            </a:r>
            <a:endParaRPr lang="en-US" sz="100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6981444" y="4614062"/>
            <a:ext cx="105156" cy="114300"/>
          </a:xfrm>
          <a:prstGeom prst="rect">
            <a:avLst/>
          </a:prstGeom>
        </p:spPr>
      </p:pic>
      <p:sp>
        <p:nvSpPr>
          <p:cNvPr id="40" name="Shape 25"/>
          <p:cNvSpPr/>
          <p:nvPr/>
        </p:nvSpPr>
        <p:spPr>
          <a:xfrm>
            <a:off x="6752844" y="5595214"/>
            <a:ext cx="2305202" cy="875995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/>
        </p:spPr>
      </p:sp>
      <p:sp>
        <p:nvSpPr>
          <p:cNvPr id="41" name="Shape 26"/>
          <p:cNvSpPr/>
          <p:nvPr/>
        </p:nvSpPr>
        <p:spPr>
          <a:xfrm>
            <a:off x="6752844" y="5595214"/>
            <a:ext cx="2305202" cy="9144"/>
          </a:xfrm>
          <a:prstGeom prst="roundRect">
            <a:avLst>
              <a:gd name="adj" fmla="val 2608696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2" name="Text 27"/>
          <p:cNvSpPr txBox="1"/>
          <p:nvPr/>
        </p:nvSpPr>
        <p:spPr>
          <a:xfrm>
            <a:off x="6981444" y="5795467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Goal</a:t>
            </a:r>
            <a:endParaRPr lang="en-US" sz="800" dirty="0"/>
          </a:p>
        </p:txBody>
      </p:sp>
      <p:sp>
        <p:nvSpPr>
          <p:cNvPr id="43" name="Text 28"/>
          <p:cNvSpPr txBox="1"/>
          <p:nvPr/>
        </p:nvSpPr>
        <p:spPr>
          <a:xfrm>
            <a:off x="6981444" y="599023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40–50 Leads</a:t>
            </a:r>
            <a:endParaRPr lang="en-US" sz="1500" dirty="0"/>
          </a:p>
        </p:txBody>
      </p:sp>
      <p:sp>
        <p:nvSpPr>
          <p:cNvPr id="44" name="Shape 29"/>
          <p:cNvSpPr/>
          <p:nvPr/>
        </p:nvSpPr>
        <p:spPr>
          <a:xfrm>
            <a:off x="9296705" y="1314907"/>
            <a:ext cx="2324405" cy="5162702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397" b="-397"/>
          <a:stretch/>
        </p:blipFill>
        <p:spPr>
          <a:xfrm>
            <a:off x="9305849" y="1324051"/>
            <a:ext cx="2305202" cy="57607"/>
          </a:xfrm>
          <a:prstGeom prst="rect">
            <a:avLst/>
          </a:prstGeom>
        </p:spPr>
      </p:pic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267798" y="1190549"/>
            <a:ext cx="381305" cy="381305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10267798" y="1190549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31"/>
          <p:cNvSpPr txBox="1"/>
          <p:nvPr/>
        </p:nvSpPr>
        <p:spPr>
          <a:xfrm>
            <a:off x="9534449" y="1666951"/>
            <a:ext cx="1848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 3</a:t>
            </a:r>
            <a:endParaRPr lang="en-US" sz="900" dirty="0"/>
          </a:p>
        </p:txBody>
      </p:sp>
      <p:sp>
        <p:nvSpPr>
          <p:cNvPr id="49" name="Text 32"/>
          <p:cNvSpPr txBox="1"/>
          <p:nvPr/>
        </p:nvSpPr>
        <p:spPr>
          <a:xfrm>
            <a:off x="9534449" y="1914754"/>
            <a:ext cx="18480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50" name="Text 33"/>
          <p:cNvSpPr txBox="1"/>
          <p:nvPr/>
        </p:nvSpPr>
        <p:spPr>
          <a:xfrm>
            <a:off x="9753905" y="2356409"/>
            <a:ext cx="162854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Double Down: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Scaling the offers/channels with highest ROI.</a:t>
            </a:r>
            <a:endParaRPr lang="en-US" sz="1000" dirty="0"/>
          </a:p>
        </p:txBody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rcRect l="-2571" r="-2571" t="0" b="0"/>
          <a:stretch/>
        </p:blipFill>
        <p:spPr>
          <a:xfrm>
            <a:off x="9534449" y="2356409"/>
            <a:ext cx="105156" cy="114300"/>
          </a:xfrm>
          <a:prstGeom prst="rect">
            <a:avLst/>
          </a:prstGeom>
        </p:spPr>
      </p:pic>
      <p:sp>
        <p:nvSpPr>
          <p:cNvPr id="52" name="Text 34"/>
          <p:cNvSpPr txBox="1"/>
          <p:nvPr/>
        </p:nvSpPr>
        <p:spPr>
          <a:xfrm>
            <a:off x="9753905" y="3108960"/>
            <a:ext cx="162854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A/B Testing: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Testing new subject lines on remaining dormant segments.</a:t>
            </a:r>
            <a:endParaRPr lang="en-US" sz="1000" dirty="0"/>
          </a:p>
        </p:txBody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rcRect l="-2571" r="-2571" t="0" b="0"/>
          <a:stretch/>
        </p:blipFill>
        <p:spPr>
          <a:xfrm>
            <a:off x="9534449" y="3108960"/>
            <a:ext cx="105156" cy="114300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9753905" y="4061765"/>
            <a:ext cx="162854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Expansion: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Rolling out successful campaigns to older data.</a:t>
            </a:r>
            <a:endParaRPr lang="en-US" sz="1000" dirty="0"/>
          </a:p>
        </p:txBody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rcRect l="-2571" r="-2571" t="0" b="0"/>
          <a:stretch/>
        </p:blipFill>
        <p:spPr>
          <a:xfrm>
            <a:off x="9534449" y="4061765"/>
            <a:ext cx="105156" cy="114300"/>
          </a:xfrm>
          <a:prstGeom prst="rect">
            <a:avLst/>
          </a:prstGeom>
        </p:spPr>
      </p:pic>
      <p:sp>
        <p:nvSpPr>
          <p:cNvPr id="56" name="Shape 36"/>
          <p:cNvSpPr/>
          <p:nvPr/>
        </p:nvSpPr>
        <p:spPr>
          <a:xfrm>
            <a:off x="9305849" y="5595214"/>
            <a:ext cx="2305202" cy="875995"/>
          </a:xfrm>
          <a:prstGeom prst="roundRect">
            <a:avLst>
              <a:gd name="adj" fmla="val 27231"/>
            </a:avLst>
          </a:prstGeom>
          <a:solidFill>
            <a:srgbClr val="F8FAFC"/>
          </a:solidFill>
          <a:ln/>
        </p:spPr>
      </p:sp>
      <p:sp>
        <p:nvSpPr>
          <p:cNvPr id="57" name="Shape 37"/>
          <p:cNvSpPr/>
          <p:nvPr/>
        </p:nvSpPr>
        <p:spPr>
          <a:xfrm>
            <a:off x="9305849" y="5595214"/>
            <a:ext cx="2305202" cy="9144"/>
          </a:xfrm>
          <a:prstGeom prst="roundRect">
            <a:avLst>
              <a:gd name="adj" fmla="val 2608696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8" name="Text 38"/>
          <p:cNvSpPr txBox="1"/>
          <p:nvPr/>
        </p:nvSpPr>
        <p:spPr>
          <a:xfrm>
            <a:off x="9534449" y="5795467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Goal</a:t>
            </a:r>
            <a:endParaRPr lang="en-US" sz="800" dirty="0"/>
          </a:p>
        </p:txBody>
      </p:sp>
      <p:sp>
        <p:nvSpPr>
          <p:cNvPr id="59" name="Text 39"/>
          <p:cNvSpPr txBox="1"/>
          <p:nvPr/>
        </p:nvSpPr>
        <p:spPr>
          <a:xfrm>
            <a:off x="9534449" y="5990234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50–60 Leads</a:t>
            </a:r>
            <a:endParaRPr lang="en-US" sz="1500" dirty="0"/>
          </a:p>
        </p:txBody>
      </p:sp>
      <p:sp>
        <p:nvSpPr>
          <p:cNvPr id="60" name="Shape 40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8" descr="preencoded.png">    </p:cNvPr>
          <p:cNvPicPr>
            <a:picLocks noChangeAspect="1"/>
          </p:cNvPicPr>
          <p:nvPr/>
        </p:nvPicPr>
        <p:blipFill>
          <a:blip r:embed="rId19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62" name="Text 41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Execution Plan</a:t>
            </a:r>
            <a:endParaRPr lang="en-US" sz="900" dirty="0"/>
          </a:p>
        </p:txBody>
      </p:sp>
      <p:sp>
        <p:nvSpPr>
          <p:cNvPr id="63" name="Shape 42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43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90-Day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Targets</a:t>
            </a:r>
            <a:endParaRPr lang="en-US" sz="3100" dirty="0"/>
          </a:p>
        </p:txBody>
      </p:sp>
      <p:sp>
        <p:nvSpPr>
          <p:cNvPr id="65" name="Shape 44"/>
          <p:cNvSpPr/>
          <p:nvPr/>
        </p:nvSpPr>
        <p:spPr>
          <a:xfrm>
            <a:off x="381305" y="263530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45"/>
          <p:cNvSpPr txBox="1"/>
          <p:nvPr/>
        </p:nvSpPr>
        <p:spPr>
          <a:xfrm>
            <a:off x="580644" y="2635301"/>
            <a:ext cx="2658161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Reactivation follows a predictable curve. We build the foundation, generate initial momentum, and then optimize for maximum yield.</a:t>
            </a:r>
            <a:endParaRPr lang="en-US" sz="1200" dirty="0"/>
          </a:p>
        </p:txBody>
      </p:sp>
      <p:sp>
        <p:nvSpPr>
          <p:cNvPr id="67" name="Text 46"/>
          <p:cNvSpPr txBox="1"/>
          <p:nvPr/>
        </p:nvSpPr>
        <p:spPr>
          <a:xfrm>
            <a:off x="580644" y="3763670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Here is the roadmap for the next quarter.</a:t>
            </a:r>
            <a:endParaRPr lang="en-US" sz="1200" dirty="0"/>
          </a:p>
        </p:txBody>
      </p:sp>
      <p:pic>
        <p:nvPicPr>
          <p:cNvPr id="68" name="Image 19" descr="preencoded.png">    </p:cNvPr>
          <p:cNvPicPr>
            <a:picLocks noChangeAspect="1"/>
          </p:cNvPicPr>
          <p:nvPr/>
        </p:nvPicPr>
        <p:blipFill>
          <a:blip r:embed="rId20">
            <a:alphaModFix amt="80000"/>
          </a:blip>
          <a:srcRect l="-57" r="-57" t="0" b="0"/>
          <a:stretch/>
        </p:blipFill>
        <p:spPr>
          <a:xfrm>
            <a:off x="381305" y="4251046"/>
            <a:ext cx="40050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381805" y="502920"/>
            <a:ext cx="7048195" cy="52806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24598" y="160020"/>
            <a:ext cx="761695" cy="76169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7776972" y="369418"/>
            <a:ext cx="256946" cy="3429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895698" y="1207922"/>
            <a:ext cx="6020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B4530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Performance Guarantee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4895698" y="1598371"/>
            <a:ext cx="6020410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 will generate </a:t>
            </a:r>
            <a:pPr algn="ctr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Qualified Reactivation Leads</a:t>
            </a:r>
            <a:pPr algn="ctr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your first 90 days. </a:t>
            </a:r>
            <a:endParaRPr lang="en-US" sz="2700" dirty="0"/>
          </a:p>
        </p:txBody>
      </p:sp>
      <p:sp>
        <p:nvSpPr>
          <p:cNvPr id="10" name="Shape 5"/>
          <p:cNvSpPr/>
          <p:nvPr/>
        </p:nvSpPr>
        <p:spPr>
          <a:xfrm>
            <a:off x="4895698" y="3735324"/>
            <a:ext cx="6019495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895698" y="3163824"/>
            <a:ext cx="602041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...Or we work for free until you get them.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895698" y="4030675"/>
            <a:ext cx="6019495" cy="1238098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86807" y="429768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67198" y="4221785"/>
            <a:ext cx="5257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counts as a "Qualified Lead"?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5467198" y="4478731"/>
            <a:ext cx="52578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past customer who responds to our outreach with interest in service, agrees to a quote or appointment booking, or explicitly requests a callback from your team. We don't count "unsubscribe" clicks or wrong numbers.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rcRect l="0" r="0" t="-43" b="-43"/>
          <a:stretch/>
        </p:blipFill>
        <p:spPr>
          <a:xfrm>
            <a:off x="4925873" y="6184087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135270" y="6164885"/>
            <a:ext cx="18708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Long-Term Contracts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rcRect l="0" r="0" t="-43" b="-43"/>
          <a:stretch/>
        </p:blipFill>
        <p:spPr>
          <a:xfrm>
            <a:off x="7009790" y="6184087"/>
            <a:ext cx="133502" cy="1527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219188" y="6164885"/>
            <a:ext cx="20180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Results-Based Partnership</a:t>
            </a:r>
            <a:endParaRPr lang="en-US" sz="1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>
            <a:alphaModFix amt="70000"/>
          </a:blip>
          <a:srcRect l="0" r="0" t="-43" b="-43"/>
          <a:stretch/>
        </p:blipFill>
        <p:spPr>
          <a:xfrm>
            <a:off x="9217152" y="6184087"/>
            <a:ext cx="133502" cy="15270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426550" y="6164885"/>
            <a:ext cx="17455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Transparent Reporting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11704320" y="6400800"/>
            <a:ext cx="154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900" dirty="0"/>
          </a:p>
        </p:txBody>
      </p:sp>
      <p:sp>
        <p:nvSpPr>
          <p:cNvPr id="23" name="Shape 14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Reversal</a:t>
            </a:r>
            <a:endParaRPr lang="en-US" sz="900" dirty="0"/>
          </a:p>
        </p:txBody>
      </p:sp>
      <p:sp>
        <p:nvSpPr>
          <p:cNvPr id="26" name="Shape 16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90-Day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Promise</a:t>
            </a:r>
            <a:endParaRPr lang="en-US" sz="3100" dirty="0"/>
          </a:p>
        </p:txBody>
      </p:sp>
      <p:sp>
        <p:nvSpPr>
          <p:cNvPr id="28" name="Shape 18"/>
          <p:cNvSpPr/>
          <p:nvPr/>
        </p:nvSpPr>
        <p:spPr>
          <a:xfrm>
            <a:off x="381305" y="2635301"/>
            <a:ext cx="9144" cy="88605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580644" y="2635301"/>
            <a:ext cx="3162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don't ask you to take the risk.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580644" y="3032150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We're betting our own revenue on our ability to reactivate your assets.</a:t>
            </a:r>
            <a:endParaRPr lang="en-US" sz="12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rcRect l="0" r="0" t="0" b="0"/>
          <a:stretch/>
        </p:blipFill>
        <p:spPr>
          <a:xfrm>
            <a:off x="381305" y="3519526"/>
            <a:ext cx="5715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476402"/>
            <a:ext cx="78629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vs. Projected Return (90 Days)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90695" y="1314907"/>
            <a:ext cx="2943454" cy="5067605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0754" y="1324051"/>
            <a:ext cx="2924251" cy="724205"/>
          </a:xfrm>
          <a:prstGeom prst="roundRect">
            <a:avLst>
              <a:gd name="adj" fmla="val 53163"/>
            </a:avLst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4200754" y="2039112"/>
            <a:ext cx="2924251" cy="9144"/>
          </a:xfrm>
          <a:prstGeom prst="roundRect">
            <a:avLst>
              <a:gd name="adj" fmla="val 4210526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7098" y="1552651"/>
            <a:ext cx="2229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75" kern="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Total Investment 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5319" r="-5319" t="0" b="0"/>
          <a:stretch/>
        </p:blipFill>
        <p:spPr>
          <a:xfrm>
            <a:off x="4429354" y="1595628"/>
            <a:ext cx="142646" cy="17190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486046" y="2743200"/>
            <a:ext cx="23527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6046" y="2348179"/>
            <a:ext cx="13267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One-Time Setup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220663" y="2333549"/>
            <a:ext cx="6629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$6,000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86046" y="3390595"/>
            <a:ext cx="23527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6046" y="2995574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 (Month 1)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239866" y="2980944"/>
            <a:ext cx="6620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$7,900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86046" y="4038905"/>
            <a:ext cx="2352751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86046" y="364297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 (Month 2)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239866" y="3629254"/>
            <a:ext cx="6620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$7,900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486046" y="4291279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 (Month 3)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239866" y="4276649"/>
            <a:ext cx="6620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$7,900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00754" y="5514746"/>
            <a:ext cx="2924251" cy="857707"/>
          </a:xfrm>
          <a:prstGeom prst="roundRect">
            <a:avLst>
              <a:gd name="adj" fmla="val 37906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86046" y="5843930"/>
            <a:ext cx="12518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75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90-Day Total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731459" y="5743346"/>
            <a:ext cx="120243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$29,700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7509053" y="1314907"/>
            <a:ext cx="4114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Projected Revenue Scenarios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509053" y="1800454"/>
            <a:ext cx="4114800" cy="1028700"/>
          </a:xfrm>
          <a:prstGeom prst="roundRect">
            <a:avLst>
              <a:gd name="adj" fmla="val 197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509053" y="1800454"/>
            <a:ext cx="57607" cy="1004926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04404" y="2100377"/>
            <a:ext cx="1752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Conservative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804404" y="2324405"/>
            <a:ext cx="20857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Reactivations @ $850 avg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955987" y="2000707"/>
            <a:ext cx="137617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$34,000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10594238" y="2361895"/>
            <a:ext cx="733349" cy="267005"/>
          </a:xfrm>
          <a:prstGeom prst="roundRect">
            <a:avLst>
              <a:gd name="adj" fmla="val 34246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594238" y="2361895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1.2x ROI</a:t>
            </a:r>
            <a:endParaRPr lang="en-US" sz="9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rcRect l="-4" r="-4" t="0" b="0"/>
          <a:stretch/>
        </p:blipFill>
        <p:spPr>
          <a:xfrm>
            <a:off x="7467905" y="3004718"/>
            <a:ext cx="4193438" cy="1044245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7467905" y="3004718"/>
            <a:ext cx="57607" cy="100492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768742" y="3310128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Realistic Target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7768742" y="3538728"/>
            <a:ext cx="213146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 Reactivations @ $850 avg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0023653" y="3208630"/>
            <a:ext cx="13432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$68,000</a:t>
            </a:r>
            <a:endParaRPr lang="en-US" sz="2400" dirty="0"/>
          </a:p>
        </p:txBody>
      </p:sp>
      <p:sp>
        <p:nvSpPr>
          <p:cNvPr id="38" name="Shape 34"/>
          <p:cNvSpPr/>
          <p:nvPr/>
        </p:nvSpPr>
        <p:spPr>
          <a:xfrm>
            <a:off x="10615270" y="3578047"/>
            <a:ext cx="752551" cy="276149"/>
          </a:xfrm>
          <a:prstGeom prst="roundRect">
            <a:avLst>
              <a:gd name="adj" fmla="val 331126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0615270" y="3578047"/>
            <a:ext cx="7525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2.3x ROI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7509053" y="4229100"/>
            <a:ext cx="4114800" cy="1028700"/>
          </a:xfrm>
          <a:prstGeom prst="roundRect">
            <a:avLst>
              <a:gd name="adj" fmla="val 197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7509053" y="4229100"/>
            <a:ext cx="57607" cy="1004926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7804404" y="4529023"/>
            <a:ext cx="1828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Optimistic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7804404" y="4753051"/>
            <a:ext cx="21762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120 Reactivations @ $850 avg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9757562" y="4429354"/>
            <a:ext cx="1569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$102,000</a:t>
            </a:r>
            <a:endParaRPr lang="en-US" sz="2400" dirty="0"/>
          </a:p>
        </p:txBody>
      </p:sp>
      <p:sp>
        <p:nvSpPr>
          <p:cNvPr id="45" name="Shape 41"/>
          <p:cNvSpPr/>
          <p:nvPr/>
        </p:nvSpPr>
        <p:spPr>
          <a:xfrm>
            <a:off x="10594238" y="4791456"/>
            <a:ext cx="733349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0594238" y="4791456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3.4x ROI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7509053" y="5556809"/>
            <a:ext cx="4114800" cy="828446"/>
          </a:xfrm>
          <a:prstGeom prst="roundRect">
            <a:avLst>
              <a:gd name="adj" fmla="val 20299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7660843" y="5747918"/>
            <a:ext cx="133502" cy="152705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7908646" y="5709514"/>
            <a:ext cx="35625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Break-Even Point:</a:t>
            </a:r>
            <a:pPr algn="l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only need ~35 reactivations over 90 days to cover the entire program cost. Everything after that is profit. </a:t>
            </a:r>
            <a:endParaRPr lang="en-US" sz="900" dirty="0"/>
          </a:p>
        </p:txBody>
      </p:sp>
      <p:sp>
        <p:nvSpPr>
          <p:cNvPr id="50" name="Text 45"/>
          <p:cNvSpPr txBox="1"/>
          <p:nvPr/>
        </p:nvSpPr>
        <p:spPr>
          <a:xfrm>
            <a:off x="11681460" y="6400800"/>
            <a:ext cx="157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&amp; ROI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381305" y="909828"/>
            <a:ext cx="285750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Numbers</a:t>
            </a:r>
            <a:endParaRPr lang="en-US" sz="3100" dirty="0"/>
          </a:p>
        </p:txBody>
      </p:sp>
      <p:sp>
        <p:nvSpPr>
          <p:cNvPr id="56" name="Shape 50"/>
          <p:cNvSpPr/>
          <p:nvPr/>
        </p:nvSpPr>
        <p:spPr>
          <a:xfrm>
            <a:off x="381305" y="2155241"/>
            <a:ext cx="9144" cy="161940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580644" y="2155241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We've structured this pilot to minimize risk while maximizing speed to revenue.</a:t>
            </a:r>
            <a:endParaRPr lang="en-US" sz="1200" dirty="0"/>
          </a:p>
        </p:txBody>
      </p:sp>
      <p:sp>
        <p:nvSpPr>
          <p:cNvPr id="58" name="Text 52"/>
          <p:cNvSpPr txBox="1"/>
          <p:nvPr/>
        </p:nvSpPr>
        <p:spPr>
          <a:xfrm>
            <a:off x="580644" y="3039466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Here is exactly what you put in, compared to what conservative models project you'll get out.</a:t>
            </a:r>
            <a:endParaRPr lang="en-US" sz="120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rcRect l="0" r="0" t="0" b="0"/>
          <a:stretch/>
        </p:blipFill>
        <p:spPr>
          <a:xfrm>
            <a:off x="381305" y="3770986"/>
            <a:ext cx="3429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Roadmap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398" r="-398" t="0" b="0"/>
          <a:stretch/>
        </p:blipFill>
        <p:spPr>
          <a:xfrm>
            <a:off x="4619549" y="1552651"/>
            <a:ext cx="38405" cy="477225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91049" y="6409944"/>
            <a:ext cx="190195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95544" y="6115507"/>
            <a:ext cx="612465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high-pressure sales tactics. Just a transparent conversation to see if the math makes sense for your business.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681460" y="6400800"/>
            <a:ext cx="157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381805" y="1543507"/>
            <a:ext cx="514807" cy="514807"/>
          </a:xfrm>
          <a:prstGeom prst="ellipse">
            <a:avLst/>
          </a:prstGeom>
          <a:solidFill>
            <a:srgbClr val="10B981"/>
          </a:solidFill>
          <a:ln w="50800">
            <a:solidFill>
              <a:srgbClr val="10B98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4552798" y="1705356"/>
            <a:ext cx="171907" cy="19019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181905" y="1314907"/>
            <a:ext cx="6439205" cy="972007"/>
          </a:xfrm>
          <a:prstGeom prst="roundRect">
            <a:avLst>
              <a:gd name="adj" fmla="val 2213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5419649" y="1552651"/>
            <a:ext cx="4734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This Report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5419649" y="1848002"/>
            <a:ext cx="5420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You've analyzed the dormant revenue opportunity in your specific database.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0222078" y="1657807"/>
            <a:ext cx="1162202" cy="286207"/>
          </a:xfrm>
          <a:prstGeom prst="roundRect">
            <a:avLst>
              <a:gd name="adj" fmla="val 319489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0222078" y="1657807"/>
            <a:ext cx="116220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16653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Are Here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56202" y="2717597"/>
            <a:ext cx="571500" cy="571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56202" y="2717597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1" b="-21"/>
          <a:stretch/>
        </p:blipFill>
        <p:spPr>
          <a:xfrm>
            <a:off x="5277002" y="2514600"/>
            <a:ext cx="6439205" cy="9720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514746" y="2752344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20-Min Strategy Call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514746" y="3047695"/>
            <a:ext cx="4724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We'll walk through your specific segments and answer questions.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9776765" y="2848356"/>
            <a:ext cx="1705356" cy="304495"/>
          </a:xfrm>
          <a:prstGeom prst="roundRect">
            <a:avLst>
              <a:gd name="adj" fmla="val 3003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9776765" y="2848356"/>
            <a:ext cx="17053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C241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Next Step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381805" y="3943807"/>
            <a:ext cx="514807" cy="514807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BD5E1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381805" y="3943807"/>
            <a:ext cx="514807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5181905" y="3715207"/>
            <a:ext cx="6439205" cy="972007"/>
          </a:xfrm>
          <a:prstGeom prst="roundRect">
            <a:avLst>
              <a:gd name="adj" fmla="val 221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5419649" y="3952951"/>
            <a:ext cx="40105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Custom Reactivation Plan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419649" y="4248302"/>
            <a:ext cx="4696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design the messaging and select the 200-500 priority targets.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10582351" y="4058107"/>
            <a:ext cx="800100" cy="286207"/>
          </a:xfrm>
          <a:prstGeom prst="roundRect">
            <a:avLst>
              <a:gd name="adj" fmla="val 31948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10582351" y="4058107"/>
            <a:ext cx="8001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2-3 Days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381805" y="5143500"/>
            <a:ext cx="514807" cy="514807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BD5E1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381805" y="5143500"/>
            <a:ext cx="514807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5181905" y="4914900"/>
            <a:ext cx="6439205" cy="972007"/>
          </a:xfrm>
          <a:prstGeom prst="roundRect">
            <a:avLst>
              <a:gd name="adj" fmla="val 221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5419649" y="5152644"/>
            <a:ext cx="3277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 Pilot Program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419649" y="5447995"/>
            <a:ext cx="38825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emails and postcards deploy. Tracking goes live.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10053828" y="5257800"/>
            <a:ext cx="1333195" cy="286207"/>
          </a:xfrm>
          <a:prstGeom prst="roundRect">
            <a:avLst>
              <a:gd name="adj" fmla="val 31948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0053828" y="5257800"/>
            <a:ext cx="133411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7-10 Days Total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</a:t>
            </a:r>
            <a:endParaRPr lang="en-US" sz="3100" dirty="0"/>
          </a:p>
        </p:txBody>
      </p:sp>
      <p:sp>
        <p:nvSpPr>
          <p:cNvPr id="43" name="Shape 35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is a clear process to turning this data into revenue.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operate with full transparency—no hidden steps, no complex contracts.</a:t>
            </a:r>
            <a:endParaRPr lang="en-US" sz="120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rcRect l="-57" r="-57" t="0" b="0"/>
          <a:stretch/>
        </p:blipFill>
        <p:spPr>
          <a:xfrm>
            <a:off x="381305" y="4006901"/>
            <a:ext cx="40050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73791" y="381305"/>
            <a:ext cx="1272845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5000" dirty="0"/>
          </a:p>
        </p:txBody>
      </p:sp>
      <p:sp>
        <p:nvSpPr>
          <p:cNvPr id="6" name="Text 4"/>
          <p:cNvSpPr txBox="1"/>
          <p:nvPr/>
        </p:nvSpPr>
        <p:spPr>
          <a:xfrm>
            <a:off x="11673230" y="6400800"/>
            <a:ext cx="143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190695" y="476402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Frequently Asked Questions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90695" y="1218895"/>
            <a:ext cx="7334402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29354" y="1476756"/>
            <a:ext cx="381305" cy="38130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760" r="-760" t="0" b="0"/>
          <a:stretch/>
        </p:blipFill>
        <p:spPr>
          <a:xfrm>
            <a:off x="4543654" y="1580998"/>
            <a:ext cx="152705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00854" y="1457554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if our database is messy?"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000854" y="1762049"/>
            <a:ext cx="6286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Don't worry, everyone's is. We clean, deduplicate, and segment your list as part of the initial setup. We can work with exports from any CRM or even basic spreadsheets.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90695" y="2590495"/>
            <a:ext cx="7334402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29354" y="2848356"/>
            <a:ext cx="381305" cy="38130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1773" r="-1773" t="0" b="0"/>
          <a:stretch/>
        </p:blipFill>
        <p:spPr>
          <a:xfrm>
            <a:off x="4552798" y="2952598"/>
            <a:ext cx="133502" cy="17190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00854" y="2829154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"Will this work with our existing tools?"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000854" y="3133649"/>
            <a:ext cx="6286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Yes. We integrate seamlessly with ServiceTitan, Housecall Pro, Jobber, and most other industry platforms. We pull data to trigger campaigns and push notes back so your records stay updated.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190695" y="3962095"/>
            <a:ext cx="7334402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29354" y="4219956"/>
            <a:ext cx="381305" cy="38130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33595" y="4324198"/>
            <a:ext cx="171907" cy="1719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000854" y="4200754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"What's your typical response rate?"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000854" y="4505249"/>
            <a:ext cx="6286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HVAC dormant lists, we typically see 8–15% email open rates leading to a 2–4% conversion rate into qualified inquiries. Consistency over the 90-day period is what drives these numbers.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190695" y="5333695"/>
            <a:ext cx="7334402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429354" y="5591556"/>
            <a:ext cx="381305" cy="38130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-760" r="-760" t="0" b="0"/>
          <a:stretch/>
        </p:blipFill>
        <p:spPr>
          <a:xfrm>
            <a:off x="4543654" y="5695798"/>
            <a:ext cx="152705" cy="17190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000854" y="5572354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"Can we start smaller?"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000854" y="5876849"/>
            <a:ext cx="6286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small pilot. We designed this 90-day program specifically to prove the concept and ROI before you commit to a long-term retention strategy. 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190695" y="6705295"/>
            <a:ext cx="7334402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29354" y="6963156"/>
            <a:ext cx="381305" cy="38130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-1064" r="-1064" t="0" b="0"/>
          <a:stretch/>
        </p:blipFill>
        <p:spPr>
          <a:xfrm>
            <a:off x="4509821" y="7067398"/>
            <a:ext cx="219456" cy="17190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000854" y="6943954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"How hands-on do we need to be?"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5000854" y="7248449"/>
            <a:ext cx="6286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Minimal. We need your pricing, availability, and an onboarding call. After that, we handle the outreach. You just need someone ready to answer the phone and book the jobs.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Questions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You're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Probably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Wondering</a:t>
            </a:r>
            <a:endParaRPr lang="en-US" sz="3100" dirty="0"/>
          </a:p>
        </p:txBody>
      </p:sp>
      <p:sp>
        <p:nvSpPr>
          <p:cNvPr id="38" name="Shape 30"/>
          <p:cNvSpPr/>
          <p:nvPr/>
        </p:nvSpPr>
        <p:spPr>
          <a:xfrm>
            <a:off x="381305" y="2635301"/>
            <a:ext cx="9144" cy="1371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580644" y="2635301"/>
            <a:ext cx="26581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We've implemented this system for dozens of HVAC companies.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580644" y="3275381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Here are the answers to the most common concerns we hear from owners like you.</a:t>
            </a:r>
            <a:endParaRPr lang="en-US" sz="12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rcRect l="0" r="0" t="0" b="0"/>
          <a:stretch/>
        </p:blipFill>
        <p:spPr>
          <a:xfrm>
            <a:off x="381305" y="4006901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9195" y="0"/>
            <a:ext cx="85725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29277" y="570586"/>
            <a:ext cx="635599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Let's Talk About Your </a:t>
            </a:r>
            <a:pPr algn="ctr" indent="0" marL="0">
              <a:buNone/>
            </a:pPr>
            <a:r>
              <a:rPr lang="en-US" sz="27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$47,000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134770"/>
            <a:ext cx="66678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20 minutes, we'll walk through your specific dormant customer segments, answer your questions, and determine if the Reactivation Pilot is right for your business. 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obligation. Just clarity.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4809744" y="2981858"/>
            <a:ext cx="6191402" cy="33055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11" r="-11" t="0" b="0"/>
          <a:stretch/>
        </p:blipFill>
        <p:spPr>
          <a:xfrm>
            <a:off x="5391302" y="3372307"/>
            <a:ext cx="5029200" cy="66659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24751" y="3372307"/>
            <a:ext cx="349575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Schedule Strategy Call 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6639458" y="3610966"/>
            <a:ext cx="171907" cy="1901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391302" y="4325112"/>
            <a:ext cx="5029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75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 Contact Directly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391302" y="4325112"/>
            <a:ext cx="5715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391302" y="4325112"/>
            <a:ext cx="5715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391302" y="4810658"/>
            <a:ext cx="2419502" cy="1086307"/>
          </a:xfrm>
          <a:prstGeom prst="roundRect">
            <a:avLst>
              <a:gd name="adj" fmla="val 1181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05956" y="4963363"/>
            <a:ext cx="190195" cy="1901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38951" y="5267858"/>
            <a:ext cx="72511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Us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6013094" y="5515661"/>
            <a:ext cx="11786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[YOUR EMAIL]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001000" y="4810658"/>
            <a:ext cx="2419502" cy="1086307"/>
          </a:xfrm>
          <a:prstGeom prst="roundRect">
            <a:avLst>
              <a:gd name="adj" fmla="val 11814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15654" y="4963363"/>
            <a:ext cx="190195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897112" y="5267858"/>
            <a:ext cx="6336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 Us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8612734" y="5515661"/>
            <a:ext cx="1200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[YOUR PHONE]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381805" y="6105449"/>
            <a:ext cx="70481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381805" y="6304788"/>
            <a:ext cx="7049110" cy="1728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0" rIns="190500" bIns="1905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report was prepared exclusively for [COMPANY NAME] based on analysis completed [DATE].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681460" y="6400800"/>
            <a:ext cx="157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0" y="0"/>
            <a:ext cx="36191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>
            <a:alphaModFix amt="5000"/>
          </a:blip>
          <a:srcRect l="0" r="0" t="-44745" b="-44745"/>
          <a:stretch/>
        </p:blipFill>
        <p:spPr>
          <a:xfrm>
            <a:off x="0" y="0"/>
            <a:ext cx="3619195" cy="68580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81305" y="57150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381305" y="571500"/>
            <a:ext cx="190195" cy="1920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381305" y="909828"/>
            <a:ext cx="285750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</a:t>
            </a:r>
            <a:pPr algn="l" indent="0" marL="0">
              <a:buNone/>
            </a:pP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</a:t>
            </a:r>
            <a:endParaRPr lang="en-US" sz="3100" dirty="0"/>
          </a:p>
        </p:txBody>
      </p:sp>
      <p:sp>
        <p:nvSpPr>
          <p:cNvPr id="30" name="Shape 22"/>
          <p:cNvSpPr/>
          <p:nvPr/>
        </p:nvSpPr>
        <p:spPr>
          <a:xfrm>
            <a:off x="381305" y="2635301"/>
            <a:ext cx="9144" cy="113385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580644" y="2635301"/>
            <a:ext cx="303306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Stop leaving money on the table.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80644" y="3032150"/>
            <a:ext cx="26581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can have your reactivation pilot launched and generating leads in less than 2 weeks.</a:t>
            </a:r>
            <a:endParaRPr lang="en-US" sz="12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rcRect l="0" r="0" t="0" b="0"/>
          <a:stretch/>
        </p:blipFill>
        <p:spPr>
          <a:xfrm>
            <a:off x="381305" y="3763670"/>
            <a:ext cx="5715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2026-04-18T15:30:52Z</dcterms:created>
  <dcterms:modified xsi:type="dcterms:W3CDTF">2026-04-18T15:30:52Z</dcterms:modified>
</cp:coreProperties>
</file>