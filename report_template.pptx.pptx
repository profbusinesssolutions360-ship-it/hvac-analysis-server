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12192000"/>
  <p:notesSz cx="6858000" cy="12192000"/>
  <p:embeddedFontLst>
    <p:embeddedFont>
      <p:font typeface="Montserrat"/>
      <p:regular r:id="rId31"/>
      <p:bold r:id="rId32"/>
      <p:italic r:id="rId33"/>
      <p:boldItalic r:id="rId34"/>
    </p:embeddedFont>
    <p:embeddedFont>
      <p:font typeface="Open Sans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26D97D9-A005-44BA-9A1F-D8414E424414}">
  <a:tblStyle styleId="{E26D97D9-A005-44BA-9A1F-D8414E42441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Montserrat-italic.fntdata"/><Relationship Id="rId10" Type="http://schemas.openxmlformats.org/officeDocument/2006/relationships/slide" Target="slides/slide5.xml"/><Relationship Id="rId32" Type="http://schemas.openxmlformats.org/officeDocument/2006/relationships/font" Target="fonts/Montserrat-bold.fntdata"/><Relationship Id="rId13" Type="http://schemas.openxmlformats.org/officeDocument/2006/relationships/slide" Target="slides/slide8.xml"/><Relationship Id="rId35" Type="http://schemas.openxmlformats.org/officeDocument/2006/relationships/font" Target="fonts/OpenSans-regular.fntdata"/><Relationship Id="rId12" Type="http://schemas.openxmlformats.org/officeDocument/2006/relationships/slide" Target="slides/slide7.xml"/><Relationship Id="rId34" Type="http://schemas.openxmlformats.org/officeDocument/2006/relationships/font" Target="fonts/Montserrat-boldItalic.fntdata"/><Relationship Id="rId15" Type="http://schemas.openxmlformats.org/officeDocument/2006/relationships/slide" Target="slides/slide10.xml"/><Relationship Id="rId37" Type="http://schemas.openxmlformats.org/officeDocument/2006/relationships/font" Target="fonts/OpenSans-italic.fntdata"/><Relationship Id="rId14" Type="http://schemas.openxmlformats.org/officeDocument/2006/relationships/slide" Target="slides/slide9.xml"/><Relationship Id="rId36" Type="http://schemas.openxmlformats.org/officeDocument/2006/relationships/font" Target="fonts/OpenSans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OpenSans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" name="Google Shape;4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" name="Google Shape;7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2" name="Google Shape;23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6" name="Google Shape;31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2" name="Google Shape;36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6" name="Google Shape;40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" name="Google Shape;45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9" name="Google Shape;45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8" name="Google Shape;48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9" name="Google Shape;48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4" name="Google Shape;55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5" name="Google Shape;55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4" name="Google Shape;60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5" name="Google Shape;60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0" name="Google Shape;65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1" name="Google Shape;65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7" name="Google Shape;70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8" name="Google Shape;70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2" name="Google Shape;79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3" name="Google Shape;793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7" name="Google Shape;82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8" name="Google Shape;82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9" name="Google Shape;88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0" name="Google Shape;890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1" name="Google Shape;96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2" name="Google Shape;962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6" name="Google Shape;99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7" name="Google Shape;997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9" name="Google Shape;105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0" name="Google Shape;1060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9" name="Google Shape;110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0" name="Google Shape;1110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4" name="Google Shape;1154;p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5" name="Google Shape;1155;p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10" Type="http://schemas.openxmlformats.org/officeDocument/2006/relationships/image" Target="../media/image21.png"/><Relationship Id="rId9" Type="http://schemas.openxmlformats.org/officeDocument/2006/relationships/image" Target="../media/image16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1.png"/><Relationship Id="rId8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8.png"/><Relationship Id="rId5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Relationship Id="rId6" Type="http://schemas.openxmlformats.org/officeDocument/2006/relationships/image" Target="../media/image12.png"/><Relationship Id="rId7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Relationship Id="rId4" Type="http://schemas.openxmlformats.org/officeDocument/2006/relationships/image" Target="../media/image84.png"/><Relationship Id="rId5" Type="http://schemas.openxmlformats.org/officeDocument/2006/relationships/image" Target="../media/image15.png"/><Relationship Id="rId6" Type="http://schemas.openxmlformats.org/officeDocument/2006/relationships/image" Target="../media/image24.png"/><Relationship Id="rId7" Type="http://schemas.openxmlformats.org/officeDocument/2006/relationships/image" Target="../media/image17.png"/><Relationship Id="rId8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25.png"/><Relationship Id="rId5" Type="http://schemas.openxmlformats.org/officeDocument/2006/relationships/image" Target="../media/image18.png"/><Relationship Id="rId6" Type="http://schemas.openxmlformats.org/officeDocument/2006/relationships/image" Target="../media/image24.png"/><Relationship Id="rId7" Type="http://schemas.openxmlformats.org/officeDocument/2006/relationships/image" Target="../media/image17.png"/><Relationship Id="rId8" Type="http://schemas.openxmlformats.org/officeDocument/2006/relationships/image" Target="../media/image2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0.png"/><Relationship Id="rId4" Type="http://schemas.openxmlformats.org/officeDocument/2006/relationships/image" Target="../media/image39.png"/><Relationship Id="rId5" Type="http://schemas.openxmlformats.org/officeDocument/2006/relationships/image" Target="../media/image17.png"/><Relationship Id="rId6" Type="http://schemas.openxmlformats.org/officeDocument/2006/relationships/image" Target="../media/image31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17.png"/><Relationship Id="rId10" Type="http://schemas.openxmlformats.org/officeDocument/2006/relationships/image" Target="../media/image44.png"/><Relationship Id="rId13" Type="http://schemas.openxmlformats.org/officeDocument/2006/relationships/image" Target="../media/image46.png"/><Relationship Id="rId1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Relationship Id="rId4" Type="http://schemas.openxmlformats.org/officeDocument/2006/relationships/image" Target="../media/image36.png"/><Relationship Id="rId9" Type="http://schemas.openxmlformats.org/officeDocument/2006/relationships/image" Target="../media/image34.png"/><Relationship Id="rId5" Type="http://schemas.openxmlformats.org/officeDocument/2006/relationships/image" Target="../media/image28.png"/><Relationship Id="rId6" Type="http://schemas.openxmlformats.org/officeDocument/2006/relationships/image" Target="../media/image22.png"/><Relationship Id="rId7" Type="http://schemas.openxmlformats.org/officeDocument/2006/relationships/image" Target="../media/image26.png"/><Relationship Id="rId8" Type="http://schemas.openxmlformats.org/officeDocument/2006/relationships/image" Target="../media/image3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17.png"/><Relationship Id="rId6" Type="http://schemas.openxmlformats.org/officeDocument/2006/relationships/image" Target="../media/image3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2.png"/><Relationship Id="rId4" Type="http://schemas.openxmlformats.org/officeDocument/2006/relationships/image" Target="../media/image40.png"/><Relationship Id="rId5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0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1.png"/><Relationship Id="rId4" Type="http://schemas.openxmlformats.org/officeDocument/2006/relationships/image" Target="../media/image56.png"/><Relationship Id="rId9" Type="http://schemas.openxmlformats.org/officeDocument/2006/relationships/image" Target="../media/image17.png"/><Relationship Id="rId5" Type="http://schemas.openxmlformats.org/officeDocument/2006/relationships/image" Target="../media/image48.png"/><Relationship Id="rId6" Type="http://schemas.openxmlformats.org/officeDocument/2006/relationships/image" Target="../media/image52.png"/><Relationship Id="rId7" Type="http://schemas.openxmlformats.org/officeDocument/2006/relationships/image" Target="../media/image49.png"/><Relationship Id="rId8" Type="http://schemas.openxmlformats.org/officeDocument/2006/relationships/image" Target="../media/image4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5.png"/><Relationship Id="rId4" Type="http://schemas.openxmlformats.org/officeDocument/2006/relationships/image" Target="../media/image50.png"/><Relationship Id="rId5" Type="http://schemas.openxmlformats.org/officeDocument/2006/relationships/image" Target="../media/image17.png"/><Relationship Id="rId6" Type="http://schemas.openxmlformats.org/officeDocument/2006/relationships/image" Target="../media/image60.png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image" Target="../media/image64.png"/><Relationship Id="rId10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8.png"/><Relationship Id="rId4" Type="http://schemas.openxmlformats.org/officeDocument/2006/relationships/image" Target="../media/image47.png"/><Relationship Id="rId9" Type="http://schemas.openxmlformats.org/officeDocument/2006/relationships/image" Target="../media/image70.png"/><Relationship Id="rId5" Type="http://schemas.openxmlformats.org/officeDocument/2006/relationships/image" Target="../media/image54.png"/><Relationship Id="rId6" Type="http://schemas.openxmlformats.org/officeDocument/2006/relationships/image" Target="../media/image53.png"/><Relationship Id="rId7" Type="http://schemas.openxmlformats.org/officeDocument/2006/relationships/image" Target="../media/image57.png"/><Relationship Id="rId8" Type="http://schemas.openxmlformats.org/officeDocument/2006/relationships/image" Target="../media/image7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3.png"/><Relationship Id="rId4" Type="http://schemas.openxmlformats.org/officeDocument/2006/relationships/image" Target="../media/image71.png"/><Relationship Id="rId9" Type="http://schemas.openxmlformats.org/officeDocument/2006/relationships/image" Target="../media/image60.png"/><Relationship Id="rId5" Type="http://schemas.openxmlformats.org/officeDocument/2006/relationships/image" Target="../media/image68.png"/><Relationship Id="rId6" Type="http://schemas.openxmlformats.org/officeDocument/2006/relationships/image" Target="../media/image61.png"/><Relationship Id="rId7" Type="http://schemas.openxmlformats.org/officeDocument/2006/relationships/image" Target="../media/image48.png"/><Relationship Id="rId8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0" Type="http://schemas.openxmlformats.org/officeDocument/2006/relationships/image" Target="../media/image7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5.png"/><Relationship Id="rId4" Type="http://schemas.openxmlformats.org/officeDocument/2006/relationships/image" Target="../media/image55.png"/><Relationship Id="rId9" Type="http://schemas.openxmlformats.org/officeDocument/2006/relationships/image" Target="../media/image76.png"/><Relationship Id="rId5" Type="http://schemas.openxmlformats.org/officeDocument/2006/relationships/image" Target="../media/image62.png"/><Relationship Id="rId6" Type="http://schemas.openxmlformats.org/officeDocument/2006/relationships/image" Target="../media/image79.png"/><Relationship Id="rId7" Type="http://schemas.openxmlformats.org/officeDocument/2006/relationships/image" Target="../media/image67.png"/><Relationship Id="rId8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image" Target="../media/image17.png"/><Relationship Id="rId10" Type="http://schemas.openxmlformats.org/officeDocument/2006/relationships/image" Target="../media/image73.png"/><Relationship Id="rId13" Type="http://schemas.openxmlformats.org/officeDocument/2006/relationships/image" Target="../media/image109.png"/><Relationship Id="rId12" Type="http://schemas.openxmlformats.org/officeDocument/2006/relationships/image" Target="../media/image7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5.png"/><Relationship Id="rId4" Type="http://schemas.openxmlformats.org/officeDocument/2006/relationships/image" Target="../media/image83.png"/><Relationship Id="rId9" Type="http://schemas.openxmlformats.org/officeDocument/2006/relationships/image" Target="../media/image72.png"/><Relationship Id="rId14" Type="http://schemas.openxmlformats.org/officeDocument/2006/relationships/image" Target="../media/image99.png"/><Relationship Id="rId5" Type="http://schemas.openxmlformats.org/officeDocument/2006/relationships/image" Target="../media/image82.png"/><Relationship Id="rId6" Type="http://schemas.openxmlformats.org/officeDocument/2006/relationships/image" Target="../media/image69.png"/><Relationship Id="rId7" Type="http://schemas.openxmlformats.org/officeDocument/2006/relationships/image" Target="../media/image66.png"/><Relationship Id="rId8" Type="http://schemas.openxmlformats.org/officeDocument/2006/relationships/image" Target="../media/image96.png"/></Relationships>
</file>

<file path=ppt/slides/_rels/slide17.xml.rels><?xml version="1.0" encoding="UTF-8" standalone="yes"?><Relationships xmlns="http://schemas.openxmlformats.org/package/2006/relationships"><Relationship Id="rId11" Type="http://schemas.openxmlformats.org/officeDocument/2006/relationships/image" Target="../media/image89.png"/><Relationship Id="rId10" Type="http://schemas.openxmlformats.org/officeDocument/2006/relationships/image" Target="../media/image97.png"/><Relationship Id="rId13" Type="http://schemas.openxmlformats.org/officeDocument/2006/relationships/image" Target="../media/image108.png"/><Relationship Id="rId12" Type="http://schemas.openxmlformats.org/officeDocument/2006/relationships/image" Target="../media/image8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7.png"/><Relationship Id="rId4" Type="http://schemas.openxmlformats.org/officeDocument/2006/relationships/image" Target="../media/image87.png"/><Relationship Id="rId9" Type="http://schemas.openxmlformats.org/officeDocument/2006/relationships/image" Target="../media/image107.png"/><Relationship Id="rId15" Type="http://schemas.openxmlformats.org/officeDocument/2006/relationships/image" Target="../media/image17.png"/><Relationship Id="rId14" Type="http://schemas.openxmlformats.org/officeDocument/2006/relationships/image" Target="../media/image88.png"/><Relationship Id="rId16" Type="http://schemas.openxmlformats.org/officeDocument/2006/relationships/image" Target="../media/image91.png"/><Relationship Id="rId5" Type="http://schemas.openxmlformats.org/officeDocument/2006/relationships/image" Target="../media/image80.png"/><Relationship Id="rId6" Type="http://schemas.openxmlformats.org/officeDocument/2006/relationships/image" Target="../media/image81.png"/><Relationship Id="rId7" Type="http://schemas.openxmlformats.org/officeDocument/2006/relationships/image" Target="../media/image93.png"/><Relationship Id="rId8" Type="http://schemas.openxmlformats.org/officeDocument/2006/relationships/image" Target="../media/image9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2.png"/><Relationship Id="rId4" Type="http://schemas.openxmlformats.org/officeDocument/2006/relationships/image" Target="../media/image90.png"/><Relationship Id="rId9" Type="http://schemas.openxmlformats.org/officeDocument/2006/relationships/image" Target="../media/image103.png"/><Relationship Id="rId5" Type="http://schemas.openxmlformats.org/officeDocument/2006/relationships/image" Target="../media/image101.png"/><Relationship Id="rId6" Type="http://schemas.openxmlformats.org/officeDocument/2006/relationships/image" Target="../media/image94.png"/><Relationship Id="rId7" Type="http://schemas.openxmlformats.org/officeDocument/2006/relationships/image" Target="../media/image95.png"/><Relationship Id="rId8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2.png"/><Relationship Id="rId10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5.png"/><Relationship Id="rId4" Type="http://schemas.openxmlformats.org/officeDocument/2006/relationships/image" Target="../media/image104.png"/><Relationship Id="rId9" Type="http://schemas.openxmlformats.org/officeDocument/2006/relationships/image" Target="../media/image134.png"/><Relationship Id="rId5" Type="http://schemas.openxmlformats.org/officeDocument/2006/relationships/image" Target="../media/image106.png"/><Relationship Id="rId6" Type="http://schemas.openxmlformats.org/officeDocument/2006/relationships/image" Target="../media/image100.png"/><Relationship Id="rId7" Type="http://schemas.openxmlformats.org/officeDocument/2006/relationships/image" Target="../media/image105.png"/><Relationship Id="rId8" Type="http://schemas.openxmlformats.org/officeDocument/2006/relationships/image" Target="../media/image117.png"/></Relationships>
</file>

<file path=ppt/slides/_rels/slide20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0.png"/><Relationship Id="rId10" Type="http://schemas.openxmlformats.org/officeDocument/2006/relationships/image" Target="../media/image113.png"/><Relationship Id="rId13" Type="http://schemas.openxmlformats.org/officeDocument/2006/relationships/image" Target="../media/image17.png"/><Relationship Id="rId12" Type="http://schemas.openxmlformats.org/officeDocument/2006/relationships/image" Target="../media/image11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2.png"/><Relationship Id="rId4" Type="http://schemas.openxmlformats.org/officeDocument/2006/relationships/image" Target="../media/image144.png"/><Relationship Id="rId9" Type="http://schemas.openxmlformats.org/officeDocument/2006/relationships/image" Target="../media/image111.png"/><Relationship Id="rId14" Type="http://schemas.openxmlformats.org/officeDocument/2006/relationships/image" Target="../media/image130.png"/><Relationship Id="rId5" Type="http://schemas.openxmlformats.org/officeDocument/2006/relationships/image" Target="../media/image110.png"/><Relationship Id="rId6" Type="http://schemas.openxmlformats.org/officeDocument/2006/relationships/image" Target="../media/image114.png"/><Relationship Id="rId7" Type="http://schemas.openxmlformats.org/officeDocument/2006/relationships/image" Target="../media/image119.png"/><Relationship Id="rId8" Type="http://schemas.openxmlformats.org/officeDocument/2006/relationships/image" Target="../media/image1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3.png"/><Relationship Id="rId4" Type="http://schemas.openxmlformats.org/officeDocument/2006/relationships/image" Target="../media/image132.png"/><Relationship Id="rId9" Type="http://schemas.openxmlformats.org/officeDocument/2006/relationships/image" Target="../media/image129.png"/><Relationship Id="rId5" Type="http://schemas.openxmlformats.org/officeDocument/2006/relationships/image" Target="../media/image145.png"/><Relationship Id="rId6" Type="http://schemas.openxmlformats.org/officeDocument/2006/relationships/image" Target="../media/image116.png"/><Relationship Id="rId7" Type="http://schemas.openxmlformats.org/officeDocument/2006/relationships/image" Target="../media/image128.png"/><Relationship Id="rId8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6.png"/><Relationship Id="rId4" Type="http://schemas.openxmlformats.org/officeDocument/2006/relationships/image" Target="../media/image124.png"/><Relationship Id="rId5" Type="http://schemas.openxmlformats.org/officeDocument/2006/relationships/image" Target="../media/image127.png"/><Relationship Id="rId6" Type="http://schemas.openxmlformats.org/officeDocument/2006/relationships/image" Target="../media/image17.png"/><Relationship Id="rId7" Type="http://schemas.openxmlformats.org/officeDocument/2006/relationships/image" Target="../media/image12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6.png"/><Relationship Id="rId4" Type="http://schemas.openxmlformats.org/officeDocument/2006/relationships/image" Target="../media/image123.png"/><Relationship Id="rId9" Type="http://schemas.openxmlformats.org/officeDocument/2006/relationships/image" Target="../media/image133.png"/><Relationship Id="rId5" Type="http://schemas.openxmlformats.org/officeDocument/2006/relationships/image" Target="../media/image121.png"/><Relationship Id="rId6" Type="http://schemas.openxmlformats.org/officeDocument/2006/relationships/image" Target="../media/image131.png"/><Relationship Id="rId7" Type="http://schemas.openxmlformats.org/officeDocument/2006/relationships/image" Target="../media/image135.png"/><Relationship Id="rId8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2.png"/><Relationship Id="rId4" Type="http://schemas.openxmlformats.org/officeDocument/2006/relationships/image" Target="../media/image139.png"/><Relationship Id="rId9" Type="http://schemas.openxmlformats.org/officeDocument/2006/relationships/image" Target="../media/image137.png"/><Relationship Id="rId5" Type="http://schemas.openxmlformats.org/officeDocument/2006/relationships/image" Target="../media/image141.png"/><Relationship Id="rId6" Type="http://schemas.openxmlformats.org/officeDocument/2006/relationships/image" Target="../media/image138.png"/><Relationship Id="rId7" Type="http://schemas.openxmlformats.org/officeDocument/2006/relationships/image" Target="../media/image140.png"/><Relationship Id="rId8" Type="http://schemas.openxmlformats.org/officeDocument/2006/relationships/image" Target="../media/image1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api.leadconnectorhq.com/widget/booking/lNVDMU94mDAHLeMnXsF0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8" name="Google Shape;18;p3"/>
          <p:cNvPicPr preferRelativeResize="0"/>
          <p:nvPr/>
        </p:nvPicPr>
        <p:blipFill rotWithShape="1">
          <a:blip r:embed="rId3">
            <a:alphaModFix amt="8000"/>
          </a:blip>
          <a:srcRect b="0" l="-38887" r="-38887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" name="Google Shape;19;p3"/>
          <p:cNvPicPr preferRelativeResize="0"/>
          <p:nvPr/>
        </p:nvPicPr>
        <p:blipFill rotWithShape="1">
          <a:blip r:embed="rId4">
            <a:alphaModFix/>
          </a:blip>
          <a:srcRect b="0" l="-200" r="-200" t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" name="Google Shape;20;p3"/>
          <p:cNvPicPr preferRelativeResize="0"/>
          <p:nvPr/>
        </p:nvPicPr>
        <p:blipFill rotWithShape="1">
          <a:blip r:embed="rId5">
            <a:alphaModFix/>
          </a:blip>
          <a:srcRect b="0" l="-28" r="-28" t="0"/>
          <a:stretch/>
        </p:blipFill>
        <p:spPr>
          <a:xfrm>
            <a:off x="761695" y="935431"/>
            <a:ext cx="6019495" cy="371246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/>
          <p:nvPr/>
        </p:nvSpPr>
        <p:spPr>
          <a:xfrm>
            <a:off x="1113739" y="935431"/>
            <a:ext cx="5668366" cy="372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000"/>
              <a:buFont typeface="Montserrat"/>
              <a:buNone/>
            </a:pPr>
            <a:r>
              <a:rPr b="1" i="0" lang="en-US" sz="1000" u="none" cap="none" strike="noStrike">
                <a:solidFill>
                  <a:srgbClr val="F97316"/>
                </a:solidFill>
                <a:latin typeface="Montserrat"/>
                <a:ea typeface="Montserrat"/>
                <a:cs typeface="Montserrat"/>
                <a:sym typeface="Montserrat"/>
              </a:rPr>
              <a:t> Profitable Business Solutions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" name="Google Shape;22;p3"/>
          <p:cNvPicPr preferRelativeResize="0"/>
          <p:nvPr/>
        </p:nvPicPr>
        <p:blipFill rotWithShape="1">
          <a:blip r:embed="rId6">
            <a:alphaModFix/>
          </a:blip>
          <a:srcRect b="0" l="-7078" r="-7078" t="0"/>
          <a:stretch/>
        </p:blipFill>
        <p:spPr>
          <a:xfrm>
            <a:off x="923544" y="1054303"/>
            <a:ext cx="114300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761695" y="1612087"/>
            <a:ext cx="6020410" cy="2019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Montserrat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DORMANT CUSTOMER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4800"/>
              <a:buFont typeface="Montserrat"/>
              <a:buNone/>
            </a:pPr>
            <a:r>
              <a:rPr b="1" i="0" lang="en-US" sz="4800" u="none" cap="none" strike="noStrike">
                <a:solidFill>
                  <a:srgbClr val="F97316"/>
                </a:solidFill>
                <a:latin typeface="Montserrat"/>
                <a:ea typeface="Montserrat"/>
                <a:cs typeface="Montserrat"/>
                <a:sym typeface="Montserrat"/>
              </a:rPr>
              <a:t>REVENUE REPORT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761695" y="3852367"/>
            <a:ext cx="57607" cy="694944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 txBox="1"/>
          <p:nvPr/>
        </p:nvSpPr>
        <p:spPr>
          <a:xfrm>
            <a:off x="1047902" y="3852367"/>
            <a:ext cx="5734202" cy="6958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900"/>
              <a:buFont typeface="Open Sans"/>
              <a:buNone/>
            </a:pPr>
            <a:r>
              <a:rPr b="0" i="0" lang="en-US" sz="1900" u="none" cap="none" strike="noStrik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A Complete Analysis of Your Customer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900"/>
              <a:buFont typeface="Open Sans"/>
              <a:buNone/>
            </a:pPr>
            <a:r>
              <a:rPr b="0" i="0" lang="en-US" sz="1900" u="none" cap="none" strike="noStrik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Asset Portfolio &amp; Reactivation Opportunity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761695" y="5079492"/>
            <a:ext cx="2152498" cy="847649"/>
          </a:xfrm>
          <a:prstGeom prst="roundRect">
            <a:avLst>
              <a:gd fmla="val 19393" name="adj"/>
            </a:avLst>
          </a:prstGeom>
          <a:solidFill>
            <a:srgbClr val="FFFFFF">
              <a:alpha val="7843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"/>
          <p:cNvSpPr txBox="1"/>
          <p:nvPr/>
        </p:nvSpPr>
        <p:spPr>
          <a:xfrm>
            <a:off x="1000354" y="5279746"/>
            <a:ext cx="16770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Montserrat"/>
              <a:buNone/>
            </a:pPr>
            <a:r>
              <a:rPr b="1" i="0" lang="en-US" sz="8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PREPARED FOR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 txBox="1"/>
          <p:nvPr/>
        </p:nvSpPr>
        <p:spPr>
          <a:xfrm>
            <a:off x="1000354" y="5493715"/>
            <a:ext cx="186263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Dave Negri &amp; Team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3217774" y="5079492"/>
            <a:ext cx="1904695" cy="847649"/>
          </a:xfrm>
          <a:prstGeom prst="roundRect">
            <a:avLst>
              <a:gd fmla="val 19393" name="adj"/>
            </a:avLst>
          </a:prstGeom>
          <a:solidFill>
            <a:srgbClr val="FFFFFF">
              <a:alpha val="7843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3"/>
          <p:cNvSpPr txBox="1"/>
          <p:nvPr/>
        </p:nvSpPr>
        <p:spPr>
          <a:xfrm>
            <a:off x="3456432" y="5279746"/>
            <a:ext cx="1429207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Montserrat"/>
              <a:buNone/>
            </a:pPr>
            <a:r>
              <a:rPr b="1" i="0" lang="en-US" sz="8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DATE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 txBox="1"/>
          <p:nvPr/>
        </p:nvSpPr>
        <p:spPr>
          <a:xfrm>
            <a:off x="3456432" y="5493715"/>
            <a:ext cx="15691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April 22,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 rot="2340000">
            <a:off x="6483096" y="615391"/>
            <a:ext cx="5629046" cy="5629046"/>
          </a:xfrm>
          <a:prstGeom prst="ellipse">
            <a:avLst/>
          </a:prstGeom>
          <a:noFill/>
          <a:ln cap="flat" cmpd="sng" w="254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10696651" y="2029054"/>
            <a:ext cx="114300" cy="114300"/>
          </a:xfrm>
          <a:prstGeom prst="ellipse">
            <a:avLst/>
          </a:prstGeom>
          <a:solidFill>
            <a:srgbClr val="F9731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7696505" y="4552798"/>
            <a:ext cx="75895" cy="75895"/>
          </a:xfrm>
          <a:prstGeom prst="ellipse">
            <a:avLst/>
          </a:prstGeom>
          <a:solidFill>
            <a:srgbClr val="94A3B8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5" name="Google Shape;35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72400" y="1904695"/>
            <a:ext cx="3047695" cy="30476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" name="Google Shape;36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820302" y="2952598"/>
            <a:ext cx="952805" cy="9528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7" name="Google Shape;37;p3"/>
          <p:cNvPicPr preferRelativeResize="0"/>
          <p:nvPr/>
        </p:nvPicPr>
        <p:blipFill rotWithShape="1">
          <a:blip r:embed="rId9">
            <a:alphaModFix/>
          </a:blip>
          <a:srcRect b="-13" l="0" r="0" t="-13"/>
          <a:stretch/>
        </p:blipFill>
        <p:spPr>
          <a:xfrm>
            <a:off x="8641080" y="4114800"/>
            <a:ext cx="2655418" cy="933602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3"/>
          <p:cNvSpPr/>
          <p:nvPr/>
        </p:nvSpPr>
        <p:spPr>
          <a:xfrm>
            <a:off x="8869680" y="4352544"/>
            <a:ext cx="457200" cy="457200"/>
          </a:xfrm>
          <a:prstGeom prst="roundRect">
            <a:avLst>
              <a:gd fmla="val 66667" name="adj"/>
            </a:avLst>
          </a:prstGeom>
          <a:solidFill>
            <a:srgbClr val="FFF7ED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9" name="Google Shape;39;p3"/>
          <p:cNvPicPr preferRelativeResize="0"/>
          <p:nvPr/>
        </p:nvPicPr>
        <p:blipFill rotWithShape="1">
          <a:blip r:embed="rId10">
            <a:alphaModFix/>
          </a:blip>
          <a:srcRect b="-45" l="0" r="0" t="-45"/>
          <a:stretch/>
        </p:blipFill>
        <p:spPr>
          <a:xfrm>
            <a:off x="8969350" y="4466844"/>
            <a:ext cx="256946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3"/>
          <p:cNvSpPr txBox="1"/>
          <p:nvPr/>
        </p:nvSpPr>
        <p:spPr>
          <a:xfrm>
            <a:off x="9479585" y="4304995"/>
            <a:ext cx="1722730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Identified Opportunity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 txBox="1"/>
          <p:nvPr/>
        </p:nvSpPr>
        <p:spPr>
          <a:xfrm>
            <a:off x="9479585" y="4515307"/>
            <a:ext cx="1591056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$392,740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4"/>
          <p:cNvSpPr txBox="1"/>
          <p:nvPr/>
        </p:nvSpPr>
        <p:spPr>
          <a:xfrm>
            <a:off x="4762195" y="987552"/>
            <a:ext cx="6667805" cy="1286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100"/>
              <a:buFont typeface="Open Sans"/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After analyzing your customer database, we've identified </a:t>
            </a:r>
            <a:r>
              <a:rPr b="1" i="0" lang="en-US" sz="2100" u="none" cap="none" strike="noStrik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$392,740 in dormant annual revenue</a:t>
            </a:r>
            <a:r>
              <a:rPr b="0" i="0" lang="en-US" sz="21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sitting in customers you've already paid to acquire.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 txBox="1"/>
          <p:nvPr/>
        </p:nvSpPr>
        <p:spPr>
          <a:xfrm>
            <a:off x="4762195" y="2431412"/>
            <a:ext cx="66678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100"/>
              <a:buFont typeface="Open Sans"/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This report shows you exactly where that opportunity exists, which customers to target first, and the realistic path to </a:t>
            </a:r>
            <a:r>
              <a:rPr b="1" i="0" lang="en-US" sz="2100" u="none" cap="none" strike="noStrik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recovering 30-40% of this revenue</a:t>
            </a:r>
            <a:r>
              <a:rPr b="0" i="0" lang="en-US" sz="21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this year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4762195" y="4774997"/>
            <a:ext cx="6667805" cy="9144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4"/>
          <p:cNvSpPr txBox="1"/>
          <p:nvPr/>
        </p:nvSpPr>
        <p:spPr>
          <a:xfrm>
            <a:off x="4762195" y="5165446"/>
            <a:ext cx="203911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Hidden Opportunity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 txBox="1"/>
          <p:nvPr/>
        </p:nvSpPr>
        <p:spPr>
          <a:xfrm>
            <a:off x="4762195" y="5413248"/>
            <a:ext cx="242590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$392,740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/ year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7080199" y="5165446"/>
            <a:ext cx="203911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Dormant Assets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7080199" y="5413248"/>
            <a:ext cx="242590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150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customers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 txBox="1"/>
          <p:nvPr/>
        </p:nvSpPr>
        <p:spPr>
          <a:xfrm>
            <a:off x="9398203" y="5165446"/>
            <a:ext cx="203911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Time to Reactivate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 txBox="1"/>
          <p:nvPr/>
        </p:nvSpPr>
        <p:spPr>
          <a:xfrm>
            <a:off x="9506103" y="5413248"/>
            <a:ext cx="2039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90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days start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11670487" y="6400800"/>
            <a:ext cx="143561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Montserrat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0" y="0"/>
            <a:ext cx="4000500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0" name="Google Shape;60;p4"/>
          <p:cNvPicPr preferRelativeResize="0"/>
          <p:nvPr/>
        </p:nvPicPr>
        <p:blipFill rotWithShape="1">
          <a:blip r:embed="rId3">
            <a:alphaModFix amt="5000"/>
          </a:blip>
          <a:srcRect b="-35714" l="0" r="0" t="-35714"/>
          <a:stretch/>
        </p:blipFill>
        <p:spPr>
          <a:xfrm>
            <a:off x="0" y="0"/>
            <a:ext cx="40005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4"/>
          <p:cNvSpPr txBox="1"/>
          <p:nvPr/>
        </p:nvSpPr>
        <p:spPr>
          <a:xfrm>
            <a:off x="476402" y="571500"/>
            <a:ext cx="304861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000"/>
              <a:buFont typeface="Montserrat"/>
              <a:buNone/>
            </a:pPr>
            <a:r>
              <a:rPr b="1" i="0" lang="en-US" sz="1000" u="none" cap="none" strike="noStrike">
                <a:solidFill>
                  <a:srgbClr val="F97316"/>
                </a:solidFill>
                <a:latin typeface="Montserrat"/>
                <a:ea typeface="Montserrat"/>
                <a:cs typeface="Montserrat"/>
                <a:sym typeface="Montserrat"/>
              </a:rPr>
              <a:t>Executive Summary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476402" y="571500"/>
            <a:ext cx="190195" cy="19202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/>
          <p:cNvSpPr txBox="1"/>
          <p:nvPr/>
        </p:nvSpPr>
        <p:spPr>
          <a:xfrm>
            <a:off x="476402" y="2104949"/>
            <a:ext cx="3048610" cy="118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Montserrat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What We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Montserrat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Found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4" name="Google Shape;64;p4"/>
          <p:cNvPicPr preferRelativeResize="0"/>
          <p:nvPr/>
        </p:nvPicPr>
        <p:blipFill rotWithShape="1">
          <a:blip r:embed="rId4">
            <a:alphaModFix amt="90000"/>
          </a:blip>
          <a:srcRect b="0" l="0" r="0" t="0"/>
          <a:stretch/>
        </p:blipFill>
        <p:spPr>
          <a:xfrm>
            <a:off x="476402" y="961949"/>
            <a:ext cx="761695" cy="76169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4"/>
          <p:cNvSpPr txBox="1"/>
          <p:nvPr/>
        </p:nvSpPr>
        <p:spPr>
          <a:xfrm>
            <a:off x="476402" y="3564331"/>
            <a:ext cx="3048610" cy="428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Analysis Period: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Jan 2024 - Jan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 txBox="1"/>
          <p:nvPr/>
        </p:nvSpPr>
        <p:spPr>
          <a:xfrm>
            <a:off x="476402" y="4143146"/>
            <a:ext cx="3048610" cy="428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Data Source: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CRM Database Export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5333695" y="262433"/>
            <a:ext cx="47549" cy="1591056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5"/>
          <p:cNvSpPr txBox="1"/>
          <p:nvPr/>
        </p:nvSpPr>
        <p:spPr>
          <a:xfrm>
            <a:off x="5609844" y="262433"/>
            <a:ext cx="5820156" cy="1591056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Most businesses treat sales as transactions. Done right, sales are the </a:t>
            </a:r>
            <a:r>
              <a:rPr b="1" i="0" lang="en-US" sz="2400" u="none" cap="none" strike="noStrike">
                <a:solidFill>
                  <a:srgbClr val="F97316"/>
                </a:solidFill>
                <a:latin typeface="Montserrat"/>
                <a:ea typeface="Montserrat"/>
                <a:cs typeface="Montserrat"/>
                <a:sym typeface="Montserrat"/>
              </a:rPr>
              <a:t>beginning</a:t>
            </a:r>
            <a:r>
              <a:rPr b="1" i="0" lang="en-US" sz="24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of a buying relationship.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 txBox="1"/>
          <p:nvPr/>
        </p:nvSpPr>
        <p:spPr>
          <a:xfrm>
            <a:off x="5333695" y="2227478"/>
            <a:ext cx="609630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Open Sans"/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Your customers aren't just revenue events—they are tangible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assets on your balance sheet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. You've already paid the acquisition cost to win their trust.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 txBox="1"/>
          <p:nvPr/>
        </p:nvSpPr>
        <p:spPr>
          <a:xfrm>
            <a:off x="5333695" y="3256178"/>
            <a:ext cx="609630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Open Sans"/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Letting them go dormant isn't a marketing problem; it's an </a:t>
            </a:r>
            <a:r>
              <a:rPr b="0" i="1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asset management problem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5333695" y="4418381"/>
            <a:ext cx="6096305" cy="1028700"/>
          </a:xfrm>
          <a:prstGeom prst="roundRect">
            <a:avLst>
              <a:gd fmla="val 13169" name="adj"/>
            </a:avLst>
          </a:prstGeom>
          <a:solidFill>
            <a:srgbClr val="FFF7ED"/>
          </a:solidFill>
          <a:ln cap="flat" cmpd="sng" w="12700">
            <a:solidFill>
              <a:srgbClr val="FFED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0" name="Google Shape;80;p5"/>
          <p:cNvPicPr preferRelativeResize="0"/>
          <p:nvPr/>
        </p:nvPicPr>
        <p:blipFill rotWithShape="1">
          <a:blip r:embed="rId3">
            <a:alphaModFix/>
          </a:blip>
          <a:srcRect b="0" l="-133" r="-133" t="0"/>
          <a:stretch/>
        </p:blipFill>
        <p:spPr>
          <a:xfrm>
            <a:off x="5572354" y="4694530"/>
            <a:ext cx="1719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5"/>
          <p:cNvSpPr txBox="1"/>
          <p:nvPr/>
        </p:nvSpPr>
        <p:spPr>
          <a:xfrm>
            <a:off x="5934456" y="4657039"/>
            <a:ext cx="5257800" cy="553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Open Sans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"You are not in the HVAC business. You are in the customer relationship business that happens to do HVAC."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5333695" y="5824728"/>
            <a:ext cx="6096305" cy="9144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5"/>
          <p:cNvSpPr txBox="1"/>
          <p:nvPr/>
        </p:nvSpPr>
        <p:spPr>
          <a:xfrm>
            <a:off x="5333695" y="6215177"/>
            <a:ext cx="1314907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$200–$500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 txBox="1"/>
          <p:nvPr/>
        </p:nvSpPr>
        <p:spPr>
          <a:xfrm>
            <a:off x="5302606" y="6605626"/>
            <a:ext cx="1376172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Acquisition Cost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 txBox="1"/>
          <p:nvPr/>
        </p:nvSpPr>
        <p:spPr>
          <a:xfrm>
            <a:off x="6796735" y="6357823"/>
            <a:ext cx="123444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Open Sans"/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 txBox="1"/>
          <p:nvPr/>
        </p:nvSpPr>
        <p:spPr>
          <a:xfrm>
            <a:off x="7057339" y="6215177"/>
            <a:ext cx="1047902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Trust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6975958" y="6605626"/>
            <a:ext cx="121158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Already Earned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8257032" y="6357823"/>
            <a:ext cx="123444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Open Sans"/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=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8518550" y="6215177"/>
            <a:ext cx="1000354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F97316"/>
                </a:solidFill>
                <a:latin typeface="Montserrat"/>
                <a:ea typeface="Montserrat"/>
                <a:cs typeface="Montserrat"/>
                <a:sym typeface="Montserrat"/>
              </a:rPr>
              <a:t>ASSET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8518550" y="6605626"/>
            <a:ext cx="1000354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To Be Managed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 txBox="1"/>
          <p:nvPr/>
        </p:nvSpPr>
        <p:spPr>
          <a:xfrm>
            <a:off x="11672316" y="6400800"/>
            <a:ext cx="143561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Montserrat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0" y="0"/>
            <a:ext cx="4572000" cy="6858000"/>
          </a:xfrm>
          <a:custGeom>
            <a:rect b="b" l="l" r="r" t="t"/>
            <a:pathLst>
              <a:path extrusionOk="0" h="6858000" w="4572000">
                <a:moveTo>
                  <a:pt x="0" y="0"/>
                </a:moveTo>
                <a:lnTo>
                  <a:pt x="4572000" y="0"/>
                </a:lnTo>
                <a:lnTo>
                  <a:pt x="3886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F172A"/>
          </a:solidFill>
          <a:ln>
            <a:noFill/>
          </a:ln>
        </p:spPr>
      </p:sp>
      <p:sp>
        <p:nvSpPr>
          <p:cNvPr id="93" name="Google Shape;93;p5"/>
          <p:cNvSpPr txBox="1"/>
          <p:nvPr/>
        </p:nvSpPr>
        <p:spPr>
          <a:xfrm>
            <a:off x="1004011" y="2663647"/>
            <a:ext cx="2572207" cy="1324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You're Not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 the HVAC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Business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4" name="Google Shape;94;p5"/>
          <p:cNvPicPr preferRelativeResize="0"/>
          <p:nvPr/>
        </p:nvPicPr>
        <p:blipFill rotWithShape="1">
          <a:blip r:embed="rId4">
            <a:alphaModFix/>
          </a:blip>
          <a:srcRect b="-400" l="0" r="0" t="-400"/>
          <a:stretch/>
        </p:blipFill>
        <p:spPr>
          <a:xfrm>
            <a:off x="1004011" y="4212641"/>
            <a:ext cx="571500" cy="3840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5"/>
          <p:cNvSpPr txBox="1"/>
          <p:nvPr/>
        </p:nvSpPr>
        <p:spPr>
          <a:xfrm>
            <a:off x="1004011" y="4479646"/>
            <a:ext cx="2572207" cy="514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The Asset Management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Philosophy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6" name="Google Shape;96;p5"/>
          <p:cNvPicPr preferRelativeResize="0"/>
          <p:nvPr/>
        </p:nvPicPr>
        <p:blipFill rotWithShape="1">
          <a:blip r:embed="rId5">
            <a:alphaModFix amt="90000"/>
          </a:blip>
          <a:srcRect b="0" l="-469" r="-469" t="0"/>
          <a:stretch/>
        </p:blipFill>
        <p:spPr>
          <a:xfrm>
            <a:off x="1004011" y="1863547"/>
            <a:ext cx="504749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5" name="Google Shape;105;p6"/>
          <p:cNvPicPr preferRelativeResize="0"/>
          <p:nvPr/>
        </p:nvPicPr>
        <p:blipFill rotWithShape="1">
          <a:blip r:embed="rId3">
            <a:alphaModFix/>
          </a:blip>
          <a:srcRect b="-7" l="0" r="0" t="-7"/>
          <a:stretch/>
        </p:blipFill>
        <p:spPr>
          <a:xfrm>
            <a:off x="4190695" y="571500"/>
            <a:ext cx="7429500" cy="3486607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6"/>
          <p:cNvSpPr txBox="1"/>
          <p:nvPr/>
        </p:nvSpPr>
        <p:spPr>
          <a:xfrm>
            <a:off x="7198157" y="2214677"/>
            <a:ext cx="1420063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Asset Breakdown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4190695" y="4438498"/>
            <a:ext cx="2324405" cy="1848002"/>
          </a:xfrm>
          <a:prstGeom prst="roundRect">
            <a:avLst>
              <a:gd fmla="val 6121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4190695" y="4438498"/>
            <a:ext cx="2324405" cy="38405"/>
          </a:xfrm>
          <a:prstGeom prst="roundRect">
            <a:avLst>
              <a:gd fmla="val 294549" name="adj"/>
            </a:avLst>
          </a:prstGeom>
          <a:solidFill>
            <a:srgbClr val="334155"/>
          </a:solidFill>
          <a:ln cap="flat" cmpd="sng" w="12700">
            <a:solidFill>
              <a:srgbClr val="33415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6"/>
          <p:cNvSpPr txBox="1"/>
          <p:nvPr/>
        </p:nvSpPr>
        <p:spPr>
          <a:xfrm>
            <a:off x="4419295" y="4705502"/>
            <a:ext cx="661111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Active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 txBox="1"/>
          <p:nvPr/>
        </p:nvSpPr>
        <p:spPr>
          <a:xfrm>
            <a:off x="5787238" y="4705502"/>
            <a:ext cx="505663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30%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4419295" y="5162702"/>
            <a:ext cx="1114654" cy="276149"/>
          </a:xfrm>
          <a:prstGeom prst="roundRect">
            <a:avLst>
              <a:gd fmla="val 91345" name="adj"/>
            </a:avLst>
          </a:prstGeom>
          <a:solidFill>
            <a:srgbClr val="F1F5F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6"/>
          <p:cNvSpPr txBox="1"/>
          <p:nvPr/>
        </p:nvSpPr>
        <p:spPr>
          <a:xfrm>
            <a:off x="4419295" y="5162702"/>
            <a:ext cx="1114654" cy="277063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100" lIns="76200" spcFirstLastPara="1" rIns="762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960 Customers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3" name="Google Shape;11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33795" y="5224882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6"/>
          <p:cNvSpPr/>
          <p:nvPr/>
        </p:nvSpPr>
        <p:spPr>
          <a:xfrm>
            <a:off x="4419295" y="5553151"/>
            <a:ext cx="1867205" cy="9144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6"/>
          <p:cNvSpPr txBox="1"/>
          <p:nvPr/>
        </p:nvSpPr>
        <p:spPr>
          <a:xfrm>
            <a:off x="4419295" y="5676595"/>
            <a:ext cx="1867205" cy="372161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300" lIns="114300" spcFirstLastPara="1" rIns="1143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Purchased in last 12 months.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Currently engaged.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6743700" y="4438498"/>
            <a:ext cx="2324405" cy="1848002"/>
          </a:xfrm>
          <a:prstGeom prst="roundRect">
            <a:avLst>
              <a:gd fmla="val 6121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6743700" y="4438498"/>
            <a:ext cx="2324405" cy="38405"/>
          </a:xfrm>
          <a:prstGeom prst="roundRect">
            <a:avLst>
              <a:gd fmla="val 294549" name="adj"/>
            </a:avLst>
          </a:prstGeom>
          <a:solidFill>
            <a:srgbClr val="94A3B8"/>
          </a:solidFill>
          <a:ln cap="flat" cmpd="sng" w="12700">
            <a:solidFill>
              <a:srgbClr val="94A3B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6"/>
          <p:cNvSpPr txBox="1"/>
          <p:nvPr/>
        </p:nvSpPr>
        <p:spPr>
          <a:xfrm>
            <a:off x="6972300" y="4705502"/>
            <a:ext cx="770839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At-Risk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 txBox="1"/>
          <p:nvPr/>
        </p:nvSpPr>
        <p:spPr>
          <a:xfrm>
            <a:off x="8360359" y="4705502"/>
            <a:ext cx="486461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25%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6972300" y="5162702"/>
            <a:ext cx="1114654" cy="276149"/>
          </a:xfrm>
          <a:prstGeom prst="roundRect">
            <a:avLst>
              <a:gd fmla="val 91345" name="adj"/>
            </a:avLst>
          </a:prstGeom>
          <a:solidFill>
            <a:srgbClr val="F1F5F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6"/>
          <p:cNvSpPr txBox="1"/>
          <p:nvPr/>
        </p:nvSpPr>
        <p:spPr>
          <a:xfrm>
            <a:off x="6972300" y="5162702"/>
            <a:ext cx="1114654" cy="277063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100" lIns="76200" spcFirstLastPara="1" rIns="762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800 Customers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2" name="Google Shape;12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86800" y="5224882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6"/>
          <p:cNvSpPr/>
          <p:nvPr/>
        </p:nvSpPr>
        <p:spPr>
          <a:xfrm>
            <a:off x="6972300" y="5553151"/>
            <a:ext cx="1867205" cy="9144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6"/>
          <p:cNvSpPr txBox="1"/>
          <p:nvPr/>
        </p:nvSpPr>
        <p:spPr>
          <a:xfrm>
            <a:off x="6972300" y="5676595"/>
            <a:ext cx="1867205" cy="372161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300" lIns="114300" spcFirstLastPara="1" rIns="1143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12-24 months since purchase.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Engagement fading.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9296705" y="4438498"/>
            <a:ext cx="2324405" cy="1848002"/>
          </a:xfrm>
          <a:prstGeom prst="roundRect">
            <a:avLst>
              <a:gd fmla="val 6121" name="adj"/>
            </a:avLst>
          </a:prstGeom>
          <a:solidFill>
            <a:srgbClr val="FFF7ED"/>
          </a:solidFill>
          <a:ln cap="flat" cmpd="sng" w="12700">
            <a:solidFill>
              <a:srgbClr val="FFEDD5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9296705" y="4438498"/>
            <a:ext cx="2324405" cy="38405"/>
          </a:xfrm>
          <a:prstGeom prst="roundRect">
            <a:avLst>
              <a:gd fmla="val 294549" name="adj"/>
            </a:avLst>
          </a:prstGeom>
          <a:solidFill>
            <a:srgbClr val="F97316"/>
          </a:solidFill>
          <a:ln cap="flat" cmpd="sng" w="12700">
            <a:solidFill>
              <a:srgbClr val="F9731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6"/>
          <p:cNvSpPr txBox="1"/>
          <p:nvPr/>
        </p:nvSpPr>
        <p:spPr>
          <a:xfrm>
            <a:off x="9534449" y="4705502"/>
            <a:ext cx="810158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C2410C"/>
                </a:solidFill>
                <a:latin typeface="Montserrat"/>
                <a:ea typeface="Montserrat"/>
                <a:cs typeface="Montserrat"/>
                <a:sym typeface="Montserrat"/>
              </a:rPr>
              <a:t>Dormant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 txBox="1"/>
          <p:nvPr/>
        </p:nvSpPr>
        <p:spPr>
          <a:xfrm>
            <a:off x="10880446" y="4705502"/>
            <a:ext cx="505663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F97316"/>
                </a:solidFill>
                <a:latin typeface="Montserrat"/>
                <a:ea typeface="Montserrat"/>
                <a:cs typeface="Montserrat"/>
                <a:sym typeface="Montserrat"/>
              </a:rPr>
              <a:t>45%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9534449" y="5162702"/>
            <a:ext cx="1228954" cy="276149"/>
          </a:xfrm>
          <a:prstGeom prst="roundRect">
            <a:avLst>
              <a:gd fmla="val 91345" name="adj"/>
            </a:avLst>
          </a:prstGeom>
          <a:solidFill>
            <a:srgbClr val="F97316">
              <a:alpha val="10196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"/>
          <p:cNvSpPr txBox="1"/>
          <p:nvPr/>
        </p:nvSpPr>
        <p:spPr>
          <a:xfrm>
            <a:off x="9534449" y="5162702"/>
            <a:ext cx="1228954" cy="277063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100" lIns="76200" spcFirstLastPara="1" rIns="762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C2410C"/>
                </a:solidFill>
                <a:latin typeface="Open Sans"/>
                <a:ea typeface="Open Sans"/>
                <a:cs typeface="Open Sans"/>
                <a:sym typeface="Open Sans"/>
              </a:rPr>
              <a:t>150 Customers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1" name="Google Shape;131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229746" y="5224882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6"/>
          <p:cNvSpPr/>
          <p:nvPr/>
        </p:nvSpPr>
        <p:spPr>
          <a:xfrm>
            <a:off x="9534449" y="5553151"/>
            <a:ext cx="1848002" cy="9144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6"/>
          <p:cNvSpPr txBox="1"/>
          <p:nvPr/>
        </p:nvSpPr>
        <p:spPr>
          <a:xfrm>
            <a:off x="9534449" y="5676595"/>
            <a:ext cx="1848002" cy="372161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300" lIns="114300" spcFirstLastPara="1" rIns="1143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2D12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7C2D12"/>
                </a:solidFill>
                <a:latin typeface="Open Sans"/>
                <a:ea typeface="Open Sans"/>
                <a:cs typeface="Open Sans"/>
                <a:sym typeface="Open Sans"/>
              </a:rPr>
              <a:t>Primary Opportunity.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2D12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7C2D12"/>
                </a:solidFill>
                <a:latin typeface="Open Sans"/>
                <a:ea typeface="Open Sans"/>
                <a:cs typeface="Open Sans"/>
                <a:sym typeface="Open Sans"/>
              </a:rPr>
              <a:t>24+ months silent.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 txBox="1"/>
          <p:nvPr/>
        </p:nvSpPr>
        <p:spPr>
          <a:xfrm>
            <a:off x="11659514" y="6400800"/>
            <a:ext cx="152705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Montserrat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6" name="Google Shape;136;p6"/>
          <p:cNvPicPr preferRelativeResize="0"/>
          <p:nvPr/>
        </p:nvPicPr>
        <p:blipFill rotWithShape="1">
          <a:blip r:embed="rId7">
            <a:alphaModFix amt="5000"/>
          </a:blip>
          <a:srcRect b="-44745" l="0" r="0" t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6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F97316"/>
                </a:solidFill>
                <a:latin typeface="Montserrat"/>
                <a:ea typeface="Montserrat"/>
                <a:cs typeface="Montserrat"/>
                <a:sym typeface="Montserrat"/>
              </a:rPr>
              <a:t>Database Analysis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6"/>
          <p:cNvSpPr txBox="1"/>
          <p:nvPr/>
        </p:nvSpPr>
        <p:spPr>
          <a:xfrm>
            <a:off x="381305" y="909828"/>
            <a:ext cx="2857500" cy="192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Your Current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Customer Asset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Portfolio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381305" y="3637483"/>
            <a:ext cx="2857500" cy="1647749"/>
          </a:xfrm>
          <a:prstGeom prst="roundRect">
            <a:avLst>
              <a:gd fmla="val 7699" name="adj"/>
            </a:avLst>
          </a:prstGeom>
          <a:solidFill>
            <a:srgbClr val="FFFFFF">
              <a:alpha val="10196"/>
            </a:srgbClr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6"/>
          <p:cNvSpPr txBox="1"/>
          <p:nvPr/>
        </p:nvSpPr>
        <p:spPr>
          <a:xfrm>
            <a:off x="676656" y="3932834"/>
            <a:ext cx="2267712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Montserrat"/>
              <a:buNone/>
            </a:pPr>
            <a:r>
              <a:rPr b="1" i="0" lang="en-US" sz="10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Total Database Size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 txBox="1"/>
          <p:nvPr/>
        </p:nvSpPr>
        <p:spPr>
          <a:xfrm>
            <a:off x="676656" y="4208983"/>
            <a:ext cx="2267712" cy="5340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Montserrat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200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 txBox="1"/>
          <p:nvPr/>
        </p:nvSpPr>
        <p:spPr>
          <a:xfrm>
            <a:off x="381305" y="3211373"/>
            <a:ext cx="2857500" cy="428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We segmented your database based on recency of purchase to identify asset health.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 txBox="1"/>
          <p:nvPr/>
        </p:nvSpPr>
        <p:spPr>
          <a:xfrm>
            <a:off x="676656" y="4818888"/>
            <a:ext cx="226771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Unique customer records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7"/>
          <p:cNvSpPr txBox="1"/>
          <p:nvPr/>
        </p:nvSpPr>
        <p:spPr>
          <a:xfrm>
            <a:off x="4381805" y="571500"/>
            <a:ext cx="704911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Calculating Your Idle Investment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4381805" y="1505102"/>
            <a:ext cx="3066898" cy="2009851"/>
          </a:xfrm>
          <a:prstGeom prst="roundRect">
            <a:avLst>
              <a:gd fmla="val 5175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4381805" y="3476549"/>
            <a:ext cx="3066898" cy="38405"/>
          </a:xfrm>
          <a:prstGeom prst="roundRect">
            <a:avLst>
              <a:gd fmla="val 270818" name="adj"/>
            </a:avLst>
          </a:prstGeom>
          <a:solidFill>
            <a:srgbClr val="CBD5E1"/>
          </a:solidFill>
          <a:ln cap="flat" cmpd="sng" w="12700">
            <a:solidFill>
              <a:srgbClr val="CBD5E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4610405" y="1733702"/>
            <a:ext cx="381305" cy="381305"/>
          </a:xfrm>
          <a:prstGeom prst="ellipse">
            <a:avLst/>
          </a:prstGeom>
          <a:solidFill>
            <a:srgbClr val="F1F5F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57" name="Google Shape;157;p7"/>
          <p:cNvPicPr preferRelativeResize="0"/>
          <p:nvPr/>
        </p:nvPicPr>
        <p:blipFill rotWithShape="1">
          <a:blip r:embed="rId3">
            <a:alphaModFix/>
          </a:blip>
          <a:srcRect b="-180" l="0" r="0" t="-180"/>
          <a:stretch/>
        </p:blipFill>
        <p:spPr>
          <a:xfrm>
            <a:off x="4705502" y="1848002"/>
            <a:ext cx="19019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7"/>
          <p:cNvSpPr txBox="1"/>
          <p:nvPr/>
        </p:nvSpPr>
        <p:spPr>
          <a:xfrm>
            <a:off x="4610405" y="2266798"/>
            <a:ext cx="2610612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Dormant Assets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 txBox="1"/>
          <p:nvPr/>
        </p:nvSpPr>
        <p:spPr>
          <a:xfrm>
            <a:off x="4610405" y="2566721"/>
            <a:ext cx="26106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150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 txBox="1"/>
          <p:nvPr/>
        </p:nvSpPr>
        <p:spPr>
          <a:xfrm>
            <a:off x="4610405" y="3062326"/>
            <a:ext cx="2610612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Customers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 txBox="1"/>
          <p:nvPr/>
        </p:nvSpPr>
        <p:spPr>
          <a:xfrm>
            <a:off x="7636154" y="2281428"/>
            <a:ext cx="1901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400"/>
              <a:buFont typeface="Open Sans"/>
              <a:buNone/>
            </a:pPr>
            <a:r>
              <a:rPr b="0" i="0" lang="en-US" sz="24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×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8001000" y="1505102"/>
            <a:ext cx="3066898" cy="2009851"/>
          </a:xfrm>
          <a:prstGeom prst="roundRect">
            <a:avLst>
              <a:gd fmla="val 5175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8001000" y="3476549"/>
            <a:ext cx="3066898" cy="38405"/>
          </a:xfrm>
          <a:prstGeom prst="roundRect">
            <a:avLst>
              <a:gd fmla="val 270818" name="adj"/>
            </a:avLst>
          </a:prstGeom>
          <a:solidFill>
            <a:srgbClr val="F97316"/>
          </a:solidFill>
          <a:ln cap="flat" cmpd="sng" w="12700">
            <a:solidFill>
              <a:srgbClr val="F9731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8229600" y="1733702"/>
            <a:ext cx="381305" cy="381305"/>
          </a:xfrm>
          <a:prstGeom prst="ellipse">
            <a:avLst/>
          </a:prstGeom>
          <a:solidFill>
            <a:srgbClr val="FFF7ED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65" name="Google Shape;16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43900" y="1848002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7"/>
          <p:cNvSpPr txBox="1"/>
          <p:nvPr/>
        </p:nvSpPr>
        <p:spPr>
          <a:xfrm>
            <a:off x="8229600" y="2266798"/>
            <a:ext cx="2610612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Acquisition Cost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 txBox="1"/>
          <p:nvPr/>
        </p:nvSpPr>
        <p:spPr>
          <a:xfrm>
            <a:off x="8229600" y="2566721"/>
            <a:ext cx="26106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$200 - $500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 txBox="1"/>
          <p:nvPr/>
        </p:nvSpPr>
        <p:spPr>
          <a:xfrm>
            <a:off x="8229600" y="3062326"/>
            <a:ext cx="2610612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Per Customer (CAC)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 txBox="1"/>
          <p:nvPr/>
        </p:nvSpPr>
        <p:spPr>
          <a:xfrm>
            <a:off x="11255350" y="2281428"/>
            <a:ext cx="1901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400"/>
              <a:buFont typeface="Open Sans"/>
              <a:buNone/>
            </a:pPr>
            <a:r>
              <a:rPr b="0" i="0" lang="en-US" sz="24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=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0" name="Google Shape;170;p7"/>
          <p:cNvPicPr preferRelativeResize="0"/>
          <p:nvPr/>
        </p:nvPicPr>
        <p:blipFill rotWithShape="1">
          <a:blip r:embed="rId5">
            <a:alphaModFix/>
          </a:blip>
          <a:srcRect b="0" l="-5" r="-5" t="0"/>
          <a:stretch/>
        </p:blipFill>
        <p:spPr>
          <a:xfrm>
            <a:off x="4381805" y="3991356"/>
            <a:ext cx="7048195" cy="1514246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7"/>
          <p:cNvSpPr/>
          <p:nvPr/>
        </p:nvSpPr>
        <p:spPr>
          <a:xfrm>
            <a:off x="4381805" y="3991356"/>
            <a:ext cx="75895" cy="1495044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7"/>
          <p:cNvSpPr txBox="1"/>
          <p:nvPr/>
        </p:nvSpPr>
        <p:spPr>
          <a:xfrm>
            <a:off x="4772254" y="4381805"/>
            <a:ext cx="6268212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000"/>
              <a:buFont typeface="Montserrat"/>
              <a:buNone/>
            </a:pPr>
            <a:r>
              <a:rPr b="1" i="0" lang="en-US" sz="1000" u="none" cap="none" strike="noStrike">
                <a:solidFill>
                  <a:srgbClr val="C2410C"/>
                </a:solidFill>
                <a:latin typeface="Montserrat"/>
                <a:ea typeface="Montserrat"/>
                <a:cs typeface="Montserrat"/>
                <a:sym typeface="Montserrat"/>
              </a:rPr>
              <a:t>Total Sunk Cost Sitting Dormant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 txBox="1"/>
          <p:nvPr/>
        </p:nvSpPr>
        <p:spPr>
          <a:xfrm>
            <a:off x="4772254" y="4733849"/>
            <a:ext cx="6268212" cy="6099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4800"/>
              <a:buFont typeface="Montserrat"/>
              <a:buNone/>
            </a:pPr>
            <a:r>
              <a:rPr b="1" i="0" lang="en-US" sz="4800" u="none" cap="none" strike="noStrike">
                <a:solidFill>
                  <a:srgbClr val="C2410C"/>
                </a:solidFill>
                <a:latin typeface="Montserrat"/>
                <a:ea typeface="Montserrat"/>
                <a:cs typeface="Montserrat"/>
                <a:sym typeface="Montserrat"/>
              </a:rPr>
              <a:t>$30,000 — $75,000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 txBox="1"/>
          <p:nvPr/>
        </p:nvSpPr>
        <p:spPr>
          <a:xfrm>
            <a:off x="4772254" y="5495544"/>
            <a:ext cx="6268212" cy="514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2D12"/>
              </a:buClr>
              <a:buSzPts val="1300"/>
              <a:buFont typeface="Open Sans"/>
              <a:buNone/>
            </a:pPr>
            <a:r>
              <a:rPr b="0" i="0" lang="en-US" sz="1300" u="none" cap="none" strike="noStrike">
                <a:solidFill>
                  <a:srgbClr val="7C2D12"/>
                </a:solidFill>
                <a:latin typeface="Open Sans"/>
                <a:ea typeface="Open Sans"/>
                <a:cs typeface="Open Sans"/>
                <a:sym typeface="Open Sans"/>
              </a:rPr>
              <a:t> That's up to three-quarters of a million dollars in marketing investment generating </a:t>
            </a:r>
            <a:r>
              <a:rPr b="1" i="0" lang="en-US" sz="1300" u="none" cap="none" strike="noStrike">
                <a:solidFill>
                  <a:srgbClr val="7C2D12"/>
                </a:solidFill>
                <a:latin typeface="Open Sans"/>
                <a:ea typeface="Open Sans"/>
                <a:cs typeface="Open Sans"/>
                <a:sym typeface="Open Sans"/>
              </a:rPr>
              <a:t>zero return</a:t>
            </a:r>
            <a:r>
              <a:rPr b="0" i="0" lang="en-US" sz="1300" u="none" cap="none" strike="noStrike">
                <a:solidFill>
                  <a:srgbClr val="7C2D12"/>
                </a:solidFill>
                <a:latin typeface="Open Sans"/>
                <a:ea typeface="Open Sans"/>
                <a:cs typeface="Open Sans"/>
                <a:sym typeface="Open Sans"/>
              </a:rPr>
              <a:t> right now.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5" name="Google Shape;175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81805" y="5924398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7"/>
          <p:cNvSpPr txBox="1"/>
          <p:nvPr/>
        </p:nvSpPr>
        <p:spPr>
          <a:xfrm>
            <a:off x="4686300" y="5886907"/>
            <a:ext cx="5715000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The Asset Perspective:</a:t>
            </a: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If you bought a $500,000 piece of equipment and left it in the warehouse unplugged, you'd fix it immediately. Your customer list is that equipment.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 txBox="1"/>
          <p:nvPr/>
        </p:nvSpPr>
        <p:spPr>
          <a:xfrm>
            <a:off x="11670487" y="6400800"/>
            <a:ext cx="143561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Montserrat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9" name="Google Shape;179;p7"/>
          <p:cNvPicPr preferRelativeResize="0"/>
          <p:nvPr/>
        </p:nvPicPr>
        <p:blipFill rotWithShape="1">
          <a:blip r:embed="rId7">
            <a:alphaModFix amt="5000"/>
          </a:blip>
          <a:srcRect b="-44745" l="0" r="0" t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7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F97316"/>
                </a:solidFill>
                <a:latin typeface="Montserrat"/>
                <a:ea typeface="Montserrat"/>
                <a:cs typeface="Montserrat"/>
                <a:sym typeface="Montserrat"/>
              </a:rPr>
              <a:t>Acquisition Reality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7"/>
          <p:cNvSpPr txBox="1"/>
          <p:nvPr/>
        </p:nvSpPr>
        <p:spPr>
          <a:xfrm>
            <a:off x="381305" y="909828"/>
            <a:ext cx="2857500" cy="192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Sunk Cost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 Your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Database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381305" y="3116275"/>
            <a:ext cx="9144" cy="1619402"/>
          </a:xfrm>
          <a:prstGeom prst="rect">
            <a:avLst/>
          </a:prstGeom>
          <a:solidFill>
            <a:srgbClr val="FFFFFF">
              <a:alpha val="2000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7"/>
          <p:cNvSpPr txBox="1"/>
          <p:nvPr/>
        </p:nvSpPr>
        <p:spPr>
          <a:xfrm>
            <a:off x="580644" y="3116275"/>
            <a:ext cx="3162910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This isn't a theoretical projection.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 txBox="1"/>
          <p:nvPr/>
        </p:nvSpPr>
        <p:spPr>
          <a:xfrm>
            <a:off x="580644" y="3512210"/>
            <a:ext cx="2658161" cy="12198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This is actual cash you have already deployed in marketing spend, commissions, and overhead to acquire customers who are now silent.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6" name="Google Shape;186;p7"/>
          <p:cNvPicPr preferRelativeResize="0"/>
          <p:nvPr/>
        </p:nvPicPr>
        <p:blipFill rotWithShape="1">
          <a:blip r:embed="rId8">
            <a:alphaModFix amt="80000"/>
          </a:blip>
          <a:srcRect b="0" l="0" r="0" t="0"/>
          <a:stretch/>
        </p:blipFill>
        <p:spPr>
          <a:xfrm>
            <a:off x="381305" y="4731106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8"/>
          <p:cNvSpPr txBox="1"/>
          <p:nvPr/>
        </p:nvSpPr>
        <p:spPr>
          <a:xfrm>
            <a:off x="4381805" y="571500"/>
            <a:ext cx="704911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What You're Losing Annually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4381805" y="1505102"/>
            <a:ext cx="3066898" cy="2009851"/>
          </a:xfrm>
          <a:prstGeom prst="roundRect">
            <a:avLst>
              <a:gd fmla="val 5175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4381805" y="3476549"/>
            <a:ext cx="3066898" cy="38405"/>
          </a:xfrm>
          <a:prstGeom prst="roundRect">
            <a:avLst>
              <a:gd fmla="val 270818" name="adj"/>
            </a:avLst>
          </a:prstGeom>
          <a:solidFill>
            <a:srgbClr val="CBD5E1"/>
          </a:solidFill>
          <a:ln cap="flat" cmpd="sng" w="12700">
            <a:solidFill>
              <a:srgbClr val="CBD5E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4610405" y="1733702"/>
            <a:ext cx="381305" cy="381305"/>
          </a:xfrm>
          <a:prstGeom prst="ellipse">
            <a:avLst/>
          </a:prstGeom>
          <a:solidFill>
            <a:srgbClr val="F1F5F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99" name="Google Shape;199;p8"/>
          <p:cNvPicPr preferRelativeResize="0"/>
          <p:nvPr/>
        </p:nvPicPr>
        <p:blipFill rotWithShape="1">
          <a:blip r:embed="rId3">
            <a:alphaModFix/>
          </a:blip>
          <a:srcRect b="-180" l="0" r="0" t="-180"/>
          <a:stretch/>
        </p:blipFill>
        <p:spPr>
          <a:xfrm>
            <a:off x="4705502" y="1848002"/>
            <a:ext cx="19019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8"/>
          <p:cNvSpPr txBox="1"/>
          <p:nvPr/>
        </p:nvSpPr>
        <p:spPr>
          <a:xfrm>
            <a:off x="4610405" y="2266798"/>
            <a:ext cx="2610612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Dormant Base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 txBox="1"/>
          <p:nvPr/>
        </p:nvSpPr>
        <p:spPr>
          <a:xfrm>
            <a:off x="4610405" y="2566721"/>
            <a:ext cx="26106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150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 txBox="1"/>
          <p:nvPr/>
        </p:nvSpPr>
        <p:spPr>
          <a:xfrm>
            <a:off x="4610405" y="3062326"/>
            <a:ext cx="2610612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Customers &gt;24 Months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 txBox="1"/>
          <p:nvPr/>
        </p:nvSpPr>
        <p:spPr>
          <a:xfrm>
            <a:off x="7636154" y="2281428"/>
            <a:ext cx="1901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400"/>
              <a:buFont typeface="Open Sans"/>
              <a:buNone/>
            </a:pPr>
            <a:r>
              <a:rPr b="0" i="0" lang="en-US" sz="24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×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8001000" y="1505102"/>
            <a:ext cx="3066898" cy="2009851"/>
          </a:xfrm>
          <a:prstGeom prst="roundRect">
            <a:avLst>
              <a:gd fmla="val 5175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8001000" y="3476549"/>
            <a:ext cx="3066898" cy="38405"/>
          </a:xfrm>
          <a:prstGeom prst="roundRect">
            <a:avLst>
              <a:gd fmla="val 270818" name="adj"/>
            </a:avLst>
          </a:prstGeom>
          <a:solidFill>
            <a:srgbClr val="F97316"/>
          </a:solidFill>
          <a:ln cap="flat" cmpd="sng" w="12700">
            <a:solidFill>
              <a:srgbClr val="F9731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8229600" y="1733702"/>
            <a:ext cx="381305" cy="381305"/>
          </a:xfrm>
          <a:prstGeom prst="ellipse">
            <a:avLst/>
          </a:prstGeom>
          <a:solidFill>
            <a:srgbClr val="FFF7ED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07" name="Google Shape;207;p8"/>
          <p:cNvPicPr preferRelativeResize="0"/>
          <p:nvPr/>
        </p:nvPicPr>
        <p:blipFill rotWithShape="1">
          <a:blip r:embed="rId4">
            <a:alphaModFix/>
          </a:blip>
          <a:srcRect b="-100" l="0" r="0" t="-100"/>
          <a:stretch/>
        </p:blipFill>
        <p:spPr>
          <a:xfrm>
            <a:off x="8363102" y="1848002"/>
            <a:ext cx="114300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8"/>
          <p:cNvSpPr txBox="1"/>
          <p:nvPr/>
        </p:nvSpPr>
        <p:spPr>
          <a:xfrm>
            <a:off x="8229600" y="2266798"/>
            <a:ext cx="2610612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Typical Service Value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 txBox="1"/>
          <p:nvPr/>
        </p:nvSpPr>
        <p:spPr>
          <a:xfrm>
            <a:off x="8229600" y="2566721"/>
            <a:ext cx="26106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~$32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 txBox="1"/>
          <p:nvPr/>
        </p:nvSpPr>
        <p:spPr>
          <a:xfrm>
            <a:off x="8229600" y="3062326"/>
            <a:ext cx="2610612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Per Head (Conservative Avg)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 txBox="1"/>
          <p:nvPr/>
        </p:nvSpPr>
        <p:spPr>
          <a:xfrm>
            <a:off x="11255350" y="2281428"/>
            <a:ext cx="1901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400"/>
              <a:buFont typeface="Open Sans"/>
              <a:buNone/>
            </a:pPr>
            <a:r>
              <a:rPr b="0" i="0" lang="en-US" sz="24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=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2" name="Google Shape;212;p8"/>
          <p:cNvPicPr preferRelativeResize="0"/>
          <p:nvPr/>
        </p:nvPicPr>
        <p:blipFill rotWithShape="1">
          <a:blip r:embed="rId5">
            <a:alphaModFix/>
          </a:blip>
          <a:srcRect b="-20" l="0" r="0" t="-20"/>
          <a:stretch/>
        </p:blipFill>
        <p:spPr>
          <a:xfrm>
            <a:off x="4381805" y="3991356"/>
            <a:ext cx="7048195" cy="1314907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8"/>
          <p:cNvSpPr/>
          <p:nvPr/>
        </p:nvSpPr>
        <p:spPr>
          <a:xfrm>
            <a:off x="4381805" y="3991356"/>
            <a:ext cx="75895" cy="1295705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8"/>
          <p:cNvSpPr txBox="1"/>
          <p:nvPr/>
        </p:nvSpPr>
        <p:spPr>
          <a:xfrm>
            <a:off x="4772254" y="4381805"/>
            <a:ext cx="6268212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000"/>
              <a:buFont typeface="Montserrat"/>
              <a:buNone/>
            </a:pPr>
            <a:r>
              <a:rPr b="1" i="0" lang="en-US" sz="1000" u="none" cap="none" strike="noStrike">
                <a:solidFill>
                  <a:srgbClr val="C2410C"/>
                </a:solidFill>
                <a:latin typeface="Montserrat"/>
                <a:ea typeface="Montserrat"/>
                <a:cs typeface="Montserrat"/>
                <a:sym typeface="Montserrat"/>
              </a:rPr>
              <a:t>Annual Unrealized Revenue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 txBox="1"/>
          <p:nvPr/>
        </p:nvSpPr>
        <p:spPr>
          <a:xfrm>
            <a:off x="4772254" y="4733849"/>
            <a:ext cx="626821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5400"/>
              <a:buFont typeface="Montserrat"/>
              <a:buNone/>
            </a:pPr>
            <a:r>
              <a:rPr b="1" i="0" lang="en-US" sz="5400" u="none" cap="none" strike="noStrike">
                <a:solidFill>
                  <a:srgbClr val="C2410C"/>
                </a:solidFill>
                <a:latin typeface="Montserrat"/>
                <a:ea typeface="Montserrat"/>
                <a:cs typeface="Montserrat"/>
                <a:sym typeface="Montserrat"/>
              </a:rPr>
              <a:t>$392,740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 txBox="1"/>
          <p:nvPr/>
        </p:nvSpPr>
        <p:spPr>
          <a:xfrm>
            <a:off x="4705500" y="5448897"/>
            <a:ext cx="6268200" cy="9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2D12"/>
              </a:buClr>
              <a:buSzPts val="1300"/>
              <a:buFont typeface="Open Sans"/>
              <a:buNone/>
            </a:pPr>
            <a:r>
              <a:rPr b="0" i="0" lang="en-US" sz="1300" u="none" cap="none" strike="noStrike">
                <a:solidFill>
                  <a:srgbClr val="7C2D12"/>
                </a:solidFill>
                <a:latin typeface="Open Sans"/>
                <a:ea typeface="Open Sans"/>
                <a:cs typeface="Open Sans"/>
                <a:sym typeface="Open Sans"/>
              </a:rPr>
              <a:t> If these dormant customers simply returned to a standard service cadence, this is the </a:t>
            </a:r>
            <a:r>
              <a:rPr b="1" i="0" lang="en-US" sz="1300" u="none" cap="none" strike="noStrike">
                <a:solidFill>
                  <a:srgbClr val="7C2D12"/>
                </a:solidFill>
                <a:latin typeface="Open Sans"/>
                <a:ea typeface="Open Sans"/>
                <a:cs typeface="Open Sans"/>
                <a:sym typeface="Open Sans"/>
              </a:rPr>
              <a:t>pure profit</a:t>
            </a:r>
            <a:r>
              <a:rPr b="0" i="0" lang="en-US" sz="1300" u="none" cap="none" strike="noStrike">
                <a:solidFill>
                  <a:srgbClr val="7C2D12"/>
                </a:solidFill>
                <a:latin typeface="Open Sans"/>
                <a:ea typeface="Open Sans"/>
                <a:cs typeface="Open Sans"/>
                <a:sym typeface="Open Sans"/>
              </a:rPr>
              <a:t> leaking from your business.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7" name="Google Shape;217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81805" y="5724144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8"/>
          <p:cNvSpPr txBox="1"/>
          <p:nvPr/>
        </p:nvSpPr>
        <p:spPr>
          <a:xfrm>
            <a:off x="4627625" y="5483100"/>
            <a:ext cx="64404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 txBox="1"/>
          <p:nvPr/>
        </p:nvSpPr>
        <p:spPr>
          <a:xfrm>
            <a:off x="11665915" y="6400800"/>
            <a:ext cx="152705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Montserrat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06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21" name="Google Shape;221;p8"/>
          <p:cNvPicPr preferRelativeResize="0"/>
          <p:nvPr/>
        </p:nvPicPr>
        <p:blipFill rotWithShape="1">
          <a:blip r:embed="rId7">
            <a:alphaModFix amt="5000"/>
          </a:blip>
          <a:srcRect b="-44745" l="0" r="0" t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8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F97316"/>
                </a:solidFill>
                <a:latin typeface="Montserrat"/>
                <a:ea typeface="Montserrat"/>
                <a:cs typeface="Montserrat"/>
                <a:sym typeface="Montserrat"/>
              </a:rPr>
              <a:t>Revenue Loss Calculation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8"/>
          <p:cNvSpPr txBox="1"/>
          <p:nvPr/>
        </p:nvSpPr>
        <p:spPr>
          <a:xfrm>
            <a:off x="381305" y="909828"/>
            <a:ext cx="2857500" cy="1448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Your Annual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Dormant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Revenue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381305" y="2635301"/>
            <a:ext cx="9144" cy="1619402"/>
          </a:xfrm>
          <a:prstGeom prst="rect">
            <a:avLst/>
          </a:prstGeom>
          <a:solidFill>
            <a:srgbClr val="FFFFFF">
              <a:alpha val="2000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8"/>
          <p:cNvSpPr txBox="1"/>
          <p:nvPr/>
        </p:nvSpPr>
        <p:spPr>
          <a:xfrm>
            <a:off x="580644" y="2635301"/>
            <a:ext cx="2658161" cy="495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This is the opportunity cost of silence.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 txBox="1"/>
          <p:nvPr/>
        </p:nvSpPr>
        <p:spPr>
          <a:xfrm>
            <a:off x="580644" y="3275381"/>
            <a:ext cx="2658161" cy="9811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While these customers aren't buying from you, their HVAC needs haven't disappeared. They are spending this money elsewhere.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8" name="Google Shape;228;p8"/>
          <p:cNvPicPr preferRelativeResize="0"/>
          <p:nvPr/>
        </p:nvPicPr>
        <p:blipFill rotWithShape="1">
          <a:blip r:embed="rId8">
            <a:alphaModFix amt="80000"/>
          </a:blip>
          <a:srcRect b="0" l="0" r="0" t="0"/>
          <a:stretch/>
        </p:blipFill>
        <p:spPr>
          <a:xfrm>
            <a:off x="381305" y="4251046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9"/>
          <p:cNvSpPr txBox="1"/>
          <p:nvPr/>
        </p:nvSpPr>
        <p:spPr>
          <a:xfrm>
            <a:off x="4190695" y="571500"/>
            <a:ext cx="7429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The Performance Gap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4190695" y="1947672"/>
            <a:ext cx="4324198" cy="3810305"/>
          </a:xfrm>
          <a:prstGeom prst="roundRect">
            <a:avLst>
              <a:gd fmla="val 1920" name="adj"/>
            </a:avLst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39" name="Google Shape;239;p9"/>
          <p:cNvPicPr preferRelativeResize="0"/>
          <p:nvPr/>
        </p:nvPicPr>
        <p:blipFill rotWithShape="1">
          <a:blip r:embed="rId3">
            <a:alphaModFix/>
          </a:blip>
          <a:srcRect b="0" l="-6" r="-6" t="0"/>
          <a:stretch/>
        </p:blipFill>
        <p:spPr>
          <a:xfrm>
            <a:off x="4381805" y="2138782"/>
            <a:ext cx="3943807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9"/>
          <p:cNvSpPr txBox="1"/>
          <p:nvPr/>
        </p:nvSpPr>
        <p:spPr>
          <a:xfrm>
            <a:off x="4381805" y="5662879"/>
            <a:ext cx="3943807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Open Sans"/>
              <a:buNone/>
            </a:pPr>
            <a:r>
              <a:rPr b="0" i="1" lang="en-US" sz="9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Annual Reactivation Rate (% of Dormant Base)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8991295" y="1410005"/>
            <a:ext cx="2628900" cy="1524305"/>
          </a:xfrm>
          <a:prstGeom prst="roundRect">
            <a:avLst>
              <a:gd fmla="val 8998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8991295" y="1410005"/>
            <a:ext cx="47549" cy="1524305"/>
          </a:xfrm>
          <a:prstGeom prst="roundRect">
            <a:avLst>
              <a:gd fmla="val 288460" name="adj"/>
            </a:avLst>
          </a:prstGeom>
          <a:solidFill>
            <a:srgbClr val="CBD5E1"/>
          </a:solidFill>
          <a:ln cap="flat" cmpd="sng" w="12700">
            <a:solidFill>
              <a:srgbClr val="CBD5E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9"/>
          <p:cNvSpPr txBox="1"/>
          <p:nvPr/>
        </p:nvSpPr>
        <p:spPr>
          <a:xfrm>
            <a:off x="9267444" y="1638605"/>
            <a:ext cx="2124151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Performance Gap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 txBox="1"/>
          <p:nvPr/>
        </p:nvSpPr>
        <p:spPr>
          <a:xfrm>
            <a:off x="9267444" y="1886407"/>
            <a:ext cx="2509114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700"/>
              <a:buFont typeface="Montserrat"/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7.5%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points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 txBox="1"/>
          <p:nvPr/>
        </p:nvSpPr>
        <p:spPr>
          <a:xfrm>
            <a:off x="9267444" y="2305202"/>
            <a:ext cx="2124151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You are performing at </a:t>
            </a:r>
            <a:r>
              <a:rPr b="1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~28%</a:t>
            </a: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of the industry standard.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8991295" y="3161995"/>
            <a:ext cx="2628900" cy="1524305"/>
          </a:xfrm>
          <a:prstGeom prst="roundRect">
            <a:avLst>
              <a:gd fmla="val 8998" name="adj"/>
            </a:avLst>
          </a:prstGeom>
          <a:solidFill>
            <a:srgbClr val="FFF7ED"/>
          </a:solidFill>
          <a:ln>
            <a:noFill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8991295" y="3161995"/>
            <a:ext cx="47549" cy="1524305"/>
          </a:xfrm>
          <a:prstGeom prst="roundRect">
            <a:avLst>
              <a:gd fmla="val 288460" name="adj"/>
            </a:avLst>
          </a:prstGeom>
          <a:solidFill>
            <a:srgbClr val="F97316"/>
          </a:solidFill>
          <a:ln cap="flat" cmpd="sng" w="12700">
            <a:solidFill>
              <a:srgbClr val="F9731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9"/>
          <p:cNvSpPr txBox="1"/>
          <p:nvPr/>
        </p:nvSpPr>
        <p:spPr>
          <a:xfrm>
            <a:off x="9267444" y="3390595"/>
            <a:ext cx="2124151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Annual Cost of Gap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 txBox="1"/>
          <p:nvPr/>
        </p:nvSpPr>
        <p:spPr>
          <a:xfrm>
            <a:off x="9267444" y="3638398"/>
            <a:ext cx="2124151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2700"/>
              <a:buFont typeface="Montserrat"/>
              <a:buNone/>
            </a:pPr>
            <a:r>
              <a:rPr b="1" i="0" lang="en-US" sz="2700" u="none" cap="none" strike="noStrike">
                <a:solidFill>
                  <a:srgbClr val="C2410C"/>
                </a:solidFill>
                <a:latin typeface="Montserrat"/>
                <a:ea typeface="Montserrat"/>
                <a:cs typeface="Montserrat"/>
                <a:sym typeface="Montserrat"/>
              </a:rPr>
              <a:t>$23,000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 txBox="1"/>
          <p:nvPr/>
        </p:nvSpPr>
        <p:spPr>
          <a:xfrm>
            <a:off x="9267444" y="4058107"/>
            <a:ext cx="2124151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In unrealized revenue compared to peers of your size.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8991295" y="4914900"/>
            <a:ext cx="2628900" cy="1380744"/>
          </a:xfrm>
          <a:prstGeom prst="roundRect">
            <a:avLst>
              <a:gd fmla="val 7308" name="adj"/>
            </a:avLst>
          </a:prstGeom>
          <a:solidFill>
            <a:srgbClr val="F1F5F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52" name="Google Shape;252;p9"/>
          <p:cNvPicPr preferRelativeResize="0"/>
          <p:nvPr/>
        </p:nvPicPr>
        <p:blipFill rotWithShape="1">
          <a:blip r:embed="rId4">
            <a:alphaModFix/>
          </a:blip>
          <a:srcRect b="0" l="-33" r="-33" t="0"/>
          <a:stretch/>
        </p:blipFill>
        <p:spPr>
          <a:xfrm>
            <a:off x="9182405" y="5143500"/>
            <a:ext cx="171907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9"/>
          <p:cNvSpPr txBox="1"/>
          <p:nvPr/>
        </p:nvSpPr>
        <p:spPr>
          <a:xfrm>
            <a:off x="9506102" y="5105095"/>
            <a:ext cx="1924812" cy="10003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Volume Reality:</a:t>
            </a:r>
            <a:r>
              <a:rPr b="0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Companies your size typically reactivate 115–175 dormant customers per year. You're currently on track to reactivate 43.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 txBox="1"/>
          <p:nvPr/>
        </p:nvSpPr>
        <p:spPr>
          <a:xfrm>
            <a:off x="11668658" y="6400800"/>
            <a:ext cx="143561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Montserrat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07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56" name="Google Shape;256;p9"/>
          <p:cNvPicPr preferRelativeResize="0"/>
          <p:nvPr/>
        </p:nvPicPr>
        <p:blipFill rotWithShape="1">
          <a:blip r:embed="rId5">
            <a:alphaModFix amt="5000"/>
          </a:blip>
          <a:srcRect b="-44745" l="0" r="0" t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9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F97316"/>
                </a:solidFill>
                <a:latin typeface="Montserrat"/>
                <a:ea typeface="Montserrat"/>
                <a:cs typeface="Montserrat"/>
                <a:sym typeface="Montserrat"/>
              </a:rPr>
              <a:t>Industry Benchmark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9"/>
          <p:cNvSpPr txBox="1"/>
          <p:nvPr/>
        </p:nvSpPr>
        <p:spPr>
          <a:xfrm>
            <a:off x="381305" y="909828"/>
            <a:ext cx="2857500" cy="9628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How You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Compare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381305" y="2155241"/>
            <a:ext cx="9144" cy="1218895"/>
          </a:xfrm>
          <a:prstGeom prst="rect">
            <a:avLst/>
          </a:prstGeom>
          <a:solidFill>
            <a:srgbClr val="FFFFFF">
              <a:alpha val="2000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9"/>
          <p:cNvSpPr txBox="1"/>
          <p:nvPr/>
        </p:nvSpPr>
        <p:spPr>
          <a:xfrm>
            <a:off x="580644" y="2155241"/>
            <a:ext cx="2658161" cy="12198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We compared your current reactivation performance against anonymized data from 140+ HVAC companies in the $2M-$10M revenue range.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2" name="Google Shape;262;p9"/>
          <p:cNvPicPr preferRelativeResize="0"/>
          <p:nvPr/>
        </p:nvPicPr>
        <p:blipFill rotWithShape="1">
          <a:blip r:embed="rId6">
            <a:alphaModFix amt="80000"/>
          </a:blip>
          <a:srcRect b="0" l="-57" r="-57" t="0"/>
          <a:stretch/>
        </p:blipFill>
        <p:spPr>
          <a:xfrm>
            <a:off x="381305" y="3374136"/>
            <a:ext cx="400507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0"/>
          <p:cNvSpPr txBox="1"/>
          <p:nvPr/>
        </p:nvSpPr>
        <p:spPr>
          <a:xfrm>
            <a:off x="4190695" y="728777"/>
            <a:ext cx="7429500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100"/>
              <a:buFont typeface="Montserrat"/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The Economics of Attention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2" name="Google Shape;272;p10"/>
          <p:cNvPicPr preferRelativeResize="0"/>
          <p:nvPr/>
        </p:nvPicPr>
        <p:blipFill rotWithShape="1">
          <a:blip r:embed="rId3">
            <a:alphaModFix/>
          </a:blip>
          <a:srcRect b="0" l="-4" r="-4" t="0"/>
          <a:stretch/>
        </p:blipFill>
        <p:spPr>
          <a:xfrm>
            <a:off x="4190695" y="1414577"/>
            <a:ext cx="7429500" cy="3619195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0"/>
          <p:cNvSpPr/>
          <p:nvPr/>
        </p:nvSpPr>
        <p:spPr>
          <a:xfrm>
            <a:off x="4200754" y="1423721"/>
            <a:ext cx="3705149" cy="3600907"/>
          </a:xfrm>
          <a:prstGeom prst="roundRect">
            <a:avLst>
              <a:gd fmla="val 2150" name="adj"/>
            </a:avLst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5672023" y="1805026"/>
            <a:ext cx="761695" cy="381305"/>
          </a:xfrm>
          <a:prstGeom prst="roundRect">
            <a:avLst>
              <a:gd fmla="val 239808" name="adj"/>
            </a:avLst>
          </a:prstGeom>
          <a:solidFill>
            <a:srgbClr val="F1F5F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75" name="Google Shape;275;p10"/>
          <p:cNvPicPr preferRelativeResize="0"/>
          <p:nvPr/>
        </p:nvPicPr>
        <p:blipFill rotWithShape="1">
          <a:blip r:embed="rId4">
            <a:alphaModFix/>
          </a:blip>
          <a:srcRect b="-24" l="0" r="0" t="-24"/>
          <a:stretch/>
        </p:blipFill>
        <p:spPr>
          <a:xfrm>
            <a:off x="5814670" y="1805026"/>
            <a:ext cx="476402" cy="38130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0"/>
          <p:cNvSpPr txBox="1"/>
          <p:nvPr/>
        </p:nvSpPr>
        <p:spPr>
          <a:xfrm>
            <a:off x="4868266" y="2376526"/>
            <a:ext cx="237195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Your Acquisition Focus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 txBox="1"/>
          <p:nvPr/>
        </p:nvSpPr>
        <p:spPr>
          <a:xfrm>
            <a:off x="5352898" y="2757830"/>
            <a:ext cx="1400861" cy="5340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4200"/>
              <a:buFont typeface="Montserrat"/>
              <a:buNone/>
            </a:pPr>
            <a:r>
              <a:rPr b="1" i="0" lang="en-US" sz="42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$500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 txBox="1"/>
          <p:nvPr/>
        </p:nvSpPr>
        <p:spPr>
          <a:xfrm>
            <a:off x="4981651" y="3366821"/>
            <a:ext cx="2150669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Cost Per New Customer (CAC)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 txBox="1"/>
          <p:nvPr/>
        </p:nvSpPr>
        <p:spPr>
          <a:xfrm>
            <a:off x="5335524" y="3781044"/>
            <a:ext cx="21717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Cold leads with zero trust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0" name="Google Shape;280;p10"/>
          <p:cNvPicPr preferRelativeResize="0"/>
          <p:nvPr/>
        </p:nvPicPr>
        <p:blipFill rotWithShape="1">
          <a:blip r:embed="rId5">
            <a:alphaModFix/>
          </a:blip>
          <a:srcRect b="0" l="-2512" r="-2512" t="0"/>
          <a:stretch/>
        </p:blipFill>
        <p:spPr>
          <a:xfrm>
            <a:off x="5195621" y="3807562"/>
            <a:ext cx="105156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0"/>
          <p:cNvSpPr txBox="1"/>
          <p:nvPr/>
        </p:nvSpPr>
        <p:spPr>
          <a:xfrm>
            <a:off x="5383073" y="4082796"/>
            <a:ext cx="2247595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Low conversion rates (2-3%)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2" name="Google Shape;282;p10"/>
          <p:cNvPicPr preferRelativeResize="0"/>
          <p:nvPr/>
        </p:nvPicPr>
        <p:blipFill rotWithShape="1">
          <a:blip r:embed="rId6">
            <a:alphaModFix/>
          </a:blip>
          <a:srcRect b="0" l="-837" r="-837" t="0"/>
          <a:stretch/>
        </p:blipFill>
        <p:spPr>
          <a:xfrm>
            <a:off x="5195621" y="4108399"/>
            <a:ext cx="152705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10"/>
          <p:cNvSpPr txBox="1"/>
          <p:nvPr/>
        </p:nvSpPr>
        <p:spPr>
          <a:xfrm>
            <a:off x="5402275" y="4383634"/>
            <a:ext cx="2092147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High competitive friction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4" name="Google Shape;284;p10"/>
          <p:cNvPicPr preferRelativeResize="0"/>
          <p:nvPr/>
        </p:nvPicPr>
        <p:blipFill rotWithShape="1">
          <a:blip r:embed="rId7">
            <a:alphaModFix/>
          </a:blip>
          <a:srcRect b="0" l="-1507" r="-1507" t="0"/>
          <a:stretch/>
        </p:blipFill>
        <p:spPr>
          <a:xfrm>
            <a:off x="5195621" y="4409237"/>
            <a:ext cx="171907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0"/>
          <p:cNvSpPr/>
          <p:nvPr/>
        </p:nvSpPr>
        <p:spPr>
          <a:xfrm>
            <a:off x="7905902" y="1423721"/>
            <a:ext cx="3705149" cy="3600907"/>
          </a:xfrm>
          <a:prstGeom prst="roundRect">
            <a:avLst>
              <a:gd fmla="val 2150" name="adj"/>
            </a:avLst>
          </a:prstGeom>
          <a:solidFill>
            <a:srgbClr val="FFF7ED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9377172" y="1805026"/>
            <a:ext cx="761695" cy="381305"/>
          </a:xfrm>
          <a:prstGeom prst="roundRect">
            <a:avLst>
              <a:gd fmla="val 239808" name="adj"/>
            </a:avLst>
          </a:prstGeom>
          <a:solidFill>
            <a:srgbClr val="F97316">
              <a:alpha val="14901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87" name="Google Shape;287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68282" y="1805026"/>
            <a:ext cx="381305" cy="381305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0"/>
          <p:cNvSpPr txBox="1"/>
          <p:nvPr/>
        </p:nvSpPr>
        <p:spPr>
          <a:xfrm>
            <a:off x="8494776" y="2376526"/>
            <a:ext cx="253380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C2410C"/>
                </a:solidFill>
                <a:latin typeface="Montserrat"/>
                <a:ea typeface="Montserrat"/>
                <a:cs typeface="Montserrat"/>
                <a:sym typeface="Montserrat"/>
              </a:rPr>
              <a:t>Competitor Reactivation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 txBox="1"/>
          <p:nvPr/>
        </p:nvSpPr>
        <p:spPr>
          <a:xfrm>
            <a:off x="9261958" y="2757830"/>
            <a:ext cx="1000354" cy="5340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4200"/>
              <a:buFont typeface="Montserrat"/>
              <a:buNone/>
            </a:pPr>
            <a:r>
              <a:rPr b="1" i="0" lang="en-US" sz="4200" u="none" cap="none" strike="noStrike">
                <a:solidFill>
                  <a:srgbClr val="C2410C"/>
                </a:solidFill>
                <a:latin typeface="Montserrat"/>
                <a:ea typeface="Montserrat"/>
                <a:cs typeface="Montserrat"/>
                <a:sym typeface="Montserrat"/>
              </a:rPr>
              <a:t>$75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 txBox="1"/>
          <p:nvPr/>
        </p:nvSpPr>
        <p:spPr>
          <a:xfrm>
            <a:off x="8925458" y="3366821"/>
            <a:ext cx="1672438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C2410C"/>
                </a:solidFill>
                <a:latin typeface="Open Sans"/>
                <a:ea typeface="Open Sans"/>
                <a:cs typeface="Open Sans"/>
                <a:sym typeface="Open Sans"/>
              </a:rPr>
              <a:t>Cost Per Reactivation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 txBox="1"/>
          <p:nvPr/>
        </p:nvSpPr>
        <p:spPr>
          <a:xfrm>
            <a:off x="9015984" y="3781044"/>
            <a:ext cx="1885493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They target YOUR past clients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2" name="Google Shape;292;p10"/>
          <p:cNvPicPr preferRelativeResize="0"/>
          <p:nvPr/>
        </p:nvPicPr>
        <p:blipFill rotWithShape="1">
          <a:blip r:embed="rId9">
            <a:alphaModFix/>
          </a:blip>
          <a:srcRect b="-1100" l="0" r="0" t="-1100"/>
          <a:stretch/>
        </p:blipFill>
        <p:spPr>
          <a:xfrm>
            <a:off x="8900770" y="3807562"/>
            <a:ext cx="114300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0"/>
          <p:cNvSpPr txBox="1"/>
          <p:nvPr/>
        </p:nvSpPr>
        <p:spPr>
          <a:xfrm>
            <a:off x="9049817" y="4269334"/>
            <a:ext cx="185166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Warmer intent &amp; trust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4" name="Google Shape;294;p10"/>
          <p:cNvPicPr preferRelativeResize="0"/>
          <p:nvPr/>
        </p:nvPicPr>
        <p:blipFill rotWithShape="1">
          <a:blip r:embed="rId9">
            <a:alphaModFix/>
          </a:blip>
          <a:srcRect b="-1100" l="0" r="0" t="-1100"/>
          <a:stretch/>
        </p:blipFill>
        <p:spPr>
          <a:xfrm>
            <a:off x="8900770" y="4294937"/>
            <a:ext cx="114300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0"/>
          <p:cNvSpPr txBox="1"/>
          <p:nvPr/>
        </p:nvSpPr>
        <p:spPr>
          <a:xfrm>
            <a:off x="9049817" y="4570171"/>
            <a:ext cx="185166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Faster sales cycle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6" name="Google Shape;296;p10"/>
          <p:cNvPicPr preferRelativeResize="0"/>
          <p:nvPr/>
        </p:nvPicPr>
        <p:blipFill rotWithShape="1">
          <a:blip r:embed="rId9">
            <a:alphaModFix/>
          </a:blip>
          <a:srcRect b="-1100" l="0" r="0" t="-1100"/>
          <a:stretch/>
        </p:blipFill>
        <p:spPr>
          <a:xfrm>
            <a:off x="8900770" y="4595774"/>
            <a:ext cx="114300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0"/>
          <p:cNvSpPr/>
          <p:nvPr/>
        </p:nvSpPr>
        <p:spPr>
          <a:xfrm>
            <a:off x="4190695" y="5319979"/>
            <a:ext cx="7429500" cy="809244"/>
          </a:xfrm>
          <a:prstGeom prst="roundRect">
            <a:avLst>
              <a:gd fmla="val 2127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4190695" y="5319979"/>
            <a:ext cx="38405" cy="809244"/>
          </a:xfrm>
          <a:prstGeom prst="roundRect">
            <a:avLst>
              <a:gd fmla="val 448177" name="adj"/>
            </a:avLst>
          </a:prstGeom>
          <a:solidFill>
            <a:srgbClr val="F97316"/>
          </a:solidFill>
          <a:ln cap="flat" cmpd="sng" w="12700">
            <a:solidFill>
              <a:srgbClr val="F9731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99" name="Google Shape;299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457700" y="560984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0"/>
          <p:cNvSpPr txBox="1"/>
          <p:nvPr/>
        </p:nvSpPr>
        <p:spPr>
          <a:xfrm>
            <a:off x="4876495" y="5510174"/>
            <a:ext cx="6515100" cy="428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Open San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Reality Check:</a:t>
            </a:r>
            <a:r>
              <a:rPr b="0" i="0" lang="en-US" sz="11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Your dormant customers don't stop needing HVAC service. They just start buying from someone else. Usually a competitor who simply stayes in touch.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 txBox="1"/>
          <p:nvPr/>
        </p:nvSpPr>
        <p:spPr>
          <a:xfrm>
            <a:off x="11662258" y="6400800"/>
            <a:ext cx="152705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Montserrat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08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03" name="Google Shape;303;p10"/>
          <p:cNvPicPr preferRelativeResize="0"/>
          <p:nvPr/>
        </p:nvPicPr>
        <p:blipFill rotWithShape="1">
          <a:blip r:embed="rId11">
            <a:alphaModFix amt="5000"/>
          </a:blip>
          <a:srcRect b="-44745" l="0" r="0" t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0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F97316"/>
                </a:solidFill>
                <a:latin typeface="Montserrat"/>
                <a:ea typeface="Montserrat"/>
                <a:cs typeface="Montserrat"/>
                <a:sym typeface="Montserrat"/>
              </a:rPr>
              <a:t>The Competitor Reality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0"/>
          <p:cNvSpPr txBox="1"/>
          <p:nvPr/>
        </p:nvSpPr>
        <p:spPr>
          <a:xfrm>
            <a:off x="381305" y="909828"/>
            <a:ext cx="2857500" cy="1448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While You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Chase New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Leads...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381305" y="2635301"/>
            <a:ext cx="9144" cy="1371600"/>
          </a:xfrm>
          <a:prstGeom prst="rect">
            <a:avLst/>
          </a:prstGeom>
          <a:solidFill>
            <a:srgbClr val="FFFFFF">
              <a:alpha val="2000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0"/>
          <p:cNvSpPr txBox="1"/>
          <p:nvPr/>
        </p:nvSpPr>
        <p:spPr>
          <a:xfrm>
            <a:off x="580644" y="2635301"/>
            <a:ext cx="2658161" cy="495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Your competitors aren't just outbidding you on Google Ads.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 txBox="1"/>
          <p:nvPr/>
        </p:nvSpPr>
        <p:spPr>
          <a:xfrm>
            <a:off x="580644" y="3275381"/>
            <a:ext cx="2658161" cy="734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They are quietly harvesting the low-hanging fruit that you planted, paid for, and then ignored.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0" name="Google Shape;310;p10"/>
          <p:cNvPicPr preferRelativeResize="0"/>
          <p:nvPr/>
        </p:nvPicPr>
        <p:blipFill rotWithShape="1">
          <a:blip r:embed="rId12">
            <a:alphaModFix amt="80000"/>
          </a:blip>
          <a:srcRect b="0" l="-80" r="-80" t="0"/>
          <a:stretch/>
        </p:blipFill>
        <p:spPr>
          <a:xfrm>
            <a:off x="381305" y="4006901"/>
            <a:ext cx="286207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1" name="Google Shape;311;p1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667244" y="2986430"/>
            <a:ext cx="476402" cy="476402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0"/>
          <p:cNvSpPr/>
          <p:nvPr/>
        </p:nvSpPr>
        <p:spPr>
          <a:xfrm>
            <a:off x="7667244" y="2986430"/>
            <a:ext cx="476402" cy="4764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1"/>
          <p:cNvSpPr txBox="1"/>
          <p:nvPr/>
        </p:nvSpPr>
        <p:spPr>
          <a:xfrm>
            <a:off x="4190695" y="571500"/>
            <a:ext cx="7429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It's Not What You Think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 txBox="1"/>
          <p:nvPr/>
        </p:nvSpPr>
        <p:spPr>
          <a:xfrm>
            <a:off x="4190695" y="1123798"/>
            <a:ext cx="7624267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Open Sans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Most businesses blame price or service. The data tells a different story.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3" name="Google Shape;323;p11"/>
          <p:cNvPicPr preferRelativeResize="0"/>
          <p:nvPr/>
        </p:nvPicPr>
        <p:blipFill rotWithShape="1">
          <a:blip r:embed="rId3">
            <a:alphaModFix/>
          </a:blip>
          <a:srcRect b="-6" l="0" r="0" t="-6"/>
          <a:stretch/>
        </p:blipFill>
        <p:spPr>
          <a:xfrm>
            <a:off x="4190695" y="2447849"/>
            <a:ext cx="3524098" cy="3810305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1"/>
          <p:cNvSpPr txBox="1"/>
          <p:nvPr/>
        </p:nvSpPr>
        <p:spPr>
          <a:xfrm>
            <a:off x="5624474" y="3924605"/>
            <a:ext cx="657454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Primary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Driver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 txBox="1"/>
          <p:nvPr/>
        </p:nvSpPr>
        <p:spPr>
          <a:xfrm>
            <a:off x="5624474" y="4324198"/>
            <a:ext cx="65745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F97316"/>
                </a:solidFill>
                <a:latin typeface="Montserrat"/>
                <a:ea typeface="Montserrat"/>
                <a:cs typeface="Montserrat"/>
                <a:sym typeface="Montserrat"/>
              </a:rPr>
              <a:t>62%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8096098" y="1762049"/>
            <a:ext cx="3524098" cy="761695"/>
          </a:xfrm>
          <a:prstGeom prst="roundRect">
            <a:avLst>
              <a:gd fmla="val 2401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8096098" y="1762049"/>
            <a:ext cx="38405" cy="761695"/>
          </a:xfrm>
          <a:prstGeom prst="roundRect">
            <a:avLst>
              <a:gd fmla="val 476188" name="adj"/>
            </a:avLst>
          </a:prstGeom>
          <a:solidFill>
            <a:srgbClr val="000000">
              <a:alpha val="0"/>
            </a:srgbClr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1"/>
          <p:cNvSpPr txBox="1"/>
          <p:nvPr/>
        </p:nvSpPr>
        <p:spPr>
          <a:xfrm>
            <a:off x="8324698" y="1969618"/>
            <a:ext cx="76261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8%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 txBox="1"/>
          <p:nvPr/>
        </p:nvSpPr>
        <p:spPr>
          <a:xfrm>
            <a:off x="9087307" y="1914754"/>
            <a:ext cx="2343607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Open Sans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Service Quality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 txBox="1"/>
          <p:nvPr/>
        </p:nvSpPr>
        <p:spPr>
          <a:xfrm>
            <a:off x="9087307" y="2180844"/>
            <a:ext cx="2343607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Unhappy with last service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8096098" y="2671877"/>
            <a:ext cx="3524098" cy="761695"/>
          </a:xfrm>
          <a:prstGeom prst="roundRect">
            <a:avLst>
              <a:gd fmla="val 2401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8096098" y="2671877"/>
            <a:ext cx="38405" cy="761695"/>
          </a:xfrm>
          <a:prstGeom prst="roundRect">
            <a:avLst>
              <a:gd fmla="val 476188" name="adj"/>
            </a:avLst>
          </a:prstGeom>
          <a:solidFill>
            <a:srgbClr val="000000">
              <a:alpha val="0"/>
            </a:srgbClr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1"/>
          <p:cNvSpPr txBox="1"/>
          <p:nvPr/>
        </p:nvSpPr>
        <p:spPr>
          <a:xfrm>
            <a:off x="8324698" y="2878531"/>
            <a:ext cx="76261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12%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 txBox="1"/>
          <p:nvPr/>
        </p:nvSpPr>
        <p:spPr>
          <a:xfrm>
            <a:off x="9087307" y="2824582"/>
            <a:ext cx="2343607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Open Sans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Moved Away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 txBox="1"/>
          <p:nvPr/>
        </p:nvSpPr>
        <p:spPr>
          <a:xfrm>
            <a:off x="9087307" y="3090672"/>
            <a:ext cx="2343607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No longer need local service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8096098" y="3581705"/>
            <a:ext cx="3524098" cy="761695"/>
          </a:xfrm>
          <a:prstGeom prst="roundRect">
            <a:avLst>
              <a:gd fmla="val 2401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1"/>
          <p:cNvSpPr/>
          <p:nvPr/>
        </p:nvSpPr>
        <p:spPr>
          <a:xfrm>
            <a:off x="8096098" y="3581705"/>
            <a:ext cx="38405" cy="761695"/>
          </a:xfrm>
          <a:prstGeom prst="roundRect">
            <a:avLst>
              <a:gd fmla="val 476188" name="adj"/>
            </a:avLst>
          </a:prstGeom>
          <a:solidFill>
            <a:srgbClr val="000000">
              <a:alpha val="0"/>
            </a:srgbClr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1"/>
          <p:cNvSpPr txBox="1"/>
          <p:nvPr/>
        </p:nvSpPr>
        <p:spPr>
          <a:xfrm>
            <a:off x="8324698" y="3788359"/>
            <a:ext cx="76261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18%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1"/>
          <p:cNvSpPr txBox="1"/>
          <p:nvPr/>
        </p:nvSpPr>
        <p:spPr>
          <a:xfrm>
            <a:off x="9087307" y="3733495"/>
            <a:ext cx="2343607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Open Sans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Price Shopping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1"/>
          <p:cNvSpPr txBox="1"/>
          <p:nvPr/>
        </p:nvSpPr>
        <p:spPr>
          <a:xfrm>
            <a:off x="9087307" y="4000500"/>
            <a:ext cx="2343607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Switched to cheaper competitor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8061350" y="4483303"/>
            <a:ext cx="3600907" cy="780898"/>
          </a:xfrm>
          <a:prstGeom prst="roundRect">
            <a:avLst>
              <a:gd fmla="val 22848" name="adj"/>
            </a:avLst>
          </a:prstGeom>
          <a:solidFill>
            <a:srgbClr val="FFF7ED"/>
          </a:solidFill>
          <a:ln>
            <a:noFill/>
          </a:ln>
          <a:effectLst>
            <a:outerShdw blurRad="114300" rotWithShape="0" algn="bl" dir="16200000" dist="38100">
              <a:srgbClr val="F97316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1"/>
          <p:cNvSpPr/>
          <p:nvPr/>
        </p:nvSpPr>
        <p:spPr>
          <a:xfrm>
            <a:off x="8061350" y="4483303"/>
            <a:ext cx="38405" cy="780898"/>
          </a:xfrm>
          <a:prstGeom prst="roundRect">
            <a:avLst>
              <a:gd fmla="val 464574" name="adj"/>
            </a:avLst>
          </a:prstGeom>
          <a:solidFill>
            <a:srgbClr val="F97316"/>
          </a:solidFill>
          <a:ln cap="flat" cmpd="sng" w="12700">
            <a:solidFill>
              <a:srgbClr val="F9731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1"/>
          <p:cNvSpPr txBox="1"/>
          <p:nvPr/>
        </p:nvSpPr>
        <p:spPr>
          <a:xfrm>
            <a:off x="8294522" y="4694530"/>
            <a:ext cx="781812" cy="3529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C2410C"/>
                </a:solidFill>
                <a:latin typeface="Montserrat"/>
                <a:ea typeface="Montserrat"/>
                <a:cs typeface="Montserrat"/>
                <a:sym typeface="Montserrat"/>
              </a:rPr>
              <a:t>62%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1"/>
          <p:cNvSpPr txBox="1"/>
          <p:nvPr/>
        </p:nvSpPr>
        <p:spPr>
          <a:xfrm>
            <a:off x="9071762" y="4638751"/>
            <a:ext cx="2553005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3412"/>
              </a:buClr>
              <a:buSzPts val="1200"/>
              <a:buFont typeface="Open Sans"/>
              <a:buNone/>
            </a:pPr>
            <a:r>
              <a:rPr b="1" i="0" lang="en-US" sz="1200" u="none" cap="none" strike="noStrike">
                <a:solidFill>
                  <a:srgbClr val="9A3412"/>
                </a:solidFill>
                <a:latin typeface="Open Sans"/>
                <a:ea typeface="Open Sans"/>
                <a:cs typeface="Open Sans"/>
                <a:sym typeface="Open Sans"/>
              </a:rPr>
              <a:t>Simply Forgot / No Contact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1"/>
          <p:cNvSpPr txBox="1"/>
          <p:nvPr/>
        </p:nvSpPr>
        <p:spPr>
          <a:xfrm>
            <a:off x="9071762" y="4911242"/>
            <a:ext cx="2391156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C2410C"/>
                </a:solidFill>
                <a:latin typeface="Open Sans"/>
                <a:ea typeface="Open Sans"/>
                <a:cs typeface="Open Sans"/>
                <a:sym typeface="Open Sans"/>
              </a:rPr>
              <a:t>Perceived indifference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1"/>
          <p:cNvSpPr/>
          <p:nvPr/>
        </p:nvSpPr>
        <p:spPr>
          <a:xfrm>
            <a:off x="8096098" y="5686654"/>
            <a:ext cx="3524098" cy="1257300"/>
          </a:xfrm>
          <a:prstGeom prst="roundRect">
            <a:avLst>
              <a:gd fmla="val 8815" name="adj"/>
            </a:avLst>
          </a:prstGeom>
          <a:solidFill>
            <a:srgbClr val="ECFDF5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47" name="Google Shape;34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96351" y="5905195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11"/>
          <p:cNvSpPr txBox="1"/>
          <p:nvPr/>
        </p:nvSpPr>
        <p:spPr>
          <a:xfrm>
            <a:off x="8639251" y="5886907"/>
            <a:ext cx="2781605" cy="8577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100"/>
              <a:buFont typeface="Open Sans"/>
              <a:buNone/>
            </a:pPr>
            <a:r>
              <a:rPr b="1" i="0" lang="en-US" sz="1100" u="none" cap="none" strike="noStrike">
                <a:solidFill>
                  <a:srgbClr val="065F46"/>
                </a:solidFill>
                <a:latin typeface="Open Sans"/>
                <a:ea typeface="Open Sans"/>
                <a:cs typeface="Open Sans"/>
                <a:sym typeface="Open Sans"/>
              </a:rPr>
              <a:t>The Good News:</a:t>
            </a:r>
            <a:r>
              <a:rPr b="0" i="0" lang="en-US" sz="1100" u="none" cap="none" strike="noStrike">
                <a:solidFill>
                  <a:srgbClr val="064E3B"/>
                </a:solidFill>
                <a:latin typeface="Open Sans"/>
                <a:ea typeface="Open Sans"/>
                <a:cs typeface="Open Sans"/>
                <a:sym typeface="Open Sans"/>
              </a:rPr>
              <a:t> Most dormant customers didn't leave because of a problem. They left because of </a:t>
            </a:r>
            <a:r>
              <a:rPr b="0" i="1" lang="en-US" sz="1100" u="none" cap="none" strike="noStrike">
                <a:solidFill>
                  <a:srgbClr val="064E3B"/>
                </a:solidFill>
                <a:latin typeface="Open Sans"/>
                <a:ea typeface="Open Sans"/>
                <a:cs typeface="Open Sans"/>
                <a:sym typeface="Open Sans"/>
              </a:rPr>
              <a:t>silence</a:t>
            </a:r>
            <a:r>
              <a:rPr b="0" i="0" lang="en-US" sz="1100" u="none" cap="none" strike="noStrike">
                <a:solidFill>
                  <a:srgbClr val="064E3B"/>
                </a:solidFill>
                <a:latin typeface="Open Sans"/>
                <a:ea typeface="Open Sans"/>
                <a:cs typeface="Open Sans"/>
                <a:sym typeface="Open Sans"/>
              </a:rPr>
              <a:t>. This means they are winnable.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1"/>
          <p:cNvSpPr txBox="1"/>
          <p:nvPr/>
        </p:nvSpPr>
        <p:spPr>
          <a:xfrm>
            <a:off x="11665915" y="6400800"/>
            <a:ext cx="152705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Montserrat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09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1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51" name="Google Shape;351;p11"/>
          <p:cNvPicPr preferRelativeResize="0"/>
          <p:nvPr/>
        </p:nvPicPr>
        <p:blipFill rotWithShape="1">
          <a:blip r:embed="rId5">
            <a:alphaModFix amt="5000"/>
          </a:blip>
          <a:srcRect b="-44745" l="0" r="0" t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11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F97316"/>
                </a:solidFill>
                <a:latin typeface="Montserrat"/>
                <a:ea typeface="Montserrat"/>
                <a:cs typeface="Montserrat"/>
                <a:sym typeface="Montserrat"/>
              </a:rPr>
              <a:t>Root Cause Analysis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1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1"/>
          <p:cNvSpPr txBox="1"/>
          <p:nvPr/>
        </p:nvSpPr>
        <p:spPr>
          <a:xfrm>
            <a:off x="381305" y="909828"/>
            <a:ext cx="2857500" cy="1448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Why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Customers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Go Dormant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1"/>
          <p:cNvSpPr/>
          <p:nvPr/>
        </p:nvSpPr>
        <p:spPr>
          <a:xfrm>
            <a:off x="381305" y="2635301"/>
            <a:ext cx="9144" cy="1619402"/>
          </a:xfrm>
          <a:prstGeom prst="rect">
            <a:avLst/>
          </a:prstGeom>
          <a:solidFill>
            <a:srgbClr val="FFFFFF">
              <a:alpha val="2000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1"/>
          <p:cNvSpPr txBox="1"/>
          <p:nvPr/>
        </p:nvSpPr>
        <p:spPr>
          <a:xfrm>
            <a:off x="580644" y="2635301"/>
            <a:ext cx="2658161" cy="9811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We surveyed customer behavior across the HVAC industry to understand the real reasons behind dormancy.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1"/>
          <p:cNvSpPr txBox="1"/>
          <p:nvPr/>
        </p:nvSpPr>
        <p:spPr>
          <a:xfrm>
            <a:off x="580644" y="3763670"/>
            <a:ext cx="2658161" cy="495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results contradict the common fear that "something went wrong."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8" name="Google Shape;358;p11"/>
          <p:cNvPicPr preferRelativeResize="0"/>
          <p:nvPr/>
        </p:nvPicPr>
        <p:blipFill rotWithShape="1">
          <a:blip r:embed="rId6">
            <a:alphaModFix amt="80000"/>
          </a:blip>
          <a:srcRect b="0" l="0" r="0" t="0"/>
          <a:stretch/>
        </p:blipFill>
        <p:spPr>
          <a:xfrm>
            <a:off x="381305" y="4251046"/>
            <a:ext cx="3429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2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2"/>
          <p:cNvSpPr txBox="1"/>
          <p:nvPr/>
        </p:nvSpPr>
        <p:spPr>
          <a:xfrm>
            <a:off x="4190695" y="476402"/>
            <a:ext cx="7429500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100"/>
              <a:buFont typeface="Montserrat"/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Projected Asset Decay (Next 12 Months)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2"/>
          <p:cNvSpPr/>
          <p:nvPr/>
        </p:nvSpPr>
        <p:spPr>
          <a:xfrm>
            <a:off x="4190695" y="1067105"/>
            <a:ext cx="7429500" cy="448056"/>
          </a:xfrm>
          <a:prstGeom prst="roundRect">
            <a:avLst>
              <a:gd fmla="val 69475" name="adj"/>
            </a:avLst>
          </a:prstGeom>
          <a:solidFill>
            <a:srgbClr val="FEF2F2"/>
          </a:solidFill>
          <a:ln cap="flat" cmpd="sng" w="12700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69" name="Google Shape;36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90949" y="1224382"/>
            <a:ext cx="133502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12"/>
          <p:cNvSpPr txBox="1"/>
          <p:nvPr/>
        </p:nvSpPr>
        <p:spPr>
          <a:xfrm>
            <a:off x="4638751" y="1067105"/>
            <a:ext cx="548640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991B1B"/>
                </a:solidFill>
                <a:latin typeface="Open Sans"/>
                <a:ea typeface="Open Sans"/>
                <a:cs typeface="Open Sans"/>
                <a:sym typeface="Open Sans"/>
              </a:rPr>
              <a:t>Projection assumes current 0% reactivation effort and standard industry churn rates.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2"/>
          <p:cNvSpPr/>
          <p:nvPr/>
        </p:nvSpPr>
        <p:spPr>
          <a:xfrm>
            <a:off x="4190695" y="1705356"/>
            <a:ext cx="7429500" cy="2943454"/>
          </a:xfrm>
          <a:prstGeom prst="roundRect">
            <a:avLst>
              <a:gd fmla="val 2413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72" name="Google Shape;372;p12"/>
          <p:cNvPicPr preferRelativeResize="0"/>
          <p:nvPr/>
        </p:nvPicPr>
        <p:blipFill rotWithShape="1">
          <a:blip r:embed="rId4">
            <a:alphaModFix/>
          </a:blip>
          <a:srcRect b="0" l="-8" r="-8" t="0"/>
          <a:stretch/>
        </p:blipFill>
        <p:spPr>
          <a:xfrm>
            <a:off x="4390949" y="1904695"/>
            <a:ext cx="7029907" cy="2542946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12"/>
          <p:cNvSpPr/>
          <p:nvPr/>
        </p:nvSpPr>
        <p:spPr>
          <a:xfrm>
            <a:off x="4190695" y="4934102"/>
            <a:ext cx="1524305" cy="1447495"/>
          </a:xfrm>
          <a:prstGeom prst="roundRect">
            <a:avLst>
              <a:gd fmla="val 997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4190695" y="4934102"/>
            <a:ext cx="1524305" cy="38405"/>
          </a:xfrm>
          <a:prstGeom prst="roundRect">
            <a:avLst>
              <a:gd fmla="val 375938" name="adj"/>
            </a:avLst>
          </a:prstGeom>
          <a:solidFill>
            <a:srgbClr val="CBD5E1"/>
          </a:solidFill>
          <a:ln cap="flat" cmpd="sng" w="12700">
            <a:solidFill>
              <a:srgbClr val="CBD5E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2"/>
          <p:cNvSpPr txBox="1"/>
          <p:nvPr/>
        </p:nvSpPr>
        <p:spPr>
          <a:xfrm>
            <a:off x="4381805" y="5162702"/>
            <a:ext cx="1143000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Month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2"/>
          <p:cNvSpPr txBox="1"/>
          <p:nvPr/>
        </p:nvSpPr>
        <p:spPr>
          <a:xfrm>
            <a:off x="4381805" y="5410505"/>
            <a:ext cx="1143000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100"/>
              <a:buFont typeface="Montserrat"/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+80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2"/>
          <p:cNvSpPr txBox="1"/>
          <p:nvPr/>
        </p:nvSpPr>
        <p:spPr>
          <a:xfrm>
            <a:off x="4381805" y="5848502"/>
            <a:ext cx="1143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New Dormant Customers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2"/>
          <p:cNvSpPr/>
          <p:nvPr/>
        </p:nvSpPr>
        <p:spPr>
          <a:xfrm>
            <a:off x="5905195" y="4934102"/>
            <a:ext cx="1524305" cy="1447495"/>
          </a:xfrm>
          <a:prstGeom prst="roundRect">
            <a:avLst>
              <a:gd fmla="val 9974" name="adj"/>
            </a:avLst>
          </a:prstGeom>
          <a:solidFill>
            <a:srgbClr val="FFF7ED"/>
          </a:solidFill>
          <a:ln>
            <a:noFill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2"/>
          <p:cNvSpPr/>
          <p:nvPr/>
        </p:nvSpPr>
        <p:spPr>
          <a:xfrm>
            <a:off x="5905195" y="4934102"/>
            <a:ext cx="1524305" cy="38405"/>
          </a:xfrm>
          <a:prstGeom prst="roundRect">
            <a:avLst>
              <a:gd fmla="val 375938" name="adj"/>
            </a:avLst>
          </a:prstGeom>
          <a:solidFill>
            <a:srgbClr val="F97316"/>
          </a:solidFill>
          <a:ln cap="flat" cmpd="sng" w="12700">
            <a:solidFill>
              <a:srgbClr val="F9731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2"/>
          <p:cNvSpPr txBox="1"/>
          <p:nvPr/>
        </p:nvSpPr>
        <p:spPr>
          <a:xfrm>
            <a:off x="6096305" y="5162702"/>
            <a:ext cx="1143000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Month 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2"/>
          <p:cNvSpPr txBox="1"/>
          <p:nvPr/>
        </p:nvSpPr>
        <p:spPr>
          <a:xfrm>
            <a:off x="6096305" y="5410505"/>
            <a:ext cx="1143000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100"/>
              <a:buFont typeface="Montserrat"/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+165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2"/>
          <p:cNvSpPr txBox="1"/>
          <p:nvPr/>
        </p:nvSpPr>
        <p:spPr>
          <a:xfrm>
            <a:off x="6096305" y="5848502"/>
            <a:ext cx="1143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New Dormant Customers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2"/>
          <p:cNvSpPr/>
          <p:nvPr/>
        </p:nvSpPr>
        <p:spPr>
          <a:xfrm>
            <a:off x="7619695" y="4934102"/>
            <a:ext cx="1524305" cy="1447495"/>
          </a:xfrm>
          <a:prstGeom prst="roundRect">
            <a:avLst>
              <a:gd fmla="val 9974" name="adj"/>
            </a:avLst>
          </a:prstGeom>
          <a:solidFill>
            <a:srgbClr val="FEF2F2"/>
          </a:solidFill>
          <a:ln>
            <a:noFill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2"/>
          <p:cNvSpPr/>
          <p:nvPr/>
        </p:nvSpPr>
        <p:spPr>
          <a:xfrm>
            <a:off x="7619695" y="4934102"/>
            <a:ext cx="1524305" cy="38405"/>
          </a:xfrm>
          <a:prstGeom prst="roundRect">
            <a:avLst>
              <a:gd fmla="val 375938" name="adj"/>
            </a:avLst>
          </a:prstGeom>
          <a:solidFill>
            <a:srgbClr val="EF4444"/>
          </a:solidFill>
          <a:ln cap="flat" cmpd="sng" w="12700">
            <a:solidFill>
              <a:srgbClr val="EF444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2"/>
          <p:cNvSpPr txBox="1"/>
          <p:nvPr/>
        </p:nvSpPr>
        <p:spPr>
          <a:xfrm>
            <a:off x="7810805" y="5162702"/>
            <a:ext cx="1143000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Month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2"/>
          <p:cNvSpPr txBox="1"/>
          <p:nvPr/>
        </p:nvSpPr>
        <p:spPr>
          <a:xfrm>
            <a:off x="7810805" y="5410505"/>
            <a:ext cx="1143000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2100"/>
              <a:buFont typeface="Montserrat"/>
              <a:buNone/>
            </a:pPr>
            <a:r>
              <a:rPr b="1" i="0" lang="en-US" sz="2100" u="none" cap="none" strike="noStrike">
                <a:solidFill>
                  <a:srgbClr val="B91C1C"/>
                </a:solidFill>
                <a:latin typeface="Montserrat"/>
                <a:ea typeface="Montserrat"/>
                <a:cs typeface="Montserrat"/>
                <a:sym typeface="Montserrat"/>
              </a:rPr>
              <a:t>+340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2"/>
          <p:cNvSpPr txBox="1"/>
          <p:nvPr/>
        </p:nvSpPr>
        <p:spPr>
          <a:xfrm>
            <a:off x="7810805" y="5848502"/>
            <a:ext cx="1143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New Dormant Customers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2"/>
          <p:cNvSpPr/>
          <p:nvPr/>
        </p:nvSpPr>
        <p:spPr>
          <a:xfrm>
            <a:off x="9334195" y="4934102"/>
            <a:ext cx="2286000" cy="1447495"/>
          </a:xfrm>
          <a:prstGeom prst="roundRect">
            <a:avLst>
              <a:gd fmla="val 9974" name="adj"/>
            </a:avLst>
          </a:prstGeom>
          <a:solidFill>
            <a:srgbClr val="7F1D1D"/>
          </a:solidFill>
          <a:ln>
            <a:noFill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2"/>
          <p:cNvSpPr/>
          <p:nvPr/>
        </p:nvSpPr>
        <p:spPr>
          <a:xfrm>
            <a:off x="9334195" y="4934102"/>
            <a:ext cx="2286000" cy="38405"/>
          </a:xfrm>
          <a:prstGeom prst="roundRect">
            <a:avLst>
              <a:gd fmla="val 375938" name="adj"/>
            </a:avLst>
          </a:prstGeom>
          <a:solidFill>
            <a:srgbClr val="EF4444"/>
          </a:solidFill>
          <a:ln cap="flat" cmpd="sng" w="12700">
            <a:solidFill>
              <a:srgbClr val="EF444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2"/>
          <p:cNvSpPr txBox="1"/>
          <p:nvPr/>
        </p:nvSpPr>
        <p:spPr>
          <a:xfrm>
            <a:off x="9525305" y="5191049"/>
            <a:ext cx="1905610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FCA5A5"/>
                </a:solidFill>
                <a:latin typeface="Open Sans"/>
                <a:ea typeface="Open Sans"/>
                <a:cs typeface="Open Sans"/>
                <a:sym typeface="Open Sans"/>
              </a:rPr>
              <a:t>Cumulative Revenue Loss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2"/>
          <p:cNvSpPr txBox="1"/>
          <p:nvPr/>
        </p:nvSpPr>
        <p:spPr>
          <a:xfrm>
            <a:off x="9525305" y="5438851"/>
            <a:ext cx="2066544" cy="514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Montserrat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$156,000+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2"/>
          <p:cNvSpPr txBox="1"/>
          <p:nvPr/>
        </p:nvSpPr>
        <p:spPr>
          <a:xfrm>
            <a:off x="9525305" y="5991149"/>
            <a:ext cx="1905610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FCA5A5"/>
                </a:solidFill>
                <a:latin typeface="Open Sans"/>
                <a:ea typeface="Open Sans"/>
                <a:cs typeface="Open Sans"/>
                <a:sym typeface="Open Sans"/>
              </a:rPr>
              <a:t>In Annualized Value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2"/>
          <p:cNvSpPr txBox="1"/>
          <p:nvPr/>
        </p:nvSpPr>
        <p:spPr>
          <a:xfrm>
            <a:off x="11694262" y="6400800"/>
            <a:ext cx="15636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Montserrat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2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95" name="Google Shape;395;p12"/>
          <p:cNvPicPr preferRelativeResize="0"/>
          <p:nvPr/>
        </p:nvPicPr>
        <p:blipFill rotWithShape="1">
          <a:blip r:embed="rId5">
            <a:alphaModFix amt="5000"/>
          </a:blip>
          <a:srcRect b="-44745" l="0" r="0" t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12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Montserrat"/>
                <a:ea typeface="Montserrat"/>
                <a:cs typeface="Montserrat"/>
                <a:sym typeface="Montserrat"/>
              </a:rPr>
              <a:t>Future Projection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2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2"/>
          <p:cNvSpPr txBox="1"/>
          <p:nvPr/>
        </p:nvSpPr>
        <p:spPr>
          <a:xfrm>
            <a:off x="381305" y="909828"/>
            <a:ext cx="2857500" cy="9628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If Nothing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Changes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2"/>
          <p:cNvSpPr/>
          <p:nvPr/>
        </p:nvSpPr>
        <p:spPr>
          <a:xfrm>
            <a:off x="381305" y="2155241"/>
            <a:ext cx="9144" cy="2257654"/>
          </a:xfrm>
          <a:prstGeom prst="rect">
            <a:avLst/>
          </a:prstGeom>
          <a:solidFill>
            <a:srgbClr val="FFFFFF">
              <a:alpha val="2000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2"/>
          <p:cNvSpPr txBox="1"/>
          <p:nvPr/>
        </p:nvSpPr>
        <p:spPr>
          <a:xfrm>
            <a:off x="580644" y="2155241"/>
            <a:ext cx="2658161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Dormancy is progressive.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2"/>
          <p:cNvSpPr txBox="1"/>
          <p:nvPr/>
        </p:nvSpPr>
        <p:spPr>
          <a:xfrm>
            <a:off x="580644" y="2552090"/>
            <a:ext cx="2658161" cy="734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Today's "At-Risk" customers will become next month's "Dormant" customers.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2"/>
          <p:cNvSpPr txBox="1"/>
          <p:nvPr/>
        </p:nvSpPr>
        <p:spPr>
          <a:xfrm>
            <a:off x="580644" y="3435401"/>
            <a:ext cx="2658161" cy="9811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Without intervention, the natural churn rate of your database compounds rapidly over the next year.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3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3"/>
          <p:cNvSpPr txBox="1"/>
          <p:nvPr/>
        </p:nvSpPr>
        <p:spPr>
          <a:xfrm>
            <a:off x="4190695" y="476402"/>
            <a:ext cx="7429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Reactivation Potential: </a:t>
            </a:r>
            <a:r>
              <a:rPr b="1" i="0" lang="en-US" sz="2400" u="none" cap="none" strike="noStrike">
                <a:solidFill>
                  <a:srgbClr val="059669"/>
                </a:solidFill>
                <a:latin typeface="Montserrat"/>
                <a:ea typeface="Montserrat"/>
                <a:cs typeface="Montserrat"/>
                <a:sym typeface="Montserrat"/>
              </a:rPr>
              <a:t>Top 20%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3"/>
          <p:cNvSpPr/>
          <p:nvPr/>
        </p:nvSpPr>
        <p:spPr>
          <a:xfrm>
            <a:off x="4190695" y="2090318"/>
            <a:ext cx="3429000" cy="3810305"/>
          </a:xfrm>
          <a:prstGeom prst="roundRect">
            <a:avLst>
              <a:gd fmla="val 2370" name="adj"/>
            </a:avLst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13" name="Google Shape;413;p13"/>
          <p:cNvPicPr preferRelativeResize="0"/>
          <p:nvPr/>
        </p:nvPicPr>
        <p:blipFill rotWithShape="1">
          <a:blip r:embed="rId3">
            <a:alphaModFix/>
          </a:blip>
          <a:srcRect b="0" l="-8" r="-8" t="0"/>
          <a:stretch/>
        </p:blipFill>
        <p:spPr>
          <a:xfrm>
            <a:off x="4476902" y="2276856"/>
            <a:ext cx="2857500" cy="1904695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13"/>
          <p:cNvSpPr txBox="1"/>
          <p:nvPr/>
        </p:nvSpPr>
        <p:spPr>
          <a:xfrm>
            <a:off x="4884725" y="3571646"/>
            <a:ext cx="2047342" cy="6099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4800"/>
              <a:buFont typeface="Montserrat"/>
              <a:buNone/>
            </a:pPr>
            <a:r>
              <a:rPr b="1" i="0" lang="en-US" sz="48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8.2</a:t>
            </a:r>
            <a:r>
              <a:rPr b="1" i="0" lang="en-US" sz="18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/10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3"/>
          <p:cNvSpPr/>
          <p:nvPr/>
        </p:nvSpPr>
        <p:spPr>
          <a:xfrm>
            <a:off x="4751222" y="4466844"/>
            <a:ext cx="2314346" cy="314554"/>
          </a:xfrm>
          <a:prstGeom prst="roundRect">
            <a:avLst>
              <a:gd fmla="val 290697" name="adj"/>
            </a:avLst>
          </a:prstGeom>
          <a:solidFill>
            <a:srgbClr val="ECFDF5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3"/>
          <p:cNvSpPr/>
          <p:nvPr/>
        </p:nvSpPr>
        <p:spPr>
          <a:xfrm>
            <a:off x="4751222" y="4466844"/>
            <a:ext cx="2315261" cy="314554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500" lIns="152400" spcFirstLastPara="1" rIns="152400" wrap="square" tIns="63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Montserrat"/>
              <a:buNone/>
            </a:pPr>
            <a:r>
              <a:rPr b="1" i="0" lang="en-US" sz="1000" u="none" cap="none" strike="noStrike">
                <a:solidFill>
                  <a:srgbClr val="10B981"/>
                </a:solidFill>
                <a:latin typeface="Montserrat"/>
                <a:ea typeface="Montserrat"/>
                <a:cs typeface="Montserrat"/>
                <a:sym typeface="Montserrat"/>
              </a:rPr>
              <a:t>Excellent Potential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3"/>
          <p:cNvSpPr txBox="1"/>
          <p:nvPr/>
        </p:nvSpPr>
        <p:spPr>
          <a:xfrm>
            <a:off x="4762195" y="4972507"/>
            <a:ext cx="2286000" cy="7434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Your database health and market position put you in the </a:t>
            </a: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top 20%</a:t>
            </a:r>
            <a:r>
              <a:rPr b="0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of HVAC businesses for reactivation opportunity.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3"/>
          <p:cNvSpPr/>
          <p:nvPr/>
        </p:nvSpPr>
        <p:spPr>
          <a:xfrm>
            <a:off x="8096098" y="1314907"/>
            <a:ext cx="3524098" cy="1019556"/>
          </a:xfrm>
          <a:prstGeom prst="roundRect">
            <a:avLst>
              <a:gd fmla="val 2011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3"/>
          <p:cNvSpPr/>
          <p:nvPr/>
        </p:nvSpPr>
        <p:spPr>
          <a:xfrm>
            <a:off x="8096098" y="1314907"/>
            <a:ext cx="38405" cy="1019556"/>
          </a:xfrm>
          <a:prstGeom prst="roundRect">
            <a:avLst>
              <a:gd fmla="val 534043" name="adj"/>
            </a:avLst>
          </a:prstGeom>
          <a:solidFill>
            <a:srgbClr val="10B981"/>
          </a:solidFill>
          <a:ln cap="flat" cmpd="sng" w="12700">
            <a:solidFill>
              <a:srgbClr val="10B98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3"/>
          <p:cNvSpPr/>
          <p:nvPr/>
        </p:nvSpPr>
        <p:spPr>
          <a:xfrm>
            <a:off x="8324698" y="1595628"/>
            <a:ext cx="457200" cy="457200"/>
          </a:xfrm>
          <a:prstGeom prst="ellipse">
            <a:avLst/>
          </a:prstGeom>
          <a:solidFill>
            <a:srgbClr val="ECFDF5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21" name="Google Shape;421;p13"/>
          <p:cNvPicPr preferRelativeResize="0"/>
          <p:nvPr/>
        </p:nvPicPr>
        <p:blipFill rotWithShape="1">
          <a:blip r:embed="rId4">
            <a:alphaModFix/>
          </a:blip>
          <a:srcRect b="0" l="-1648" r="-1648" t="0"/>
          <a:stretch/>
        </p:blipFill>
        <p:spPr>
          <a:xfrm>
            <a:off x="8467344" y="1729130"/>
            <a:ext cx="171907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13"/>
          <p:cNvSpPr txBox="1"/>
          <p:nvPr/>
        </p:nvSpPr>
        <p:spPr>
          <a:xfrm>
            <a:off x="8973007" y="1505102"/>
            <a:ext cx="216255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Database Quality: High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3"/>
          <p:cNvSpPr txBox="1"/>
          <p:nvPr/>
        </p:nvSpPr>
        <p:spPr>
          <a:xfrm>
            <a:off x="8973007" y="1772107"/>
            <a:ext cx="2076602" cy="372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Recent service history and valid contact info for 85%+ of records.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4" name="Google Shape;424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39805" y="1723644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13"/>
          <p:cNvSpPr/>
          <p:nvPr/>
        </p:nvSpPr>
        <p:spPr>
          <a:xfrm>
            <a:off x="8096098" y="2486254"/>
            <a:ext cx="3524098" cy="1248156"/>
          </a:xfrm>
          <a:prstGeom prst="roundRect">
            <a:avLst>
              <a:gd fmla="val 1342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3"/>
          <p:cNvSpPr/>
          <p:nvPr/>
        </p:nvSpPr>
        <p:spPr>
          <a:xfrm>
            <a:off x="8096098" y="2486254"/>
            <a:ext cx="38405" cy="1248156"/>
          </a:xfrm>
          <a:prstGeom prst="roundRect">
            <a:avLst>
              <a:gd fmla="val 436203" name="adj"/>
            </a:avLst>
          </a:prstGeom>
          <a:solidFill>
            <a:srgbClr val="10B981"/>
          </a:solidFill>
          <a:ln cap="flat" cmpd="sng" w="12700">
            <a:solidFill>
              <a:srgbClr val="10B98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3"/>
          <p:cNvSpPr/>
          <p:nvPr/>
        </p:nvSpPr>
        <p:spPr>
          <a:xfrm>
            <a:off x="8324698" y="2881274"/>
            <a:ext cx="457200" cy="457200"/>
          </a:xfrm>
          <a:prstGeom prst="ellipse">
            <a:avLst/>
          </a:prstGeom>
          <a:solidFill>
            <a:srgbClr val="ECFDF5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28" name="Google Shape;428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58200" y="3014777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13"/>
          <p:cNvSpPr txBox="1"/>
          <p:nvPr/>
        </p:nvSpPr>
        <p:spPr>
          <a:xfrm>
            <a:off x="8973007" y="2676449"/>
            <a:ext cx="207660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Customer Value: Above Avg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3"/>
          <p:cNvSpPr txBox="1"/>
          <p:nvPr/>
        </p:nvSpPr>
        <p:spPr>
          <a:xfrm>
            <a:off x="8973007" y="3172054"/>
            <a:ext cx="2076602" cy="372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Your average ticket and LTV exceed regional industry benchmarks.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1" name="Google Shape;43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39805" y="3010205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13"/>
          <p:cNvSpPr/>
          <p:nvPr/>
        </p:nvSpPr>
        <p:spPr>
          <a:xfrm>
            <a:off x="8096098" y="3886200"/>
            <a:ext cx="3524098" cy="1209751"/>
          </a:xfrm>
          <a:prstGeom prst="roundRect">
            <a:avLst>
              <a:gd fmla="val 1428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3"/>
          <p:cNvSpPr/>
          <p:nvPr/>
        </p:nvSpPr>
        <p:spPr>
          <a:xfrm>
            <a:off x="8096098" y="3886200"/>
            <a:ext cx="38405" cy="1209751"/>
          </a:xfrm>
          <a:prstGeom prst="roundRect">
            <a:avLst>
              <a:gd fmla="val 449941" name="adj"/>
            </a:avLst>
          </a:prstGeom>
          <a:solidFill>
            <a:srgbClr val="10B981"/>
          </a:solidFill>
          <a:ln cap="flat" cmpd="sng" w="12700">
            <a:solidFill>
              <a:srgbClr val="10B98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3"/>
          <p:cNvSpPr/>
          <p:nvPr/>
        </p:nvSpPr>
        <p:spPr>
          <a:xfrm>
            <a:off x="8324698" y="4260190"/>
            <a:ext cx="457200" cy="457200"/>
          </a:xfrm>
          <a:prstGeom prst="ellipse">
            <a:avLst/>
          </a:prstGeom>
          <a:solidFill>
            <a:srgbClr val="ECFDF5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35" name="Google Shape;435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58200" y="4393692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13"/>
          <p:cNvSpPr txBox="1"/>
          <p:nvPr/>
        </p:nvSpPr>
        <p:spPr>
          <a:xfrm>
            <a:off x="8973007" y="4076395"/>
            <a:ext cx="225673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Service Variety: Strong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3"/>
          <p:cNvSpPr txBox="1"/>
          <p:nvPr/>
        </p:nvSpPr>
        <p:spPr>
          <a:xfrm>
            <a:off x="8973007" y="4343400"/>
            <a:ext cx="2076602" cy="5623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Multiple entry points (Install, Maintenance, Repair) increase win-back odds.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8" name="Google Shape;43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39805" y="4388206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13"/>
          <p:cNvSpPr/>
          <p:nvPr/>
        </p:nvSpPr>
        <p:spPr>
          <a:xfrm>
            <a:off x="8096098" y="5243170"/>
            <a:ext cx="3524098" cy="1438351"/>
          </a:xfrm>
          <a:prstGeom prst="roundRect">
            <a:avLst>
              <a:gd fmla="val 1010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3"/>
          <p:cNvSpPr/>
          <p:nvPr/>
        </p:nvSpPr>
        <p:spPr>
          <a:xfrm>
            <a:off x="8096098" y="5243170"/>
            <a:ext cx="38405" cy="1438351"/>
          </a:xfrm>
          <a:prstGeom prst="roundRect">
            <a:avLst>
              <a:gd fmla="val 378428" name="adj"/>
            </a:avLst>
          </a:prstGeom>
          <a:solidFill>
            <a:srgbClr val="10B981"/>
          </a:solidFill>
          <a:ln cap="flat" cmpd="sng" w="12700">
            <a:solidFill>
              <a:srgbClr val="10B98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3"/>
          <p:cNvSpPr/>
          <p:nvPr/>
        </p:nvSpPr>
        <p:spPr>
          <a:xfrm>
            <a:off x="8324698" y="5731459"/>
            <a:ext cx="457200" cy="457200"/>
          </a:xfrm>
          <a:prstGeom prst="ellipse">
            <a:avLst/>
          </a:prstGeom>
          <a:solidFill>
            <a:srgbClr val="ECFDF5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42" name="Google Shape;442;p13"/>
          <p:cNvPicPr preferRelativeResize="0"/>
          <p:nvPr/>
        </p:nvPicPr>
        <p:blipFill rotWithShape="1">
          <a:blip r:embed="rId8">
            <a:alphaModFix/>
          </a:blip>
          <a:srcRect b="0" l="-1282" r="-1282" t="0"/>
          <a:stretch/>
        </p:blipFill>
        <p:spPr>
          <a:xfrm>
            <a:off x="8443570" y="5864962"/>
            <a:ext cx="219456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13"/>
          <p:cNvSpPr txBox="1"/>
          <p:nvPr/>
        </p:nvSpPr>
        <p:spPr>
          <a:xfrm>
            <a:off x="8973007" y="5434279"/>
            <a:ext cx="207660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Brand Recognition: Established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3"/>
          <p:cNvSpPr txBox="1"/>
          <p:nvPr/>
        </p:nvSpPr>
        <p:spPr>
          <a:xfrm>
            <a:off x="8973007" y="5928970"/>
            <a:ext cx="2076602" cy="5623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Long-standing local presence means "warm" reactivation is easier.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5" name="Google Shape;445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39805" y="5860390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13"/>
          <p:cNvSpPr txBox="1"/>
          <p:nvPr/>
        </p:nvSpPr>
        <p:spPr>
          <a:xfrm>
            <a:off x="11728094" y="6400800"/>
            <a:ext cx="14173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Montserrat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3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48" name="Google Shape;448;p13"/>
          <p:cNvPicPr preferRelativeResize="0"/>
          <p:nvPr/>
        </p:nvPicPr>
        <p:blipFill rotWithShape="1">
          <a:blip r:embed="rId9">
            <a:alphaModFix amt="5000"/>
          </a:blip>
          <a:srcRect b="-44745" l="0" r="0" t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13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10B981"/>
                </a:solidFill>
                <a:latin typeface="Montserrat"/>
                <a:ea typeface="Montserrat"/>
                <a:cs typeface="Montserrat"/>
                <a:sym typeface="Montserrat"/>
              </a:rPr>
              <a:t>Opportunity Analysis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3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3"/>
          <p:cNvSpPr txBox="1"/>
          <p:nvPr/>
        </p:nvSpPr>
        <p:spPr>
          <a:xfrm>
            <a:off x="381305" y="909828"/>
            <a:ext cx="2857500" cy="1448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Your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Reactivation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Score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3"/>
          <p:cNvSpPr/>
          <p:nvPr/>
        </p:nvSpPr>
        <p:spPr>
          <a:xfrm>
            <a:off x="381305" y="2635301"/>
            <a:ext cx="9144" cy="1371600"/>
          </a:xfrm>
          <a:prstGeom prst="rect">
            <a:avLst/>
          </a:prstGeom>
          <a:solidFill>
            <a:srgbClr val="FFFFFF">
              <a:alpha val="2000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3"/>
          <p:cNvSpPr txBox="1"/>
          <p:nvPr/>
        </p:nvSpPr>
        <p:spPr>
          <a:xfrm>
            <a:off x="580644" y="2635301"/>
            <a:ext cx="2658161" cy="495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We've analyzed your database against 4 key success indicators.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3"/>
          <p:cNvSpPr txBox="1"/>
          <p:nvPr/>
        </p:nvSpPr>
        <p:spPr>
          <a:xfrm>
            <a:off x="580644" y="3275381"/>
            <a:ext cx="2658161" cy="734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This score indicates the probability of successfully reactivating dormant revenue in the first 90 days.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5" name="Google Shape;455;p13"/>
          <p:cNvPicPr preferRelativeResize="0"/>
          <p:nvPr/>
        </p:nvPicPr>
        <p:blipFill rotWithShape="1">
          <a:blip r:embed="rId10">
            <a:alphaModFix amt="80000"/>
          </a:blip>
          <a:srcRect b="0" l="0" r="0" t="0"/>
          <a:stretch/>
        </p:blipFill>
        <p:spPr>
          <a:xfrm>
            <a:off x="381305" y="4006901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4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4"/>
          <p:cNvSpPr txBox="1"/>
          <p:nvPr/>
        </p:nvSpPr>
        <p:spPr>
          <a:xfrm>
            <a:off x="4190695" y="476402"/>
            <a:ext cx="7429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Highest-Probability Reactivation List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4"/>
          <p:cNvSpPr/>
          <p:nvPr/>
        </p:nvSpPr>
        <p:spPr>
          <a:xfrm>
            <a:off x="4190695" y="1162202"/>
            <a:ext cx="7429500" cy="733349"/>
          </a:xfrm>
          <a:prstGeom prst="roundRect">
            <a:avLst>
              <a:gd fmla="val 12955" name="adj"/>
            </a:avLst>
          </a:prstGeom>
          <a:solidFill>
            <a:srgbClr val="FFF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4"/>
          <p:cNvSpPr/>
          <p:nvPr/>
        </p:nvSpPr>
        <p:spPr>
          <a:xfrm>
            <a:off x="4190695" y="1162202"/>
            <a:ext cx="38405" cy="733349"/>
          </a:xfrm>
          <a:prstGeom prst="roundRect">
            <a:avLst>
              <a:gd fmla="val 247370" name="adj"/>
            </a:avLst>
          </a:prstGeom>
          <a:solidFill>
            <a:srgbClr val="F97316"/>
          </a:solidFill>
          <a:ln cap="flat" cmpd="sng" w="12700">
            <a:solidFill>
              <a:srgbClr val="F9731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67" name="Google Shape;46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57700" y="1433779"/>
            <a:ext cx="142646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14"/>
          <p:cNvSpPr txBox="1"/>
          <p:nvPr/>
        </p:nvSpPr>
        <p:spPr>
          <a:xfrm>
            <a:off x="4753051" y="1314907"/>
            <a:ext cx="6639458" cy="428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3412"/>
              </a:buClr>
              <a:buSzPts val="1100"/>
              <a:buFont typeface="Open Sans"/>
              <a:buNone/>
            </a:pPr>
            <a:r>
              <a:rPr b="1" i="0" lang="en-US" sz="1100" u="none" cap="none" strike="noStrike">
                <a:solidFill>
                  <a:srgbClr val="9A3412"/>
                </a:solidFill>
                <a:latin typeface="Open Sans"/>
                <a:ea typeface="Open Sans"/>
                <a:cs typeface="Open Sans"/>
                <a:sym typeface="Open Sans"/>
              </a:rPr>
              <a:t>The Pareto Principle in Action:</a:t>
            </a:r>
            <a:r>
              <a:rPr b="0" i="0" lang="en-US" sz="1100" u="none" cap="none" strike="noStrike">
                <a:solidFill>
                  <a:srgbClr val="9A3412"/>
                </a:solidFill>
                <a:latin typeface="Open Sans"/>
                <a:ea typeface="Open Sans"/>
                <a:cs typeface="Open Sans"/>
                <a:sym typeface="Open Sans"/>
              </a:rPr>
              <a:t> These top 200 customers represent </a:t>
            </a:r>
            <a:r>
              <a:rPr b="1" i="0" lang="en-US" sz="1100" u="none" cap="none" strike="noStrike">
                <a:solidFill>
                  <a:srgbClr val="9A3412"/>
                </a:solidFill>
                <a:latin typeface="Open Sans"/>
                <a:ea typeface="Open Sans"/>
                <a:cs typeface="Open Sans"/>
                <a:sym typeface="Open Sans"/>
              </a:rPr>
              <a:t>65%</a:t>
            </a:r>
            <a:r>
              <a:rPr b="0" i="0" lang="en-US" sz="1100" u="none" cap="none" strike="noStrike">
                <a:solidFill>
                  <a:srgbClr val="9A3412"/>
                </a:solidFill>
                <a:latin typeface="Open Sans"/>
                <a:ea typeface="Open Sans"/>
                <a:cs typeface="Open Sans"/>
                <a:sym typeface="Open Sans"/>
              </a:rPr>
              <a:t> of your total reactivation opportunity value.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4"/>
          <p:cNvSpPr/>
          <p:nvPr/>
        </p:nvSpPr>
        <p:spPr>
          <a:xfrm>
            <a:off x="4190695" y="2180844"/>
            <a:ext cx="7429500" cy="3629254"/>
          </a:xfrm>
          <a:prstGeom prst="roundRect">
            <a:avLst>
              <a:gd fmla="val 158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70" name="Google Shape;470;p14"/>
          <p:cNvGraphicFramePr/>
          <p:nvPr/>
        </p:nvGraphicFramePr>
        <p:xfrm>
          <a:off x="4200754" y="21909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{E26D97D9-A005-44BA-9A1F-D8414E424414}</a:tableStyleId>
              </a:tblPr>
              <a:tblGrid>
                <a:gridCol w="1315825"/>
                <a:gridCol w="1402700"/>
                <a:gridCol w="1615750"/>
                <a:gridCol w="1344175"/>
                <a:gridCol w="1731875"/>
              </a:tblGrid>
              <a:tr h="64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Montserrat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64748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CUSTOMER ID</a:t>
                      </a:r>
                      <a:endParaRPr sz="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Montserrat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64748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LAST PURCHASE</a:t>
                      </a:r>
                      <a:endParaRPr sz="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Montserrat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64748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LAST SERVICE TYPE</a:t>
                      </a:r>
                      <a:endParaRPr sz="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Montserrat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64748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LIFETIME VALUE</a:t>
                      </a:r>
                      <a:endParaRPr sz="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Montserrat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64748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REACTIVATION SCORE</a:t>
                      </a:r>
                      <a:endParaRPr sz="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64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Montserrat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341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#1847</a:t>
                      </a:r>
                      <a:endParaRPr sz="10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Open Sans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18 months ago</a:t>
                      </a:r>
                      <a:endParaRPr sz="105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Open Sans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HVAC Install (Complete)</a:t>
                      </a:r>
                      <a:endParaRPr sz="105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Montserrat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341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$200</a:t>
                      </a:r>
                      <a:endParaRPr sz="10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47857"/>
                        </a:buClr>
                        <a:buSzPts val="975"/>
                        <a:buFont typeface="Open Sans"/>
                        <a:buNone/>
                      </a:pPr>
                      <a:r>
                        <a:rPr b="1" lang="en-US" sz="975" u="none" cap="none" strike="noStrike">
                          <a:solidFill>
                            <a:srgbClr val="047857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9.1 / 10</a:t>
                      </a:r>
                      <a:endParaRPr sz="1200" u="none" cap="none" strike="noStrike"/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Montserrat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341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#2910</a:t>
                      </a:r>
                      <a:endParaRPr sz="10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Open Sans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14 months ago</a:t>
                      </a:r>
                      <a:endParaRPr sz="105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Open Sans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Premium Maintenance</a:t>
                      </a:r>
                      <a:endParaRPr sz="105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Montserrat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341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$2,800</a:t>
                      </a:r>
                      <a:endParaRPr sz="10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47857"/>
                        </a:buClr>
                        <a:buSzPts val="975"/>
                        <a:buFont typeface="Open Sans"/>
                        <a:buNone/>
                      </a:pPr>
                      <a:r>
                        <a:rPr b="1" lang="en-US" sz="975" u="none" cap="none" strike="noStrike">
                          <a:solidFill>
                            <a:srgbClr val="047857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8.9 / 10</a:t>
                      </a:r>
                      <a:endParaRPr sz="1200" u="none" cap="none" strike="noStrike"/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Montserrat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341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#4432</a:t>
                      </a:r>
                      <a:endParaRPr sz="10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Open Sans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22 months ago</a:t>
                      </a:r>
                      <a:endParaRPr sz="105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Open Sans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Emergency Repair</a:t>
                      </a:r>
                      <a:endParaRPr sz="105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Montserrat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341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$4,100</a:t>
                      </a:r>
                      <a:endParaRPr sz="10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47857"/>
                        </a:buClr>
                        <a:buSzPts val="975"/>
                        <a:buFont typeface="Open Sans"/>
                        <a:buNone/>
                      </a:pPr>
                      <a:r>
                        <a:rPr b="1" lang="en-US" sz="975" u="none" cap="none" strike="noStrike">
                          <a:solidFill>
                            <a:srgbClr val="047857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8.7 / 10</a:t>
                      </a:r>
                      <a:endParaRPr sz="1200" u="none" cap="none" strike="noStrike"/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Montserrat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341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#1105</a:t>
                      </a:r>
                      <a:endParaRPr sz="10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Open Sans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16 months ago</a:t>
                      </a:r>
                      <a:endParaRPr sz="105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Open Sans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System Upgrade</a:t>
                      </a:r>
                      <a:endParaRPr sz="105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Montserrat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341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$5,500</a:t>
                      </a:r>
                      <a:endParaRPr sz="10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47857"/>
                        </a:buClr>
                        <a:buSzPts val="975"/>
                        <a:buFont typeface="Open Sans"/>
                        <a:buNone/>
                      </a:pPr>
                      <a:r>
                        <a:rPr b="1" lang="en-US" sz="975" u="none" cap="none" strike="noStrike">
                          <a:solidFill>
                            <a:srgbClr val="047857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8.5 / 10</a:t>
                      </a:r>
                      <a:endParaRPr sz="1200" u="none" cap="none" strike="noStrike"/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Montserrat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341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#3321</a:t>
                      </a:r>
                      <a:endParaRPr sz="10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Open Sans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13 months ago</a:t>
                      </a:r>
                      <a:endParaRPr sz="105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Open Sans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Annual Tune-up</a:t>
                      </a:r>
                      <a:endParaRPr sz="105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Montserrat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341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$1,900</a:t>
                      </a:r>
                      <a:endParaRPr sz="10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47857"/>
                        </a:buClr>
                        <a:buSzPts val="975"/>
                        <a:buFont typeface="Open Sans"/>
                        <a:buNone/>
                      </a:pPr>
                      <a:r>
                        <a:rPr b="1" lang="en-US" sz="975" u="none" cap="none" strike="noStrike">
                          <a:solidFill>
                            <a:srgbClr val="047857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8.2 / 10</a:t>
                      </a:r>
                      <a:endParaRPr sz="1200" u="none" cap="none" strike="noStrike"/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Montserrat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341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#5022</a:t>
                      </a:r>
                      <a:endParaRPr sz="10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Open Sans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23 months ago</a:t>
                      </a:r>
                      <a:endParaRPr sz="105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Open Sans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Filter Replacement</a:t>
                      </a:r>
                      <a:endParaRPr sz="105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Montserrat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341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$1,450</a:t>
                      </a:r>
                      <a:endParaRPr sz="10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5309"/>
                        </a:buClr>
                        <a:buSzPts val="975"/>
                        <a:buFont typeface="Open Sans"/>
                        <a:buNone/>
                      </a:pPr>
                      <a:r>
                        <a:rPr b="1" lang="en-US" sz="975" u="none" cap="none" strike="noStrike">
                          <a:solidFill>
                            <a:srgbClr val="B4530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7.9 / 10</a:t>
                      </a:r>
                      <a:endParaRPr sz="1200" u="none" cap="none" strike="noStrike"/>
                    </a:p>
                  </a:txBody>
                  <a:tcPr marT="152700" marB="152700" marR="228600" marL="2286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71" name="Google Shape;471;p14"/>
          <p:cNvSpPr/>
          <p:nvPr/>
        </p:nvSpPr>
        <p:spPr>
          <a:xfrm>
            <a:off x="4200754" y="6719926"/>
            <a:ext cx="7410298" cy="42885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4"/>
          <p:cNvSpPr/>
          <p:nvPr/>
        </p:nvSpPr>
        <p:spPr>
          <a:xfrm>
            <a:off x="4200754" y="6719926"/>
            <a:ext cx="7410298" cy="9144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4"/>
          <p:cNvSpPr txBox="1"/>
          <p:nvPr/>
        </p:nvSpPr>
        <p:spPr>
          <a:xfrm>
            <a:off x="4200754" y="6843370"/>
            <a:ext cx="7411212" cy="30541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300" lIns="228600" spcFirstLastPara="1" rIns="2286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...and 194 more high-priority targets identified in the full appendix.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4" name="Google Shape;47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54719" y="6219749"/>
            <a:ext cx="133502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14"/>
          <p:cNvSpPr txBox="1"/>
          <p:nvPr/>
        </p:nvSpPr>
        <p:spPr>
          <a:xfrm>
            <a:off x="9164117" y="6191402"/>
            <a:ext cx="2925166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Full list available in attached CSV export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4"/>
          <p:cNvSpPr txBox="1"/>
          <p:nvPr/>
        </p:nvSpPr>
        <p:spPr>
          <a:xfrm>
            <a:off x="11704320" y="6400800"/>
            <a:ext cx="154534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Montserrat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4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78" name="Google Shape;478;p14"/>
          <p:cNvPicPr preferRelativeResize="0"/>
          <p:nvPr/>
        </p:nvPicPr>
        <p:blipFill rotWithShape="1">
          <a:blip r:embed="rId5">
            <a:alphaModFix amt="5000"/>
          </a:blip>
          <a:srcRect b="-44745" l="0" r="0" t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14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F97316"/>
                </a:solidFill>
                <a:latin typeface="Montserrat"/>
                <a:ea typeface="Montserrat"/>
                <a:cs typeface="Montserrat"/>
                <a:sym typeface="Montserrat"/>
              </a:rPr>
              <a:t>Target Analysis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4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4"/>
          <p:cNvSpPr txBox="1"/>
          <p:nvPr/>
        </p:nvSpPr>
        <p:spPr>
          <a:xfrm>
            <a:off x="381305" y="909828"/>
            <a:ext cx="2857500" cy="1448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Your Top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200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Targets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4"/>
          <p:cNvSpPr/>
          <p:nvPr/>
        </p:nvSpPr>
        <p:spPr>
          <a:xfrm>
            <a:off x="381305" y="2635301"/>
            <a:ext cx="9144" cy="1619402"/>
          </a:xfrm>
          <a:prstGeom prst="rect">
            <a:avLst/>
          </a:prstGeom>
          <a:solidFill>
            <a:srgbClr val="FFFFFF">
              <a:alpha val="2000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14"/>
          <p:cNvSpPr txBox="1"/>
          <p:nvPr/>
        </p:nvSpPr>
        <p:spPr>
          <a:xfrm>
            <a:off x="580644" y="2635301"/>
            <a:ext cx="2658161" cy="734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We've scored all 150 dormant customers based on purchase history, service type, and recency.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4"/>
          <p:cNvSpPr txBox="1"/>
          <p:nvPr/>
        </p:nvSpPr>
        <p:spPr>
          <a:xfrm>
            <a:off x="580644" y="3519526"/>
            <a:ext cx="2658161" cy="734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These top 200 represent the "low-hanging fruit" — the easiest wins with the highest potential value.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5" name="Google Shape;485;p14"/>
          <p:cNvPicPr preferRelativeResize="0"/>
          <p:nvPr/>
        </p:nvPicPr>
        <p:blipFill rotWithShape="1">
          <a:blip r:embed="rId6">
            <a:alphaModFix amt="80000"/>
          </a:blip>
          <a:srcRect b="0" l="0" r="0" t="0"/>
          <a:stretch/>
        </p:blipFill>
        <p:spPr>
          <a:xfrm>
            <a:off x="381305" y="4251046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5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15"/>
          <p:cNvSpPr txBox="1"/>
          <p:nvPr/>
        </p:nvSpPr>
        <p:spPr>
          <a:xfrm>
            <a:off x="4095598" y="476402"/>
            <a:ext cx="7620610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100"/>
              <a:buFont typeface="Montserrat"/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Priority Segments for Immediate Action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5"/>
          <p:cNvSpPr txBox="1"/>
          <p:nvPr/>
        </p:nvSpPr>
        <p:spPr>
          <a:xfrm>
            <a:off x="4095598" y="972007"/>
            <a:ext cx="76206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Start with these 3 groups to capture the "low-hanging fruit" in your database.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5"/>
          <p:cNvSpPr/>
          <p:nvPr/>
        </p:nvSpPr>
        <p:spPr>
          <a:xfrm>
            <a:off x="4095598" y="1485900"/>
            <a:ext cx="2391156" cy="4895698"/>
          </a:xfrm>
          <a:prstGeom prst="roundRect">
            <a:avLst>
              <a:gd fmla="val 365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5"/>
          <p:cNvSpPr/>
          <p:nvPr/>
        </p:nvSpPr>
        <p:spPr>
          <a:xfrm>
            <a:off x="4105656" y="3047695"/>
            <a:ext cx="2371954" cy="9144"/>
          </a:xfrm>
          <a:prstGeom prst="roundRect">
            <a:avLst>
              <a:gd fmla="val 1463415" name="adj"/>
            </a:avLst>
          </a:prstGeom>
          <a:solidFill>
            <a:srgbClr val="F1F5F9"/>
          </a:solidFill>
          <a:ln cap="flat" cmpd="sng" w="12700">
            <a:solidFill>
              <a:srgbClr val="F1F5F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5"/>
          <p:cNvSpPr/>
          <p:nvPr/>
        </p:nvSpPr>
        <p:spPr>
          <a:xfrm>
            <a:off x="4334256" y="1723644"/>
            <a:ext cx="476402" cy="476402"/>
          </a:xfrm>
          <a:prstGeom prst="roundRect">
            <a:avLst>
              <a:gd fmla="val 76775" name="adj"/>
            </a:avLst>
          </a:prstGeom>
          <a:solidFill>
            <a:srgbClr val="E0F2FE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99" name="Google Shape;4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6902" y="1867205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15"/>
          <p:cNvSpPr txBox="1"/>
          <p:nvPr/>
        </p:nvSpPr>
        <p:spPr>
          <a:xfrm>
            <a:off x="4334256" y="2352751"/>
            <a:ext cx="191475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Recent Dormant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5"/>
          <p:cNvSpPr txBox="1"/>
          <p:nvPr/>
        </p:nvSpPr>
        <p:spPr>
          <a:xfrm>
            <a:off x="4334256" y="2632558"/>
            <a:ext cx="1914754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6–18 months inactive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5"/>
          <p:cNvSpPr txBox="1"/>
          <p:nvPr/>
        </p:nvSpPr>
        <p:spPr>
          <a:xfrm>
            <a:off x="4334256" y="3285439"/>
            <a:ext cx="1914754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Volume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5"/>
          <p:cNvSpPr txBox="1"/>
          <p:nvPr/>
        </p:nvSpPr>
        <p:spPr>
          <a:xfrm>
            <a:off x="4334256" y="3494837"/>
            <a:ext cx="191475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340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cust.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5"/>
          <p:cNvSpPr txBox="1"/>
          <p:nvPr/>
        </p:nvSpPr>
        <p:spPr>
          <a:xfrm>
            <a:off x="4334256" y="4724705"/>
            <a:ext cx="1547165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Reactivation Prob.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5"/>
          <p:cNvSpPr txBox="1"/>
          <p:nvPr/>
        </p:nvSpPr>
        <p:spPr>
          <a:xfrm>
            <a:off x="5926226" y="4705502"/>
            <a:ext cx="3246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Montserrat"/>
                <a:ea typeface="Montserrat"/>
                <a:cs typeface="Montserrat"/>
                <a:sym typeface="Montserrat"/>
              </a:rPr>
              <a:t>25%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06" name="Google Shape;506;p15"/>
          <p:cNvPicPr preferRelativeResize="0"/>
          <p:nvPr/>
        </p:nvPicPr>
        <p:blipFill rotWithShape="1">
          <a:blip r:embed="rId4">
            <a:alphaModFix/>
          </a:blip>
          <a:srcRect b="0" l="-197" r="-197" t="0"/>
          <a:stretch/>
        </p:blipFill>
        <p:spPr>
          <a:xfrm>
            <a:off x="4334256" y="5009998"/>
            <a:ext cx="1911096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07" name="Google Shape;507;p15"/>
          <p:cNvPicPr preferRelativeResize="0"/>
          <p:nvPr/>
        </p:nvPicPr>
        <p:blipFill rotWithShape="1">
          <a:blip r:embed="rId5">
            <a:alphaModFix/>
          </a:blip>
          <a:srcRect b="0" l="-157" r="-157" t="0"/>
          <a:stretch/>
        </p:blipFill>
        <p:spPr>
          <a:xfrm>
            <a:off x="4334256" y="5009998"/>
            <a:ext cx="477317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15"/>
          <p:cNvSpPr/>
          <p:nvPr/>
        </p:nvSpPr>
        <p:spPr>
          <a:xfrm>
            <a:off x="4105656" y="5315407"/>
            <a:ext cx="2371954" cy="1057046"/>
          </a:xfrm>
          <a:prstGeom prst="roundRect">
            <a:avLst>
              <a:gd fmla="val 1870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5"/>
          <p:cNvSpPr/>
          <p:nvPr/>
        </p:nvSpPr>
        <p:spPr>
          <a:xfrm>
            <a:off x="4105656" y="5315407"/>
            <a:ext cx="2371954" cy="9144"/>
          </a:xfrm>
          <a:prstGeom prst="roundRect">
            <a:avLst>
              <a:gd fmla="val 2162162" name="adj"/>
            </a:avLst>
          </a:prstGeom>
          <a:solidFill>
            <a:srgbClr val="F1F5F9"/>
          </a:solidFill>
          <a:ln cap="flat" cmpd="sng" w="12700">
            <a:solidFill>
              <a:srgbClr val="F1F5F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5"/>
          <p:cNvSpPr txBox="1"/>
          <p:nvPr/>
        </p:nvSpPr>
        <p:spPr>
          <a:xfrm>
            <a:off x="4257446" y="5477256"/>
            <a:ext cx="2067458" cy="7434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Why:</a:t>
            </a:r>
            <a:r>
              <a:rPr b="0" i="0" lang="en-US" sz="9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The memory of your service is still fresh. They haven't established deep loyalty with a competitor yet.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5"/>
          <p:cNvSpPr/>
          <p:nvPr/>
        </p:nvSpPr>
        <p:spPr>
          <a:xfrm>
            <a:off x="6711696" y="1447495"/>
            <a:ext cx="2391156" cy="4934102"/>
          </a:xfrm>
          <a:prstGeom prst="roundRect">
            <a:avLst>
              <a:gd fmla="val 365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15"/>
          <p:cNvSpPr/>
          <p:nvPr/>
        </p:nvSpPr>
        <p:spPr>
          <a:xfrm>
            <a:off x="6711696" y="1447495"/>
            <a:ext cx="2391156" cy="38405"/>
          </a:xfrm>
          <a:prstGeom prst="roundRect">
            <a:avLst>
              <a:gd fmla="val 227660" name="adj"/>
            </a:avLst>
          </a:prstGeom>
          <a:solidFill>
            <a:srgbClr val="F97316"/>
          </a:solidFill>
          <a:ln cap="flat" cmpd="sng" w="12700">
            <a:solidFill>
              <a:srgbClr val="F9731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15"/>
          <p:cNvSpPr/>
          <p:nvPr/>
        </p:nvSpPr>
        <p:spPr>
          <a:xfrm>
            <a:off x="6721754" y="3038551"/>
            <a:ext cx="2371954" cy="9144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15"/>
          <p:cNvSpPr/>
          <p:nvPr/>
        </p:nvSpPr>
        <p:spPr>
          <a:xfrm>
            <a:off x="6950354" y="1714500"/>
            <a:ext cx="476402" cy="476402"/>
          </a:xfrm>
          <a:prstGeom prst="roundRect">
            <a:avLst>
              <a:gd fmla="val 76775" name="adj"/>
            </a:avLst>
          </a:prstGeom>
          <a:solidFill>
            <a:srgbClr val="FFF7ED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15" name="Google Shape;51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93001" y="1857146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15"/>
          <p:cNvSpPr txBox="1"/>
          <p:nvPr/>
        </p:nvSpPr>
        <p:spPr>
          <a:xfrm>
            <a:off x="6950354" y="2343607"/>
            <a:ext cx="191475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High-Value Past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5"/>
          <p:cNvSpPr txBox="1"/>
          <p:nvPr/>
        </p:nvSpPr>
        <p:spPr>
          <a:xfrm>
            <a:off x="6950354" y="2623414"/>
            <a:ext cx="1914754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LTV &gt; $3,000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5"/>
          <p:cNvSpPr txBox="1"/>
          <p:nvPr/>
        </p:nvSpPr>
        <p:spPr>
          <a:xfrm>
            <a:off x="6950354" y="3275381"/>
            <a:ext cx="1914754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Volume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5"/>
          <p:cNvSpPr txBox="1"/>
          <p:nvPr/>
        </p:nvSpPr>
        <p:spPr>
          <a:xfrm>
            <a:off x="6950354" y="3485693"/>
            <a:ext cx="191475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180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cust.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5"/>
          <p:cNvSpPr txBox="1"/>
          <p:nvPr/>
        </p:nvSpPr>
        <p:spPr>
          <a:xfrm>
            <a:off x="6950354" y="4724705"/>
            <a:ext cx="1547165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Reactivation Prob.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5"/>
          <p:cNvSpPr txBox="1"/>
          <p:nvPr/>
        </p:nvSpPr>
        <p:spPr>
          <a:xfrm>
            <a:off x="8528609" y="4705502"/>
            <a:ext cx="33375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F97316"/>
                </a:solidFill>
                <a:latin typeface="Montserrat"/>
                <a:ea typeface="Montserrat"/>
                <a:cs typeface="Montserrat"/>
                <a:sym typeface="Montserrat"/>
              </a:rPr>
              <a:t>30%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2" name="Google Shape;522;p15"/>
          <p:cNvPicPr preferRelativeResize="0"/>
          <p:nvPr/>
        </p:nvPicPr>
        <p:blipFill rotWithShape="1">
          <a:blip r:embed="rId4">
            <a:alphaModFix/>
          </a:blip>
          <a:srcRect b="0" l="-193" r="-193" t="0"/>
          <a:stretch/>
        </p:blipFill>
        <p:spPr>
          <a:xfrm>
            <a:off x="6950354" y="5009998"/>
            <a:ext cx="1911096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23" name="Google Shape;523;p15"/>
          <p:cNvPicPr preferRelativeResize="0"/>
          <p:nvPr/>
        </p:nvPicPr>
        <p:blipFill rotWithShape="1">
          <a:blip r:embed="rId7">
            <a:alphaModFix/>
          </a:blip>
          <a:srcRect b="0" l="-205" r="-205" t="0"/>
          <a:stretch/>
        </p:blipFill>
        <p:spPr>
          <a:xfrm>
            <a:off x="6950354" y="5009998"/>
            <a:ext cx="573329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15"/>
          <p:cNvSpPr/>
          <p:nvPr/>
        </p:nvSpPr>
        <p:spPr>
          <a:xfrm>
            <a:off x="6721754" y="5315407"/>
            <a:ext cx="2371954" cy="1057046"/>
          </a:xfrm>
          <a:prstGeom prst="roundRect">
            <a:avLst>
              <a:gd fmla="val 1870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15"/>
          <p:cNvSpPr/>
          <p:nvPr/>
        </p:nvSpPr>
        <p:spPr>
          <a:xfrm>
            <a:off x="6721754" y="5315407"/>
            <a:ext cx="2371954" cy="9144"/>
          </a:xfrm>
          <a:prstGeom prst="roundRect">
            <a:avLst>
              <a:gd fmla="val 2162162" name="adj"/>
            </a:avLst>
          </a:prstGeom>
          <a:solidFill>
            <a:srgbClr val="F1F5F9"/>
          </a:solidFill>
          <a:ln cap="flat" cmpd="sng" w="12700">
            <a:solidFill>
              <a:srgbClr val="F1F5F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15"/>
          <p:cNvSpPr txBox="1"/>
          <p:nvPr/>
        </p:nvSpPr>
        <p:spPr>
          <a:xfrm>
            <a:off x="6873545" y="5477256"/>
            <a:ext cx="2067458" cy="7434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Why:</a:t>
            </a:r>
            <a:r>
              <a:rPr b="0" i="0" lang="en-US" sz="9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Proven spenders who appreciate quality. They are worth higher-cost outreach (phone/direct mail).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5"/>
          <p:cNvSpPr/>
          <p:nvPr/>
        </p:nvSpPr>
        <p:spPr>
          <a:xfrm>
            <a:off x="9327794" y="1485900"/>
            <a:ext cx="2391156" cy="4895698"/>
          </a:xfrm>
          <a:prstGeom prst="roundRect">
            <a:avLst>
              <a:gd fmla="val 365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15"/>
          <p:cNvSpPr/>
          <p:nvPr/>
        </p:nvSpPr>
        <p:spPr>
          <a:xfrm>
            <a:off x="9337853" y="3047695"/>
            <a:ext cx="2371954" cy="9144"/>
          </a:xfrm>
          <a:prstGeom prst="roundRect">
            <a:avLst>
              <a:gd fmla="val 1463415" name="adj"/>
            </a:avLst>
          </a:prstGeom>
          <a:solidFill>
            <a:srgbClr val="F1F5F9"/>
          </a:solidFill>
          <a:ln cap="flat" cmpd="sng" w="12700">
            <a:solidFill>
              <a:srgbClr val="F1F5F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15"/>
          <p:cNvSpPr/>
          <p:nvPr/>
        </p:nvSpPr>
        <p:spPr>
          <a:xfrm>
            <a:off x="9566453" y="1723644"/>
            <a:ext cx="476402" cy="476402"/>
          </a:xfrm>
          <a:prstGeom prst="roundRect">
            <a:avLst>
              <a:gd fmla="val 76775" name="adj"/>
            </a:avLst>
          </a:prstGeom>
          <a:solidFill>
            <a:srgbClr val="ECFDF5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30" name="Google Shape;530;p15"/>
          <p:cNvPicPr preferRelativeResize="0"/>
          <p:nvPr/>
        </p:nvPicPr>
        <p:blipFill rotWithShape="1">
          <a:blip r:embed="rId8">
            <a:alphaModFix/>
          </a:blip>
          <a:srcRect b="0" l="-1282" r="-1282" t="0"/>
          <a:stretch/>
        </p:blipFill>
        <p:spPr>
          <a:xfrm>
            <a:off x="9694469" y="1867205"/>
            <a:ext cx="219456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15"/>
          <p:cNvSpPr txBox="1"/>
          <p:nvPr/>
        </p:nvSpPr>
        <p:spPr>
          <a:xfrm>
            <a:off x="9566453" y="2352751"/>
            <a:ext cx="220279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Multi-Service Buyers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5"/>
          <p:cNvSpPr txBox="1"/>
          <p:nvPr/>
        </p:nvSpPr>
        <p:spPr>
          <a:xfrm>
            <a:off x="9566453" y="2632558"/>
            <a:ext cx="1914754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Purchased 3+ services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5"/>
          <p:cNvSpPr txBox="1"/>
          <p:nvPr/>
        </p:nvSpPr>
        <p:spPr>
          <a:xfrm>
            <a:off x="9566453" y="3285439"/>
            <a:ext cx="1914754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Volume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5"/>
          <p:cNvSpPr txBox="1"/>
          <p:nvPr/>
        </p:nvSpPr>
        <p:spPr>
          <a:xfrm>
            <a:off x="9566453" y="3494837"/>
            <a:ext cx="191475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125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cust.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5"/>
          <p:cNvSpPr txBox="1"/>
          <p:nvPr/>
        </p:nvSpPr>
        <p:spPr>
          <a:xfrm>
            <a:off x="9566453" y="4910328"/>
            <a:ext cx="1547165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Reactivation Prob.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5"/>
          <p:cNvSpPr txBox="1"/>
          <p:nvPr/>
        </p:nvSpPr>
        <p:spPr>
          <a:xfrm>
            <a:off x="11159338" y="4891126"/>
            <a:ext cx="3246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059669"/>
                </a:solidFill>
                <a:latin typeface="Montserrat"/>
                <a:ea typeface="Montserrat"/>
                <a:cs typeface="Montserrat"/>
                <a:sym typeface="Montserrat"/>
              </a:rPr>
              <a:t>35%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37" name="Google Shape;537;p15"/>
          <p:cNvPicPr preferRelativeResize="0"/>
          <p:nvPr/>
        </p:nvPicPr>
        <p:blipFill rotWithShape="1">
          <a:blip r:embed="rId4">
            <a:alphaModFix/>
          </a:blip>
          <a:srcRect b="0" l="-193" r="-193" t="0"/>
          <a:stretch/>
        </p:blipFill>
        <p:spPr>
          <a:xfrm>
            <a:off x="9566453" y="5195621"/>
            <a:ext cx="1911096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38" name="Google Shape;538;p15"/>
          <p:cNvPicPr preferRelativeResize="0"/>
          <p:nvPr/>
        </p:nvPicPr>
        <p:blipFill rotWithShape="1">
          <a:blip r:embed="rId9">
            <a:alphaModFix/>
          </a:blip>
          <a:srcRect b="0" l="-228" r="-228" t="0"/>
          <a:stretch/>
        </p:blipFill>
        <p:spPr>
          <a:xfrm>
            <a:off x="9566453" y="5195621"/>
            <a:ext cx="669341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15"/>
          <p:cNvSpPr/>
          <p:nvPr/>
        </p:nvSpPr>
        <p:spPr>
          <a:xfrm>
            <a:off x="9337853" y="5501030"/>
            <a:ext cx="2371954" cy="875995"/>
          </a:xfrm>
          <a:prstGeom prst="roundRect">
            <a:avLst>
              <a:gd fmla="val 27231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5"/>
          <p:cNvSpPr/>
          <p:nvPr/>
        </p:nvSpPr>
        <p:spPr>
          <a:xfrm>
            <a:off x="9337853" y="5501030"/>
            <a:ext cx="2371954" cy="9144"/>
          </a:xfrm>
          <a:prstGeom prst="roundRect">
            <a:avLst>
              <a:gd fmla="val 2608696" name="adj"/>
            </a:avLst>
          </a:prstGeom>
          <a:solidFill>
            <a:srgbClr val="F1F5F9"/>
          </a:solidFill>
          <a:ln cap="flat" cmpd="sng" w="12700">
            <a:solidFill>
              <a:srgbClr val="F1F5F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15"/>
          <p:cNvSpPr txBox="1"/>
          <p:nvPr/>
        </p:nvSpPr>
        <p:spPr>
          <a:xfrm>
            <a:off x="9489643" y="5662879"/>
            <a:ext cx="2067458" cy="5623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Why:</a:t>
            </a:r>
            <a:r>
              <a:rPr b="0" i="0" lang="en-US" sz="9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Highest trust level. They viewed you as their "go-to" partner. Usually just need a reminder.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5"/>
          <p:cNvSpPr txBox="1"/>
          <p:nvPr/>
        </p:nvSpPr>
        <p:spPr>
          <a:xfrm>
            <a:off x="11705234" y="6400800"/>
            <a:ext cx="154534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Montserrat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5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44" name="Google Shape;544;p15"/>
          <p:cNvPicPr preferRelativeResize="0"/>
          <p:nvPr/>
        </p:nvPicPr>
        <p:blipFill rotWithShape="1">
          <a:blip r:embed="rId10">
            <a:alphaModFix amt="5000"/>
          </a:blip>
          <a:srcRect b="-44745" l="0" r="0" t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15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F97316"/>
                </a:solidFill>
                <a:latin typeface="Montserrat"/>
                <a:ea typeface="Montserrat"/>
                <a:cs typeface="Montserrat"/>
                <a:sym typeface="Montserrat"/>
              </a:rPr>
              <a:t>Quick-Win Segments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5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15"/>
          <p:cNvSpPr txBox="1"/>
          <p:nvPr/>
        </p:nvSpPr>
        <p:spPr>
          <a:xfrm>
            <a:off x="381305" y="909828"/>
            <a:ext cx="2857500" cy="192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Your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Fastest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Revenue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Opportunities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5"/>
          <p:cNvSpPr/>
          <p:nvPr/>
        </p:nvSpPr>
        <p:spPr>
          <a:xfrm>
            <a:off x="381305" y="3116275"/>
            <a:ext cx="9144" cy="1133856"/>
          </a:xfrm>
          <a:prstGeom prst="rect">
            <a:avLst/>
          </a:prstGeom>
          <a:solidFill>
            <a:srgbClr val="FFFFFF">
              <a:alpha val="2000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15"/>
          <p:cNvSpPr txBox="1"/>
          <p:nvPr/>
        </p:nvSpPr>
        <p:spPr>
          <a:xfrm>
            <a:off x="580644" y="3116275"/>
            <a:ext cx="3162910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Not all dormant customers are equal.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5"/>
          <p:cNvSpPr txBox="1"/>
          <p:nvPr/>
        </p:nvSpPr>
        <p:spPr>
          <a:xfrm>
            <a:off x="580644" y="3512210"/>
            <a:ext cx="2658161" cy="734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We've identified three specific segments that offer the path of least resistance for immediate cash flow.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1" name="Google Shape;551;p15"/>
          <p:cNvPicPr preferRelativeResize="0"/>
          <p:nvPr/>
        </p:nvPicPr>
        <p:blipFill rotWithShape="1">
          <a:blip r:embed="rId11">
            <a:alphaModFix amt="80000"/>
          </a:blip>
          <a:srcRect b="0" l="0" r="0" t="0"/>
          <a:stretch/>
        </p:blipFill>
        <p:spPr>
          <a:xfrm>
            <a:off x="381305" y="4243730"/>
            <a:ext cx="3429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16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16"/>
          <p:cNvSpPr txBox="1"/>
          <p:nvPr/>
        </p:nvSpPr>
        <p:spPr>
          <a:xfrm>
            <a:off x="4381805" y="571500"/>
            <a:ext cx="704911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The Math of Partial Success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6"/>
          <p:cNvSpPr/>
          <p:nvPr/>
        </p:nvSpPr>
        <p:spPr>
          <a:xfrm>
            <a:off x="4381805" y="1410005"/>
            <a:ext cx="2076602" cy="1752905"/>
          </a:xfrm>
          <a:prstGeom prst="roundRect">
            <a:avLst>
              <a:gd fmla="val 680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16"/>
          <p:cNvSpPr/>
          <p:nvPr/>
        </p:nvSpPr>
        <p:spPr>
          <a:xfrm>
            <a:off x="4381805" y="3124505"/>
            <a:ext cx="2076602" cy="38405"/>
          </a:xfrm>
          <a:prstGeom prst="roundRect">
            <a:avLst>
              <a:gd fmla="val 310557" name="adj"/>
            </a:avLst>
          </a:prstGeom>
          <a:solidFill>
            <a:srgbClr val="CBD5E1"/>
          </a:solidFill>
          <a:ln cap="flat" cmpd="sng" w="12700">
            <a:solidFill>
              <a:srgbClr val="CBD5E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16"/>
          <p:cNvSpPr/>
          <p:nvPr/>
        </p:nvSpPr>
        <p:spPr>
          <a:xfrm>
            <a:off x="4572000" y="1600200"/>
            <a:ext cx="342900" cy="342900"/>
          </a:xfrm>
          <a:prstGeom prst="ellipse">
            <a:avLst/>
          </a:prstGeom>
          <a:solidFill>
            <a:srgbClr val="F1F5F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64" name="Google Shape;564;p16"/>
          <p:cNvPicPr preferRelativeResize="0"/>
          <p:nvPr/>
        </p:nvPicPr>
        <p:blipFill rotWithShape="1">
          <a:blip r:embed="rId3">
            <a:alphaModFix/>
          </a:blip>
          <a:srcRect b="-43" l="0" r="0" t="-43"/>
          <a:stretch/>
        </p:blipFill>
        <p:spPr>
          <a:xfrm>
            <a:off x="4677156" y="1695298"/>
            <a:ext cx="133502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16"/>
          <p:cNvSpPr txBox="1"/>
          <p:nvPr/>
        </p:nvSpPr>
        <p:spPr>
          <a:xfrm>
            <a:off x="4572000" y="2057400"/>
            <a:ext cx="169621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Dormant Base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6"/>
          <p:cNvSpPr txBox="1"/>
          <p:nvPr/>
        </p:nvSpPr>
        <p:spPr>
          <a:xfrm>
            <a:off x="4572000" y="2324405"/>
            <a:ext cx="1696212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100"/>
              <a:buFont typeface="Montserrat"/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150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6"/>
          <p:cNvSpPr txBox="1"/>
          <p:nvPr/>
        </p:nvSpPr>
        <p:spPr>
          <a:xfrm>
            <a:off x="4572000" y="2762402"/>
            <a:ext cx="169621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Total Customers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6"/>
          <p:cNvSpPr txBox="1"/>
          <p:nvPr/>
        </p:nvSpPr>
        <p:spPr>
          <a:xfrm>
            <a:off x="6596482" y="2115007"/>
            <a:ext cx="142646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Open Sans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×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6"/>
          <p:cNvSpPr/>
          <p:nvPr/>
        </p:nvSpPr>
        <p:spPr>
          <a:xfrm>
            <a:off x="6869887" y="1410005"/>
            <a:ext cx="2076602" cy="1752905"/>
          </a:xfrm>
          <a:prstGeom prst="roundRect">
            <a:avLst>
              <a:gd fmla="val 680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16"/>
          <p:cNvSpPr/>
          <p:nvPr/>
        </p:nvSpPr>
        <p:spPr>
          <a:xfrm>
            <a:off x="6869887" y="3124505"/>
            <a:ext cx="2076602" cy="38405"/>
          </a:xfrm>
          <a:prstGeom prst="roundRect">
            <a:avLst>
              <a:gd fmla="val 310557" name="adj"/>
            </a:avLst>
          </a:prstGeom>
          <a:solidFill>
            <a:srgbClr val="F97316"/>
          </a:solidFill>
          <a:ln cap="flat" cmpd="sng" w="12700">
            <a:solidFill>
              <a:srgbClr val="F9731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16"/>
          <p:cNvSpPr/>
          <p:nvPr/>
        </p:nvSpPr>
        <p:spPr>
          <a:xfrm>
            <a:off x="7060082" y="1600200"/>
            <a:ext cx="342900" cy="342900"/>
          </a:xfrm>
          <a:prstGeom prst="ellipse">
            <a:avLst/>
          </a:prstGeom>
          <a:solidFill>
            <a:srgbClr val="FFF7ED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72" name="Google Shape;57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55180" y="1695298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16"/>
          <p:cNvSpPr txBox="1"/>
          <p:nvPr/>
        </p:nvSpPr>
        <p:spPr>
          <a:xfrm>
            <a:off x="7060082" y="2057400"/>
            <a:ext cx="169621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Success Rate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6"/>
          <p:cNvSpPr txBox="1"/>
          <p:nvPr/>
        </p:nvSpPr>
        <p:spPr>
          <a:xfrm>
            <a:off x="7060082" y="2324405"/>
            <a:ext cx="1696212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100"/>
              <a:buFont typeface="Montserrat"/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30%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6"/>
          <p:cNvSpPr txBox="1"/>
          <p:nvPr/>
        </p:nvSpPr>
        <p:spPr>
          <a:xfrm>
            <a:off x="7060082" y="2762402"/>
            <a:ext cx="169621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Conservative Goal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6"/>
          <p:cNvSpPr txBox="1"/>
          <p:nvPr/>
        </p:nvSpPr>
        <p:spPr>
          <a:xfrm>
            <a:off x="9084564" y="2115007"/>
            <a:ext cx="142646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Open Sans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=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6"/>
          <p:cNvSpPr/>
          <p:nvPr/>
        </p:nvSpPr>
        <p:spPr>
          <a:xfrm>
            <a:off x="9357970" y="1410005"/>
            <a:ext cx="2076602" cy="1752905"/>
          </a:xfrm>
          <a:prstGeom prst="roundRect">
            <a:avLst>
              <a:gd fmla="val 680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16"/>
          <p:cNvSpPr/>
          <p:nvPr/>
        </p:nvSpPr>
        <p:spPr>
          <a:xfrm>
            <a:off x="9357970" y="3124505"/>
            <a:ext cx="2076602" cy="38405"/>
          </a:xfrm>
          <a:prstGeom prst="roundRect">
            <a:avLst>
              <a:gd fmla="val 310557" name="adj"/>
            </a:avLst>
          </a:prstGeom>
          <a:solidFill>
            <a:srgbClr val="CBD5E1"/>
          </a:solidFill>
          <a:ln cap="flat" cmpd="sng" w="12700">
            <a:solidFill>
              <a:srgbClr val="CBD5E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16"/>
          <p:cNvSpPr/>
          <p:nvPr/>
        </p:nvSpPr>
        <p:spPr>
          <a:xfrm>
            <a:off x="9549079" y="1600200"/>
            <a:ext cx="342900" cy="342900"/>
          </a:xfrm>
          <a:prstGeom prst="ellipse">
            <a:avLst/>
          </a:prstGeom>
          <a:solidFill>
            <a:srgbClr val="F1F5F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80" name="Google Shape;580;p16"/>
          <p:cNvPicPr preferRelativeResize="0"/>
          <p:nvPr/>
        </p:nvPicPr>
        <p:blipFill rotWithShape="1">
          <a:blip r:embed="rId5">
            <a:alphaModFix/>
          </a:blip>
          <a:srcRect b="-180" l="0" r="0" t="-180"/>
          <a:stretch/>
        </p:blipFill>
        <p:spPr>
          <a:xfrm>
            <a:off x="9624974" y="1695298"/>
            <a:ext cx="19019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16"/>
          <p:cNvSpPr txBox="1"/>
          <p:nvPr/>
        </p:nvSpPr>
        <p:spPr>
          <a:xfrm>
            <a:off x="9549079" y="2057400"/>
            <a:ext cx="169621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Reactivated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6"/>
          <p:cNvSpPr txBox="1"/>
          <p:nvPr/>
        </p:nvSpPr>
        <p:spPr>
          <a:xfrm>
            <a:off x="9549079" y="2324405"/>
            <a:ext cx="1696212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100"/>
              <a:buFont typeface="Montserrat"/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432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6"/>
          <p:cNvSpPr txBox="1"/>
          <p:nvPr/>
        </p:nvSpPr>
        <p:spPr>
          <a:xfrm>
            <a:off x="9549079" y="2762402"/>
            <a:ext cx="169621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Active Customers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84" name="Google Shape;584;p16"/>
          <p:cNvPicPr preferRelativeResize="0"/>
          <p:nvPr/>
        </p:nvPicPr>
        <p:blipFill rotWithShape="1">
          <a:blip r:embed="rId6">
            <a:alphaModFix/>
          </a:blip>
          <a:srcRect b="-2" l="0" r="0" t="-2"/>
          <a:stretch/>
        </p:blipFill>
        <p:spPr>
          <a:xfrm>
            <a:off x="4381805" y="3543300"/>
            <a:ext cx="7048195" cy="20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16"/>
          <p:cNvSpPr/>
          <p:nvPr/>
        </p:nvSpPr>
        <p:spPr>
          <a:xfrm>
            <a:off x="4381805" y="3543300"/>
            <a:ext cx="75895" cy="2038198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16"/>
          <p:cNvSpPr txBox="1"/>
          <p:nvPr/>
        </p:nvSpPr>
        <p:spPr>
          <a:xfrm>
            <a:off x="4677156" y="3838651"/>
            <a:ext cx="6458407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000"/>
              <a:buFont typeface="Montserrat"/>
              <a:buNone/>
            </a:pPr>
            <a:r>
              <a:rPr b="1" i="0" lang="en-US" sz="1000" u="none" cap="none" strike="noStrike">
                <a:solidFill>
                  <a:srgbClr val="C2410C"/>
                </a:solidFill>
                <a:latin typeface="Montserrat"/>
                <a:ea typeface="Montserrat"/>
                <a:cs typeface="Montserrat"/>
                <a:sym typeface="Montserrat"/>
              </a:rPr>
              <a:t>Recovered Annual Revenue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6"/>
          <p:cNvSpPr txBox="1"/>
          <p:nvPr/>
        </p:nvSpPr>
        <p:spPr>
          <a:xfrm>
            <a:off x="4677156" y="4134002"/>
            <a:ext cx="6458407" cy="6099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4800"/>
              <a:buFont typeface="Montserrat"/>
              <a:buNone/>
            </a:pPr>
            <a:r>
              <a:rPr b="1" i="0" lang="en-US" sz="4800" u="none" cap="none" strike="noStrike">
                <a:solidFill>
                  <a:srgbClr val="C2410C"/>
                </a:solidFill>
                <a:latin typeface="Montserrat"/>
                <a:ea typeface="Montserrat"/>
                <a:cs typeface="Montserrat"/>
                <a:sym typeface="Montserrat"/>
              </a:rPr>
              <a:t>$392,740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6"/>
          <p:cNvSpPr txBox="1"/>
          <p:nvPr/>
        </p:nvSpPr>
        <p:spPr>
          <a:xfrm>
            <a:off x="4677156" y="4858207"/>
            <a:ext cx="6458407" cy="514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2D12"/>
              </a:buClr>
              <a:buSzPts val="1300"/>
              <a:buFont typeface="Open Sans"/>
              <a:buNone/>
            </a:pPr>
            <a:r>
              <a:rPr b="0" i="0" lang="en-US" sz="1300" u="none" cap="none" strike="noStrike">
                <a:solidFill>
                  <a:srgbClr val="7C2D12"/>
                </a:solidFill>
                <a:latin typeface="Open Sans"/>
                <a:ea typeface="Open Sans"/>
                <a:cs typeface="Open Sans"/>
                <a:sym typeface="Open Sans"/>
              </a:rPr>
              <a:t> That's pure revenue added to your top line </a:t>
            </a:r>
            <a:r>
              <a:rPr b="1" i="0" lang="en-US" sz="1300" u="none" cap="none" strike="noStrike">
                <a:solidFill>
                  <a:srgbClr val="7C2D12"/>
                </a:solidFill>
                <a:latin typeface="Open Sans"/>
                <a:ea typeface="Open Sans"/>
                <a:cs typeface="Open Sans"/>
                <a:sym typeface="Open Sans"/>
              </a:rPr>
              <a:t>without spending a dollar</a:t>
            </a:r>
            <a:r>
              <a:rPr b="0" i="0" lang="en-US" sz="1300" u="none" cap="none" strike="noStrike">
                <a:solidFill>
                  <a:srgbClr val="7C2D12"/>
                </a:solidFill>
                <a:latin typeface="Open Sans"/>
                <a:ea typeface="Open Sans"/>
                <a:cs typeface="Open Sans"/>
                <a:sym typeface="Open Sans"/>
              </a:rPr>
              <a:t> on new leads.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89" name="Google Shape;58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81805" y="5924398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16"/>
          <p:cNvSpPr txBox="1"/>
          <p:nvPr/>
        </p:nvSpPr>
        <p:spPr>
          <a:xfrm>
            <a:off x="4724705" y="5886907"/>
            <a:ext cx="6191402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Why 30%?</a:t>
            </a: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Based on industry benchmarks for multi-touch reactivation campaigns, 30% is a realistic target for customers dormant 6-18 months. Even a 20% success rate would yield over $30,000.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6"/>
          <p:cNvSpPr txBox="1"/>
          <p:nvPr/>
        </p:nvSpPr>
        <p:spPr>
          <a:xfrm>
            <a:off x="11694262" y="6400800"/>
            <a:ext cx="15636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Montserrat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6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93" name="Google Shape;593;p16"/>
          <p:cNvPicPr preferRelativeResize="0"/>
          <p:nvPr/>
        </p:nvPicPr>
        <p:blipFill rotWithShape="1">
          <a:blip r:embed="rId8">
            <a:alphaModFix amt="5000"/>
          </a:blip>
          <a:srcRect b="-44745" l="0" r="0" t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16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F97316"/>
                </a:solidFill>
                <a:latin typeface="Montserrat"/>
                <a:ea typeface="Montserrat"/>
                <a:cs typeface="Montserrat"/>
                <a:sym typeface="Montserrat"/>
              </a:rPr>
              <a:t>Strategic Advantage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6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16"/>
          <p:cNvSpPr txBox="1"/>
          <p:nvPr/>
        </p:nvSpPr>
        <p:spPr>
          <a:xfrm>
            <a:off x="381305" y="909828"/>
            <a:ext cx="2857500" cy="9628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30%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Rule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6"/>
          <p:cNvSpPr/>
          <p:nvPr/>
        </p:nvSpPr>
        <p:spPr>
          <a:xfrm>
            <a:off x="381305" y="2155241"/>
            <a:ext cx="9144" cy="1772107"/>
          </a:xfrm>
          <a:prstGeom prst="rect">
            <a:avLst/>
          </a:prstGeom>
          <a:solidFill>
            <a:srgbClr val="FFFFFF">
              <a:alpha val="2000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16"/>
          <p:cNvSpPr txBox="1"/>
          <p:nvPr/>
        </p:nvSpPr>
        <p:spPr>
          <a:xfrm>
            <a:off x="580644" y="2155241"/>
            <a:ext cx="3162910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You don't need to win everyone back.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6"/>
          <p:cNvSpPr txBox="1"/>
          <p:nvPr/>
        </p:nvSpPr>
        <p:spPr>
          <a:xfrm>
            <a:off x="580644" y="2552090"/>
            <a:ext cx="2658161" cy="734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Reactivating just a fraction of your dormant list yields massive returns compared to the cost of acquisition.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6"/>
          <p:cNvSpPr txBox="1"/>
          <p:nvPr/>
        </p:nvSpPr>
        <p:spPr>
          <a:xfrm>
            <a:off x="580644" y="3435401"/>
            <a:ext cx="2658161" cy="495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This isn't about volume—it's about efficiency.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01" name="Google Shape;601;p16"/>
          <p:cNvPicPr preferRelativeResize="0"/>
          <p:nvPr/>
        </p:nvPicPr>
        <p:blipFill rotWithShape="1">
          <a:blip r:embed="rId9">
            <a:alphaModFix amt="80000"/>
          </a:blip>
          <a:srcRect b="0" l="0" r="0" t="0"/>
          <a:stretch/>
        </p:blipFill>
        <p:spPr>
          <a:xfrm>
            <a:off x="381305" y="3922776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17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17"/>
          <p:cNvSpPr txBox="1"/>
          <p:nvPr/>
        </p:nvSpPr>
        <p:spPr>
          <a:xfrm>
            <a:off x="4190695" y="476402"/>
            <a:ext cx="7429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Projected Revenue Ramp-Up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7"/>
          <p:cNvSpPr/>
          <p:nvPr/>
        </p:nvSpPr>
        <p:spPr>
          <a:xfrm>
            <a:off x="4190695" y="1218895"/>
            <a:ext cx="7429500" cy="3038551"/>
          </a:xfrm>
          <a:prstGeom prst="roundRect">
            <a:avLst>
              <a:gd fmla="val 2264" name="adj"/>
            </a:avLst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12" name="Google Shape;612;p17"/>
          <p:cNvPicPr preferRelativeResize="0"/>
          <p:nvPr/>
        </p:nvPicPr>
        <p:blipFill rotWithShape="1">
          <a:blip r:embed="rId3">
            <a:alphaModFix/>
          </a:blip>
          <a:srcRect b="0" l="-7" r="-7" t="0"/>
          <a:stretch/>
        </p:blipFill>
        <p:spPr>
          <a:xfrm>
            <a:off x="4476902" y="1410005"/>
            <a:ext cx="6858000" cy="2752344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17"/>
          <p:cNvSpPr/>
          <p:nvPr/>
        </p:nvSpPr>
        <p:spPr>
          <a:xfrm>
            <a:off x="4190695" y="4486046"/>
            <a:ext cx="2352751" cy="1238098"/>
          </a:xfrm>
          <a:prstGeom prst="roundRect">
            <a:avLst>
              <a:gd fmla="val 1136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17"/>
          <p:cNvSpPr/>
          <p:nvPr/>
        </p:nvSpPr>
        <p:spPr>
          <a:xfrm>
            <a:off x="4190695" y="4486046"/>
            <a:ext cx="2352751" cy="38405"/>
          </a:xfrm>
          <a:prstGeom prst="roundRect">
            <a:avLst>
              <a:gd fmla="val 366298" name="adj"/>
            </a:avLst>
          </a:prstGeom>
          <a:solidFill>
            <a:srgbClr val="CBD5E1"/>
          </a:solidFill>
          <a:ln cap="flat" cmpd="sng" w="12700">
            <a:solidFill>
              <a:srgbClr val="CBD5E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17"/>
          <p:cNvSpPr txBox="1"/>
          <p:nvPr/>
        </p:nvSpPr>
        <p:spPr>
          <a:xfrm>
            <a:off x="4381805" y="4714646"/>
            <a:ext cx="1972361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Month 1: Foundation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7"/>
          <p:cNvSpPr txBox="1"/>
          <p:nvPr/>
        </p:nvSpPr>
        <p:spPr>
          <a:xfrm>
            <a:off x="4381805" y="4962449"/>
            <a:ext cx="1972361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$20,619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7"/>
          <p:cNvSpPr txBox="1"/>
          <p:nvPr/>
        </p:nvSpPr>
        <p:spPr>
          <a:xfrm>
            <a:off x="4591202" y="5343754"/>
            <a:ext cx="1762963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28 Reactivations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18" name="Google Shape;618;p17"/>
          <p:cNvPicPr preferRelativeResize="0"/>
          <p:nvPr/>
        </p:nvPicPr>
        <p:blipFill rotWithShape="1">
          <a:blip r:embed="rId4">
            <a:alphaModFix/>
          </a:blip>
          <a:srcRect b="-524" l="0" r="0" t="-524"/>
          <a:stretch/>
        </p:blipFill>
        <p:spPr>
          <a:xfrm>
            <a:off x="4381805" y="5374843"/>
            <a:ext cx="152705" cy="123444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17"/>
          <p:cNvSpPr/>
          <p:nvPr/>
        </p:nvSpPr>
        <p:spPr>
          <a:xfrm>
            <a:off x="6730898" y="4486046"/>
            <a:ext cx="2352751" cy="1238098"/>
          </a:xfrm>
          <a:prstGeom prst="roundRect">
            <a:avLst>
              <a:gd fmla="val 1136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17"/>
          <p:cNvSpPr/>
          <p:nvPr/>
        </p:nvSpPr>
        <p:spPr>
          <a:xfrm>
            <a:off x="6730898" y="4486046"/>
            <a:ext cx="2352751" cy="38405"/>
          </a:xfrm>
          <a:prstGeom prst="roundRect">
            <a:avLst>
              <a:gd fmla="val 366298" name="adj"/>
            </a:avLst>
          </a:prstGeom>
          <a:solidFill>
            <a:srgbClr val="CBD5E1"/>
          </a:solidFill>
          <a:ln cap="flat" cmpd="sng" w="12700">
            <a:solidFill>
              <a:srgbClr val="CBD5E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17"/>
          <p:cNvSpPr txBox="1"/>
          <p:nvPr/>
        </p:nvSpPr>
        <p:spPr>
          <a:xfrm>
            <a:off x="6921094" y="4714646"/>
            <a:ext cx="1972361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Month 2: Momentum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7"/>
          <p:cNvSpPr txBox="1"/>
          <p:nvPr/>
        </p:nvSpPr>
        <p:spPr>
          <a:xfrm>
            <a:off x="6921094" y="4962449"/>
            <a:ext cx="1972361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$38,292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7"/>
          <p:cNvSpPr txBox="1"/>
          <p:nvPr/>
        </p:nvSpPr>
        <p:spPr>
          <a:xfrm>
            <a:off x="7130491" y="5343754"/>
            <a:ext cx="1762963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52 Reactivations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24" name="Google Shape;624;p17"/>
          <p:cNvPicPr preferRelativeResize="0"/>
          <p:nvPr/>
        </p:nvPicPr>
        <p:blipFill rotWithShape="1">
          <a:blip r:embed="rId4">
            <a:alphaModFix/>
          </a:blip>
          <a:srcRect b="-524" l="0" r="0" t="-524"/>
          <a:stretch/>
        </p:blipFill>
        <p:spPr>
          <a:xfrm>
            <a:off x="6921094" y="5374843"/>
            <a:ext cx="152705" cy="123444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17"/>
          <p:cNvSpPr/>
          <p:nvPr/>
        </p:nvSpPr>
        <p:spPr>
          <a:xfrm>
            <a:off x="9271102" y="4486046"/>
            <a:ext cx="2352751" cy="1238098"/>
          </a:xfrm>
          <a:prstGeom prst="roundRect">
            <a:avLst>
              <a:gd fmla="val 11362" name="adj"/>
            </a:avLst>
          </a:prstGeom>
          <a:solidFill>
            <a:srgbClr val="F0F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17"/>
          <p:cNvSpPr/>
          <p:nvPr/>
        </p:nvSpPr>
        <p:spPr>
          <a:xfrm>
            <a:off x="9271102" y="4486046"/>
            <a:ext cx="2352751" cy="38405"/>
          </a:xfrm>
          <a:prstGeom prst="roundRect">
            <a:avLst>
              <a:gd fmla="val 366298" name="adj"/>
            </a:avLst>
          </a:prstGeom>
          <a:solidFill>
            <a:srgbClr val="10B981"/>
          </a:solidFill>
          <a:ln cap="flat" cmpd="sng" w="12700">
            <a:solidFill>
              <a:srgbClr val="10B98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17"/>
          <p:cNvSpPr txBox="1"/>
          <p:nvPr/>
        </p:nvSpPr>
        <p:spPr>
          <a:xfrm>
            <a:off x="9461297" y="4714646"/>
            <a:ext cx="1972361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Month 3: Optimization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7"/>
          <p:cNvSpPr txBox="1"/>
          <p:nvPr/>
        </p:nvSpPr>
        <p:spPr>
          <a:xfrm>
            <a:off x="9461297" y="4962449"/>
            <a:ext cx="1972361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$58,911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29" name="Google Shape;629;p17"/>
          <p:cNvPicPr preferRelativeResize="0"/>
          <p:nvPr/>
        </p:nvPicPr>
        <p:blipFill rotWithShape="1">
          <a:blip r:embed="rId5">
            <a:alphaModFix/>
          </a:blip>
          <a:srcRect b="-524" l="0" r="0" t="-524"/>
          <a:stretch/>
        </p:blipFill>
        <p:spPr>
          <a:xfrm>
            <a:off x="9461297" y="5374843"/>
            <a:ext cx="152705" cy="123444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17"/>
          <p:cNvSpPr txBox="1"/>
          <p:nvPr/>
        </p:nvSpPr>
        <p:spPr>
          <a:xfrm>
            <a:off x="9670694" y="5343754"/>
            <a:ext cx="1376172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047857"/>
                </a:solidFill>
                <a:latin typeface="Open Sans"/>
                <a:ea typeface="Open Sans"/>
                <a:cs typeface="Open Sans"/>
                <a:sym typeface="Open Sans"/>
              </a:rPr>
              <a:t>79 Reactivations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31" name="Google Shape;631;p17"/>
          <p:cNvPicPr preferRelativeResize="0"/>
          <p:nvPr/>
        </p:nvPicPr>
        <p:blipFill rotWithShape="1">
          <a:blip r:embed="rId6">
            <a:alphaModFix/>
          </a:blip>
          <a:srcRect b="-521" l="0" r="0" t="-521"/>
          <a:stretch/>
        </p:blipFill>
        <p:spPr>
          <a:xfrm>
            <a:off x="4190695" y="5910682"/>
            <a:ext cx="7429500" cy="476402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17"/>
          <p:cNvSpPr txBox="1"/>
          <p:nvPr/>
        </p:nvSpPr>
        <p:spPr>
          <a:xfrm>
            <a:off x="4533595" y="5910682"/>
            <a:ext cx="7086600" cy="4764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Note:</a:t>
            </a:r>
            <a:r>
              <a:rPr b="0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Projections based on average HVAC ticket value of $300-$350 and standard campaign conversion curves.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33" name="Google Shape;63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34256" y="6078017"/>
            <a:ext cx="123444" cy="123444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17"/>
          <p:cNvSpPr txBox="1"/>
          <p:nvPr/>
        </p:nvSpPr>
        <p:spPr>
          <a:xfrm>
            <a:off x="11705234" y="6400800"/>
            <a:ext cx="154534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Montserrat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7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36" name="Google Shape;636;p17"/>
          <p:cNvPicPr preferRelativeResize="0"/>
          <p:nvPr/>
        </p:nvPicPr>
        <p:blipFill rotWithShape="1">
          <a:blip r:embed="rId8">
            <a:alphaModFix amt="5000"/>
          </a:blip>
          <a:srcRect b="-44745" l="0" r="0" t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17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10B981"/>
                </a:solidFill>
                <a:latin typeface="Montserrat"/>
                <a:ea typeface="Montserrat"/>
                <a:cs typeface="Montserrat"/>
                <a:sym typeface="Montserrat"/>
              </a:rPr>
              <a:t>Revenue Projection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7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17"/>
          <p:cNvSpPr txBox="1"/>
          <p:nvPr/>
        </p:nvSpPr>
        <p:spPr>
          <a:xfrm>
            <a:off x="381305" y="909828"/>
            <a:ext cx="2857500" cy="9628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90-Day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Forecast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7"/>
          <p:cNvSpPr/>
          <p:nvPr/>
        </p:nvSpPr>
        <p:spPr>
          <a:xfrm>
            <a:off x="381305" y="2155241"/>
            <a:ext cx="9144" cy="1619402"/>
          </a:xfrm>
          <a:prstGeom prst="rect">
            <a:avLst/>
          </a:prstGeom>
          <a:solidFill>
            <a:srgbClr val="FFFFFF">
              <a:alpha val="2000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17"/>
          <p:cNvSpPr txBox="1"/>
          <p:nvPr/>
        </p:nvSpPr>
        <p:spPr>
          <a:xfrm>
            <a:off x="580644" y="2155241"/>
            <a:ext cx="2658161" cy="495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Reactivation isn't instant—it builds momentum.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17"/>
          <p:cNvSpPr txBox="1"/>
          <p:nvPr/>
        </p:nvSpPr>
        <p:spPr>
          <a:xfrm>
            <a:off x="580644" y="2795321"/>
            <a:ext cx="2658161" cy="9811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As multi-touch campaigns saturate your list, response rates (and revenue) compound month over month.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43" name="Google Shape;643;p17"/>
          <p:cNvPicPr preferRelativeResize="0"/>
          <p:nvPr/>
        </p:nvPicPr>
        <p:blipFill rotWithShape="1">
          <a:blip r:embed="rId9">
            <a:alphaModFix amt="80000"/>
          </a:blip>
          <a:srcRect b="0" l="0" r="0" t="0"/>
          <a:stretch/>
        </p:blipFill>
        <p:spPr>
          <a:xfrm>
            <a:off x="381305" y="377098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44" name="Google Shape;644;p17"/>
          <p:cNvPicPr preferRelativeResize="0"/>
          <p:nvPr/>
        </p:nvPicPr>
        <p:blipFill rotWithShape="1">
          <a:blip r:embed="rId10">
            <a:alphaModFix/>
          </a:blip>
          <a:srcRect b="0" l="-2" r="-2" t="0"/>
          <a:stretch/>
        </p:blipFill>
        <p:spPr>
          <a:xfrm>
            <a:off x="9567367" y="476402"/>
            <a:ext cx="2053742" cy="1162202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17"/>
          <p:cNvSpPr txBox="1"/>
          <p:nvPr/>
        </p:nvSpPr>
        <p:spPr>
          <a:xfrm>
            <a:off x="9595714" y="666598"/>
            <a:ext cx="1743761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Total 90-Day Revenue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7"/>
          <p:cNvSpPr txBox="1"/>
          <p:nvPr/>
        </p:nvSpPr>
        <p:spPr>
          <a:xfrm>
            <a:off x="9731959" y="886054"/>
            <a:ext cx="160751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700"/>
              <a:buFont typeface="Montserrat"/>
              <a:buNone/>
            </a:pPr>
            <a:r>
              <a:rPr b="1" i="0" lang="en-US" sz="2700" u="none" cap="none" strike="noStrike">
                <a:solidFill>
                  <a:srgbClr val="10B981"/>
                </a:solidFill>
                <a:latin typeface="Montserrat"/>
                <a:ea typeface="Montserrat"/>
                <a:cs typeface="Montserrat"/>
                <a:sym typeface="Montserrat"/>
              </a:rPr>
              <a:t>$117,822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7"/>
          <p:cNvSpPr txBox="1"/>
          <p:nvPr/>
        </p:nvSpPr>
        <p:spPr>
          <a:xfrm>
            <a:off x="9852660" y="1276502"/>
            <a:ext cx="1485900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Conservative Estimate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18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18"/>
          <p:cNvSpPr txBox="1"/>
          <p:nvPr/>
        </p:nvSpPr>
        <p:spPr>
          <a:xfrm>
            <a:off x="4190695" y="476402"/>
            <a:ext cx="7429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Reactivation vs. New Acquisition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57" name="Google Shape;657;p18"/>
          <p:cNvPicPr preferRelativeResize="0"/>
          <p:nvPr/>
        </p:nvPicPr>
        <p:blipFill rotWithShape="1">
          <a:blip r:embed="rId3">
            <a:alphaModFix/>
          </a:blip>
          <a:srcRect b="0" l="-2" r="-2" t="0"/>
          <a:stretch/>
        </p:blipFill>
        <p:spPr>
          <a:xfrm>
            <a:off x="4190695" y="1314907"/>
            <a:ext cx="3524098" cy="3619195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18"/>
          <p:cNvSpPr/>
          <p:nvPr/>
        </p:nvSpPr>
        <p:spPr>
          <a:xfrm>
            <a:off x="4476902" y="2362810"/>
            <a:ext cx="2952598" cy="9144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18"/>
          <p:cNvSpPr/>
          <p:nvPr/>
        </p:nvSpPr>
        <p:spPr>
          <a:xfrm>
            <a:off x="4476902" y="1686154"/>
            <a:ext cx="457200" cy="457200"/>
          </a:xfrm>
          <a:prstGeom prst="roundRect">
            <a:avLst>
              <a:gd fmla="val 100000" name="adj"/>
            </a:avLst>
          </a:prstGeom>
          <a:solidFill>
            <a:srgbClr val="FEF2F2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60" name="Google Shape;66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86630" y="1819656"/>
            <a:ext cx="237744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18"/>
          <p:cNvSpPr txBox="1"/>
          <p:nvPr/>
        </p:nvSpPr>
        <p:spPr>
          <a:xfrm>
            <a:off x="5086807" y="1657807"/>
            <a:ext cx="1334110" cy="514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New Customer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Acquisition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18"/>
          <p:cNvSpPr txBox="1"/>
          <p:nvPr/>
        </p:nvSpPr>
        <p:spPr>
          <a:xfrm>
            <a:off x="4476902" y="2614270"/>
            <a:ext cx="1353312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Marketing Input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8"/>
          <p:cNvSpPr txBox="1"/>
          <p:nvPr/>
        </p:nvSpPr>
        <p:spPr>
          <a:xfrm>
            <a:off x="6791249" y="2600554"/>
            <a:ext cx="68762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$500.00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8"/>
          <p:cNvSpPr txBox="1"/>
          <p:nvPr/>
        </p:nvSpPr>
        <p:spPr>
          <a:xfrm>
            <a:off x="4476902" y="2995574"/>
            <a:ext cx="1356055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Conversion Rate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18"/>
          <p:cNvSpPr txBox="1"/>
          <p:nvPr/>
        </p:nvSpPr>
        <p:spPr>
          <a:xfrm>
            <a:off x="7062826" y="2980944"/>
            <a:ext cx="3931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2.0%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8"/>
          <p:cNvSpPr txBox="1"/>
          <p:nvPr/>
        </p:nvSpPr>
        <p:spPr>
          <a:xfrm>
            <a:off x="4476902" y="3376879"/>
            <a:ext cx="1356055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Sales Generated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8"/>
          <p:cNvSpPr txBox="1"/>
          <p:nvPr/>
        </p:nvSpPr>
        <p:spPr>
          <a:xfrm>
            <a:off x="7251192" y="3362249"/>
            <a:ext cx="19659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~2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18"/>
          <p:cNvSpPr/>
          <p:nvPr/>
        </p:nvSpPr>
        <p:spPr>
          <a:xfrm>
            <a:off x="4476902" y="3819449"/>
            <a:ext cx="2952598" cy="9144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18"/>
          <p:cNvSpPr txBox="1"/>
          <p:nvPr/>
        </p:nvSpPr>
        <p:spPr>
          <a:xfrm>
            <a:off x="4476902" y="4019702"/>
            <a:ext cx="295351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Cost Per Sale (CAC)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8"/>
          <p:cNvSpPr txBox="1"/>
          <p:nvPr/>
        </p:nvSpPr>
        <p:spPr>
          <a:xfrm>
            <a:off x="4476902" y="4267505"/>
            <a:ext cx="2953512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EF4444"/>
                </a:solidFill>
                <a:latin typeface="Montserrat"/>
                <a:ea typeface="Montserrat"/>
                <a:cs typeface="Montserrat"/>
                <a:sym typeface="Montserrat"/>
              </a:rPr>
              <a:t>$250.00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71" name="Google Shape;671;p18"/>
          <p:cNvPicPr preferRelativeResize="0"/>
          <p:nvPr/>
        </p:nvPicPr>
        <p:blipFill rotWithShape="1">
          <a:blip r:embed="rId5">
            <a:alphaModFix/>
          </a:blip>
          <a:srcRect b="0" l="-198" r="-198" t="0"/>
          <a:stretch/>
        </p:blipFill>
        <p:spPr>
          <a:xfrm>
            <a:off x="4476902" y="4819802"/>
            <a:ext cx="2952598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72" name="Google Shape;672;p18"/>
          <p:cNvPicPr preferRelativeResize="0"/>
          <p:nvPr/>
        </p:nvPicPr>
        <p:blipFill rotWithShape="1">
          <a:blip r:embed="rId6">
            <a:alphaModFix/>
          </a:blip>
          <a:srcRect b="0" l="-198" r="-198" t="0"/>
          <a:stretch/>
        </p:blipFill>
        <p:spPr>
          <a:xfrm>
            <a:off x="4476902" y="4819802"/>
            <a:ext cx="2952598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18"/>
          <p:cNvSpPr/>
          <p:nvPr/>
        </p:nvSpPr>
        <p:spPr>
          <a:xfrm>
            <a:off x="4190695" y="5219395"/>
            <a:ext cx="7429500" cy="523951"/>
          </a:xfrm>
          <a:prstGeom prst="roundRect">
            <a:avLst>
              <a:gd fmla="val 50769" name="adj"/>
            </a:avLst>
          </a:prstGeom>
          <a:solidFill>
            <a:srgbClr val="FFFBEB"/>
          </a:solidFill>
          <a:ln cap="flat" cmpd="sng" w="12700">
            <a:solidFill>
              <a:srgbClr val="FEF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74" name="Google Shape;674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29354" y="5386730"/>
            <a:ext cx="142646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18"/>
          <p:cNvSpPr txBox="1"/>
          <p:nvPr/>
        </p:nvSpPr>
        <p:spPr>
          <a:xfrm>
            <a:off x="4724705" y="5219395"/>
            <a:ext cx="6467551" cy="5239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92400E"/>
                </a:solidFill>
                <a:latin typeface="Open Sans"/>
                <a:ea typeface="Open Sans"/>
                <a:cs typeface="Open Sans"/>
                <a:sym typeface="Open Sans"/>
              </a:rPr>
              <a:t>Bottom Line:</a:t>
            </a:r>
            <a:r>
              <a:rPr b="0" i="0" lang="en-US" sz="1000" u="none" cap="none" strike="noStrike">
                <a:solidFill>
                  <a:srgbClr val="92400E"/>
                </a:solidFill>
                <a:latin typeface="Open Sans"/>
                <a:ea typeface="Open Sans"/>
                <a:cs typeface="Open Sans"/>
                <a:sym typeface="Open Sans"/>
              </a:rPr>
              <a:t> You can acquire </a:t>
            </a:r>
            <a:r>
              <a:rPr b="1" i="0" lang="en-US" sz="1000" u="none" cap="none" strike="noStrike">
                <a:solidFill>
                  <a:srgbClr val="92400E"/>
                </a:solidFill>
                <a:latin typeface="Open Sans"/>
                <a:ea typeface="Open Sans"/>
                <a:cs typeface="Open Sans"/>
                <a:sym typeface="Open Sans"/>
              </a:rPr>
              <a:t>40 reactivated customers</a:t>
            </a:r>
            <a:r>
              <a:rPr b="0" i="0" lang="en-US" sz="1000" u="none" cap="none" strike="noStrike">
                <a:solidFill>
                  <a:srgbClr val="92400E"/>
                </a:solidFill>
                <a:latin typeface="Open Sans"/>
                <a:ea typeface="Open Sans"/>
                <a:cs typeface="Open Sans"/>
                <a:sym typeface="Open Sans"/>
              </a:rPr>
              <a:t> for the same cost as finding </a:t>
            </a:r>
            <a:r>
              <a:rPr b="1" i="0" lang="en-US" sz="1000" u="none" cap="none" strike="noStrike">
                <a:solidFill>
                  <a:srgbClr val="92400E"/>
                </a:solidFill>
                <a:latin typeface="Open Sans"/>
                <a:ea typeface="Open Sans"/>
                <a:cs typeface="Open Sans"/>
                <a:sym typeface="Open Sans"/>
              </a:rPr>
              <a:t>1 new stranger</a:t>
            </a:r>
            <a:r>
              <a:rPr b="0" i="0" lang="en-US" sz="1000" u="none" cap="none" strike="noStrike">
                <a:solidFill>
                  <a:srgbClr val="92400E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18"/>
          <p:cNvSpPr txBox="1"/>
          <p:nvPr/>
        </p:nvSpPr>
        <p:spPr>
          <a:xfrm>
            <a:off x="11699748" y="6400800"/>
            <a:ext cx="154534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Montserrat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77" name="Google Shape;677;p18"/>
          <p:cNvPicPr preferRelativeResize="0"/>
          <p:nvPr/>
        </p:nvPicPr>
        <p:blipFill rotWithShape="1">
          <a:blip r:embed="rId8">
            <a:alphaModFix/>
          </a:blip>
          <a:srcRect b="0" l="-3" r="-3" t="0"/>
          <a:stretch/>
        </p:blipFill>
        <p:spPr>
          <a:xfrm>
            <a:off x="8061350" y="1278331"/>
            <a:ext cx="3594506" cy="3691433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18"/>
          <p:cNvSpPr/>
          <p:nvPr/>
        </p:nvSpPr>
        <p:spPr>
          <a:xfrm>
            <a:off x="8352130" y="2351837"/>
            <a:ext cx="3019349" cy="9144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18"/>
          <p:cNvSpPr/>
          <p:nvPr/>
        </p:nvSpPr>
        <p:spPr>
          <a:xfrm>
            <a:off x="8352130" y="1656893"/>
            <a:ext cx="466344" cy="466344"/>
          </a:xfrm>
          <a:prstGeom prst="roundRect">
            <a:avLst>
              <a:gd fmla="val 96038" name="adj"/>
            </a:avLst>
          </a:prstGeom>
          <a:solidFill>
            <a:srgbClr val="DCFCE7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80" name="Google Shape;680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88375" y="1793138"/>
            <a:ext cx="200254" cy="200254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18"/>
          <p:cNvSpPr txBox="1"/>
          <p:nvPr/>
        </p:nvSpPr>
        <p:spPr>
          <a:xfrm>
            <a:off x="8973922" y="1627632"/>
            <a:ext cx="1381658" cy="5340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Dormant Asset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Reactivation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18"/>
          <p:cNvSpPr txBox="1"/>
          <p:nvPr/>
        </p:nvSpPr>
        <p:spPr>
          <a:xfrm>
            <a:off x="8352130" y="2604211"/>
            <a:ext cx="1274674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Campaign Input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18"/>
          <p:cNvSpPr txBox="1"/>
          <p:nvPr/>
        </p:nvSpPr>
        <p:spPr>
          <a:xfrm>
            <a:off x="10830154" y="2589581"/>
            <a:ext cx="588874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$75.00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18"/>
          <p:cNvSpPr txBox="1"/>
          <p:nvPr/>
        </p:nvSpPr>
        <p:spPr>
          <a:xfrm>
            <a:off x="8352130" y="2992831"/>
            <a:ext cx="1358798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Conversion Rate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18"/>
          <p:cNvSpPr txBox="1"/>
          <p:nvPr/>
        </p:nvSpPr>
        <p:spPr>
          <a:xfrm>
            <a:off x="10929823" y="2978201"/>
            <a:ext cx="490118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12.0%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18"/>
          <p:cNvSpPr txBox="1"/>
          <p:nvPr/>
        </p:nvSpPr>
        <p:spPr>
          <a:xfrm>
            <a:off x="8352130" y="3381451"/>
            <a:ext cx="1358798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Sales Generated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18"/>
          <p:cNvSpPr txBox="1"/>
          <p:nvPr/>
        </p:nvSpPr>
        <p:spPr>
          <a:xfrm>
            <a:off x="11121847" y="3366821"/>
            <a:ext cx="293522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~12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18"/>
          <p:cNvSpPr/>
          <p:nvPr/>
        </p:nvSpPr>
        <p:spPr>
          <a:xfrm>
            <a:off x="8352130" y="3833165"/>
            <a:ext cx="3019349" cy="9144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18"/>
          <p:cNvSpPr txBox="1"/>
          <p:nvPr/>
        </p:nvSpPr>
        <p:spPr>
          <a:xfrm>
            <a:off x="8352130" y="4037076"/>
            <a:ext cx="3020263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Cost Per Sale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18"/>
          <p:cNvSpPr txBox="1"/>
          <p:nvPr/>
        </p:nvSpPr>
        <p:spPr>
          <a:xfrm>
            <a:off x="8352130" y="4290365"/>
            <a:ext cx="3020263" cy="4096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059669"/>
                </a:solidFill>
                <a:latin typeface="Montserrat"/>
                <a:ea typeface="Montserrat"/>
                <a:cs typeface="Montserrat"/>
                <a:sym typeface="Montserrat"/>
              </a:rPr>
              <a:t>$6.25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91" name="Google Shape;691;p18"/>
          <p:cNvPicPr preferRelativeResize="0"/>
          <p:nvPr/>
        </p:nvPicPr>
        <p:blipFill rotWithShape="1">
          <a:blip r:embed="rId10">
            <a:alphaModFix/>
          </a:blip>
          <a:srcRect b="0" l="-4" r="-4" t="0"/>
          <a:stretch/>
        </p:blipFill>
        <p:spPr>
          <a:xfrm>
            <a:off x="8352130" y="4853635"/>
            <a:ext cx="3012034" cy="77724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18"/>
          <p:cNvSpPr/>
          <p:nvPr/>
        </p:nvSpPr>
        <p:spPr>
          <a:xfrm>
            <a:off x="8352130" y="4853635"/>
            <a:ext cx="75895" cy="85954"/>
          </a:xfrm>
          <a:prstGeom prst="roundRect">
            <a:avLst>
              <a:gd fmla="val 1204822" name="adj"/>
            </a:avLst>
          </a:prstGeom>
          <a:solidFill>
            <a:srgbClr val="10B981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18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94" name="Google Shape;694;p18"/>
          <p:cNvPicPr preferRelativeResize="0"/>
          <p:nvPr/>
        </p:nvPicPr>
        <p:blipFill rotWithShape="1">
          <a:blip r:embed="rId11">
            <a:alphaModFix amt="5000"/>
          </a:blip>
          <a:srcRect b="-44745" l="0" r="0" t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18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10B981"/>
                </a:solidFill>
                <a:latin typeface="Montserrat"/>
                <a:ea typeface="Montserrat"/>
                <a:cs typeface="Montserrat"/>
                <a:sym typeface="Montserrat"/>
              </a:rPr>
              <a:t>Opportunity Analysis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18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18"/>
          <p:cNvSpPr txBox="1"/>
          <p:nvPr/>
        </p:nvSpPr>
        <p:spPr>
          <a:xfrm>
            <a:off x="381305" y="909828"/>
            <a:ext cx="2857500" cy="9628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ROI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Math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18"/>
          <p:cNvSpPr/>
          <p:nvPr/>
        </p:nvSpPr>
        <p:spPr>
          <a:xfrm>
            <a:off x="381305" y="2155241"/>
            <a:ext cx="9144" cy="1619402"/>
          </a:xfrm>
          <a:prstGeom prst="rect">
            <a:avLst/>
          </a:prstGeom>
          <a:solidFill>
            <a:srgbClr val="FFFFFF">
              <a:alpha val="2000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18"/>
          <p:cNvSpPr txBox="1"/>
          <p:nvPr/>
        </p:nvSpPr>
        <p:spPr>
          <a:xfrm>
            <a:off x="580644" y="2155241"/>
            <a:ext cx="2658161" cy="12198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When we compare the unit economics of acquiring a new customer versus reactivating an asset you already own, the difference isn't just marginal.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18"/>
          <p:cNvSpPr txBox="1"/>
          <p:nvPr/>
        </p:nvSpPr>
        <p:spPr>
          <a:xfrm>
            <a:off x="580644" y="3526841"/>
            <a:ext cx="2658161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It's exponential.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01" name="Google Shape;701;p18"/>
          <p:cNvPicPr preferRelativeResize="0"/>
          <p:nvPr/>
        </p:nvPicPr>
        <p:blipFill rotWithShape="1">
          <a:blip r:embed="rId12">
            <a:alphaModFix amt="80000"/>
          </a:blip>
          <a:srcRect b="0" l="0" r="0" t="0"/>
          <a:stretch/>
        </p:blipFill>
        <p:spPr>
          <a:xfrm>
            <a:off x="381305" y="3770986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02" name="Google Shape;702;p18"/>
          <p:cNvPicPr preferRelativeResize="0"/>
          <p:nvPr/>
        </p:nvPicPr>
        <p:blipFill rotWithShape="1">
          <a:blip r:embed="rId13">
            <a:alphaModFix/>
          </a:blip>
          <a:srcRect b="0" l="-160" r="-160" t="0"/>
          <a:stretch/>
        </p:blipFill>
        <p:spPr>
          <a:xfrm>
            <a:off x="6756502" y="2790749"/>
            <a:ext cx="2305202" cy="666598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18"/>
          <p:cNvSpPr/>
          <p:nvPr/>
        </p:nvSpPr>
        <p:spPr>
          <a:xfrm>
            <a:off x="7141271" y="2790750"/>
            <a:ext cx="23052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40x Better ROI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04" name="Google Shape;704;p18"/>
          <p:cNvPicPr preferRelativeResize="0"/>
          <p:nvPr/>
        </p:nvPicPr>
        <p:blipFill rotWithShape="1">
          <a:blip r:embed="rId14">
            <a:alphaModFix/>
          </a:blip>
          <a:srcRect b="0" l="-1648" r="-1648" t="0"/>
          <a:stretch/>
        </p:blipFill>
        <p:spPr>
          <a:xfrm>
            <a:off x="7023506" y="3029407"/>
            <a:ext cx="171907" cy="1901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19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19"/>
          <p:cNvSpPr txBox="1"/>
          <p:nvPr/>
        </p:nvSpPr>
        <p:spPr>
          <a:xfrm>
            <a:off x="4190695" y="476402"/>
            <a:ext cx="7429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Why One Email Blast Won't Work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19"/>
          <p:cNvSpPr txBox="1"/>
          <p:nvPr/>
        </p:nvSpPr>
        <p:spPr>
          <a:xfrm>
            <a:off x="4190695" y="1218895"/>
            <a:ext cx="7429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We execute a 90-day orchestrated campaign to surround your dormant customers and continue if your satisfied with the lead results.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19"/>
          <p:cNvSpPr/>
          <p:nvPr/>
        </p:nvSpPr>
        <p:spPr>
          <a:xfrm>
            <a:off x="4190700" y="1747574"/>
            <a:ext cx="7429500" cy="2333100"/>
          </a:xfrm>
          <a:prstGeom prst="roundRect">
            <a:avLst>
              <a:gd fmla="val 242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19"/>
          <p:cNvSpPr txBox="1"/>
          <p:nvPr/>
        </p:nvSpPr>
        <p:spPr>
          <a:xfrm>
            <a:off x="5381244" y="1914754"/>
            <a:ext cx="405079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Day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19"/>
          <p:cNvSpPr txBox="1"/>
          <p:nvPr/>
        </p:nvSpPr>
        <p:spPr>
          <a:xfrm>
            <a:off x="7206386" y="1914754"/>
            <a:ext cx="485546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Day 30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19"/>
          <p:cNvSpPr txBox="1"/>
          <p:nvPr/>
        </p:nvSpPr>
        <p:spPr>
          <a:xfrm>
            <a:off x="9096451" y="1914754"/>
            <a:ext cx="485546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Day 60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19"/>
          <p:cNvSpPr txBox="1"/>
          <p:nvPr/>
        </p:nvSpPr>
        <p:spPr>
          <a:xfrm>
            <a:off x="10987430" y="1914754"/>
            <a:ext cx="485546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Day 90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19"/>
          <p:cNvSpPr txBox="1"/>
          <p:nvPr/>
        </p:nvSpPr>
        <p:spPr>
          <a:xfrm>
            <a:off x="4629607" y="2373782"/>
            <a:ext cx="752551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 Email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21" name="Google Shape;72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9354" y="2404872"/>
            <a:ext cx="123444" cy="1234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22" name="Google Shape;722;p19"/>
          <p:cNvPicPr preferRelativeResize="0"/>
          <p:nvPr/>
        </p:nvPicPr>
        <p:blipFill rotWithShape="1">
          <a:blip r:embed="rId4">
            <a:alphaModFix/>
          </a:blip>
          <a:srcRect b="0" l="-202" r="-202" t="0"/>
          <a:stretch/>
        </p:blipFill>
        <p:spPr>
          <a:xfrm>
            <a:off x="5533949" y="2428646"/>
            <a:ext cx="5848502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23" name="Google Shape;72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2257" y="2352751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24" name="Google Shape;72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79008" y="2419502"/>
            <a:ext cx="95098" cy="950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25" name="Google Shape;72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558" y="2352751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26" name="Google Shape;72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63310" y="2419502"/>
            <a:ext cx="95098" cy="950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27" name="Google Shape;72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81774" y="2352751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28" name="Google Shape;72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48526" y="2419502"/>
            <a:ext cx="95098" cy="950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29" name="Google Shape;72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51292" y="2352751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30" name="Google Shape;73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18043" y="2419502"/>
            <a:ext cx="95098" cy="950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31" name="Google Shape;73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36508" y="2352751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32" name="Google Shape;73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03259" y="2419502"/>
            <a:ext cx="95098" cy="950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33" name="Google Shape;73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06026" y="2352751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34" name="Google Shape;73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72777" y="2419502"/>
            <a:ext cx="95098" cy="950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35" name="Google Shape;73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90327" y="2352751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36" name="Google Shape;73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457078" y="2419502"/>
            <a:ext cx="95098" cy="95098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19"/>
          <p:cNvSpPr txBox="1"/>
          <p:nvPr/>
        </p:nvSpPr>
        <p:spPr>
          <a:xfrm>
            <a:off x="4629607" y="2907792"/>
            <a:ext cx="752551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 Mail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38" name="Google Shape;738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29354" y="2938882"/>
            <a:ext cx="123444" cy="123444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19"/>
          <p:cNvSpPr/>
          <p:nvPr/>
        </p:nvSpPr>
        <p:spPr>
          <a:xfrm>
            <a:off x="5533949" y="2962656"/>
            <a:ext cx="5848502" cy="75895"/>
          </a:xfrm>
          <a:prstGeom prst="roundRect">
            <a:avLst>
              <a:gd fmla="val 1204822" name="adj"/>
            </a:avLst>
          </a:prstGeom>
          <a:solidFill>
            <a:srgbClr val="F1F5F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40" name="Google Shape;740;p19"/>
          <p:cNvPicPr preferRelativeResize="0"/>
          <p:nvPr/>
        </p:nvPicPr>
        <p:blipFill rotWithShape="1">
          <a:blip r:embed="rId8">
            <a:alphaModFix/>
          </a:blip>
          <a:srcRect b="0" l="-234" r="-234" t="0"/>
          <a:stretch/>
        </p:blipFill>
        <p:spPr>
          <a:xfrm>
            <a:off x="6119165" y="2885846"/>
            <a:ext cx="70500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19"/>
          <p:cNvSpPr txBox="1"/>
          <p:nvPr/>
        </p:nvSpPr>
        <p:spPr>
          <a:xfrm>
            <a:off x="6119165" y="2885846"/>
            <a:ext cx="70500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Open San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Postcard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42" name="Google Shape;742;p19"/>
          <p:cNvPicPr preferRelativeResize="0"/>
          <p:nvPr/>
        </p:nvPicPr>
        <p:blipFill rotWithShape="1">
          <a:blip r:embed="rId8">
            <a:alphaModFix/>
          </a:blip>
          <a:srcRect b="0" l="-234" r="-234" t="0"/>
          <a:stretch/>
        </p:blipFill>
        <p:spPr>
          <a:xfrm>
            <a:off x="7872984" y="2885846"/>
            <a:ext cx="70500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19"/>
          <p:cNvSpPr txBox="1"/>
          <p:nvPr/>
        </p:nvSpPr>
        <p:spPr>
          <a:xfrm>
            <a:off x="7872984" y="2885846"/>
            <a:ext cx="70500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Open San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Postcard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44" name="Google Shape;744;p19"/>
          <p:cNvPicPr preferRelativeResize="0"/>
          <p:nvPr/>
        </p:nvPicPr>
        <p:blipFill rotWithShape="1">
          <a:blip r:embed="rId8">
            <a:alphaModFix/>
          </a:blip>
          <a:srcRect b="0" l="-234" r="-234" t="0"/>
          <a:stretch/>
        </p:blipFill>
        <p:spPr>
          <a:xfrm>
            <a:off x="9627718" y="2885846"/>
            <a:ext cx="70500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19"/>
          <p:cNvSpPr txBox="1"/>
          <p:nvPr/>
        </p:nvSpPr>
        <p:spPr>
          <a:xfrm>
            <a:off x="9627718" y="2885846"/>
            <a:ext cx="70500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Open San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Postcard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19"/>
          <p:cNvSpPr txBox="1"/>
          <p:nvPr/>
        </p:nvSpPr>
        <p:spPr>
          <a:xfrm>
            <a:off x="4629607" y="3372573"/>
            <a:ext cx="7527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 News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47" name="Google Shape;747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429354" y="3403663"/>
            <a:ext cx="123444" cy="123444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19"/>
          <p:cNvSpPr/>
          <p:nvPr/>
        </p:nvSpPr>
        <p:spPr>
          <a:xfrm>
            <a:off x="5533949" y="3456538"/>
            <a:ext cx="5848500" cy="75900"/>
          </a:xfrm>
          <a:prstGeom prst="roundRect">
            <a:avLst>
              <a:gd fmla="val 1204822" name="adj"/>
            </a:avLst>
          </a:prstGeom>
          <a:solidFill>
            <a:srgbClr val="F1F5F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49" name="Google Shape;749;p19"/>
          <p:cNvPicPr preferRelativeResize="0"/>
          <p:nvPr/>
        </p:nvPicPr>
        <p:blipFill rotWithShape="1">
          <a:blip r:embed="rId10">
            <a:alphaModFix/>
          </a:blip>
          <a:srcRect b="0" l="-923" r="-923" t="0"/>
          <a:stretch/>
        </p:blipFill>
        <p:spPr>
          <a:xfrm>
            <a:off x="7288682" y="3273941"/>
            <a:ext cx="47640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50" name="Google Shape;750;p19"/>
          <p:cNvSpPr txBox="1"/>
          <p:nvPr/>
        </p:nvSpPr>
        <p:spPr>
          <a:xfrm>
            <a:off x="7288682" y="3283641"/>
            <a:ext cx="47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Open San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News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51" name="Google Shape;751;p19"/>
          <p:cNvPicPr preferRelativeResize="0"/>
          <p:nvPr/>
        </p:nvPicPr>
        <p:blipFill rotWithShape="1">
          <a:blip r:embed="rId10">
            <a:alphaModFix/>
          </a:blip>
          <a:srcRect b="0" l="-923" r="-923" t="0"/>
          <a:stretch/>
        </p:blipFill>
        <p:spPr>
          <a:xfrm>
            <a:off x="9042502" y="3293341"/>
            <a:ext cx="47640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19"/>
          <p:cNvSpPr txBox="1"/>
          <p:nvPr/>
        </p:nvSpPr>
        <p:spPr>
          <a:xfrm>
            <a:off x="9042502" y="3283641"/>
            <a:ext cx="47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Open San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News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53" name="Google Shape;753;p19"/>
          <p:cNvPicPr preferRelativeResize="0"/>
          <p:nvPr/>
        </p:nvPicPr>
        <p:blipFill rotWithShape="1">
          <a:blip r:embed="rId10">
            <a:alphaModFix/>
          </a:blip>
          <a:srcRect b="0" l="-923" r="-923" t="0"/>
          <a:stretch/>
        </p:blipFill>
        <p:spPr>
          <a:xfrm>
            <a:off x="10797235" y="3332142"/>
            <a:ext cx="47640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19"/>
          <p:cNvSpPr txBox="1"/>
          <p:nvPr/>
        </p:nvSpPr>
        <p:spPr>
          <a:xfrm>
            <a:off x="10797235" y="3341842"/>
            <a:ext cx="47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Open San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News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19"/>
          <p:cNvSpPr/>
          <p:nvPr/>
        </p:nvSpPr>
        <p:spPr>
          <a:xfrm>
            <a:off x="4190695" y="4100000"/>
            <a:ext cx="1714500" cy="255000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19"/>
          <p:cNvSpPr/>
          <p:nvPr/>
        </p:nvSpPr>
        <p:spPr>
          <a:xfrm>
            <a:off x="4790695" y="4300000"/>
            <a:ext cx="400000" cy="400000"/>
          </a:xfrm>
          <a:prstGeom prst="roundRect">
            <a:avLst>
              <a:gd fmla="val 118519" name="adj"/>
            </a:avLst>
          </a:prstGeom>
          <a:solidFill>
            <a:srgbClr val="EFF6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57" name="Google Shape;757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486046" y="4541139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p19"/>
          <p:cNvSpPr txBox="1"/>
          <p:nvPr/>
        </p:nvSpPr>
        <p:spPr>
          <a:xfrm>
            <a:off x="4290695" y="4250000"/>
            <a:ext cx="15145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Montserrat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Email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Montserrat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Sequence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19"/>
          <p:cNvSpPr txBox="1"/>
          <p:nvPr/>
        </p:nvSpPr>
        <p:spPr>
          <a:xfrm>
            <a:off x="4290695" y="4800000"/>
            <a:ext cx="15145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The engine of the campaign. High frequency, low cost automated touchpoints to gauge interest.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19"/>
          <p:cNvSpPr/>
          <p:nvPr/>
        </p:nvSpPr>
        <p:spPr>
          <a:xfrm>
            <a:off x="4290695" y="6400000"/>
            <a:ext cx="1514500" cy="200000"/>
          </a:xfrm>
          <a:prstGeom prst="roundRect">
            <a:avLst>
              <a:gd fmla="val 53163" name="adj"/>
            </a:avLst>
          </a:prstGeom>
          <a:solidFill>
            <a:srgbClr val="EFF6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19"/>
          <p:cNvSpPr txBox="1"/>
          <p:nvPr/>
        </p:nvSpPr>
        <p:spPr>
          <a:xfrm>
            <a:off x="4290695" y="6050000"/>
            <a:ext cx="1514500" cy="4000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100" lIns="76200" spcFirstLastPara="1" rIns="762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Open Sans"/>
              <a:buNone/>
            </a:pPr>
            <a:r>
              <a:rPr b="1" i="0" lang="en-US" sz="800" u="none" cap="none" strike="noStrike">
                <a:solidFill>
                  <a:srgbClr val="3B82F6"/>
                </a:solidFill>
                <a:latin typeface="Open Sans"/>
                <a:ea typeface="Open Sans"/>
                <a:cs typeface="Open Sans"/>
                <a:sym typeface="Open Sans"/>
              </a:rPr>
              <a:t>High Volume / Low Cost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19"/>
          <p:cNvSpPr/>
          <p:nvPr/>
        </p:nvSpPr>
        <p:spPr>
          <a:xfrm>
            <a:off x="7124520" y="4100000"/>
            <a:ext cx="1714500" cy="255000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19"/>
          <p:cNvSpPr/>
          <p:nvPr/>
        </p:nvSpPr>
        <p:spPr>
          <a:xfrm>
            <a:off x="7724520" y="4300000"/>
            <a:ext cx="400000" cy="400000"/>
          </a:xfrm>
          <a:prstGeom prst="roundRect">
            <a:avLst>
              <a:gd fmla="val 118519" name="adj"/>
            </a:avLst>
          </a:prstGeom>
          <a:solidFill>
            <a:srgbClr val="FFF7ED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64" name="Google Shape;764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303469" y="4638141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19"/>
          <p:cNvSpPr txBox="1"/>
          <p:nvPr/>
        </p:nvSpPr>
        <p:spPr>
          <a:xfrm>
            <a:off x="7224520" y="4250000"/>
            <a:ext cx="15145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Montserrat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Direct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Montserrat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Mail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19"/>
          <p:cNvSpPr txBox="1"/>
          <p:nvPr/>
        </p:nvSpPr>
        <p:spPr>
          <a:xfrm>
            <a:off x="7224520" y="4800000"/>
            <a:ext cx="15145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Physical mail creates a "pattern interrupt" and cuts through digital noise. 100% viewability rate.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19"/>
          <p:cNvSpPr/>
          <p:nvPr/>
        </p:nvSpPr>
        <p:spPr>
          <a:xfrm>
            <a:off x="7224520" y="6400000"/>
            <a:ext cx="1514500" cy="200000"/>
          </a:xfrm>
          <a:prstGeom prst="roundRect">
            <a:avLst>
              <a:gd fmla="val 144928" name="adj"/>
            </a:avLst>
          </a:prstGeom>
          <a:solidFill>
            <a:srgbClr val="FFF7ED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19"/>
          <p:cNvSpPr txBox="1"/>
          <p:nvPr/>
        </p:nvSpPr>
        <p:spPr>
          <a:xfrm>
            <a:off x="7224520" y="6050000"/>
            <a:ext cx="1514500" cy="4000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100" lIns="76200" spcFirstLastPara="1" rIns="762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800"/>
              <a:buFont typeface="Open Sans"/>
              <a:buNone/>
            </a:pPr>
            <a:r>
              <a:rPr b="1" i="0" lang="en-US" sz="800" u="none" cap="none" strike="noStrike">
                <a:solidFill>
                  <a:srgbClr val="F97316"/>
                </a:solidFill>
                <a:latin typeface="Open Sans"/>
                <a:ea typeface="Open Sans"/>
                <a:cs typeface="Open Sans"/>
                <a:sym typeface="Open Sans"/>
              </a:rPr>
              <a:t>High Impact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19"/>
          <p:cNvSpPr/>
          <p:nvPr/>
        </p:nvSpPr>
        <p:spPr>
          <a:xfrm>
            <a:off x="7724520" y="4300000"/>
            <a:ext cx="400000" cy="400000"/>
          </a:xfrm>
          <a:prstGeom prst="roundRect">
            <a:avLst>
              <a:gd fmla="val 118519" name="adj"/>
            </a:avLst>
          </a:prstGeom>
          <a:solidFill>
            <a:srgbClr val="ECFDF5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19"/>
          <p:cNvSpPr txBox="1"/>
          <p:nvPr/>
        </p:nvSpPr>
        <p:spPr>
          <a:xfrm>
            <a:off x="7224520" y="4800000"/>
            <a:ext cx="15145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19"/>
          <p:cNvSpPr/>
          <p:nvPr/>
        </p:nvSpPr>
        <p:spPr>
          <a:xfrm>
            <a:off x="7224520" y="6400000"/>
            <a:ext cx="1514500" cy="200000"/>
          </a:xfrm>
          <a:prstGeom prst="roundRect">
            <a:avLst>
              <a:gd fmla="val 144928" name="adj"/>
            </a:avLst>
          </a:prstGeom>
          <a:solidFill>
            <a:srgbClr val="ECFDF5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19"/>
          <p:cNvSpPr/>
          <p:nvPr/>
        </p:nvSpPr>
        <p:spPr>
          <a:xfrm>
            <a:off x="9905695" y="4100000"/>
            <a:ext cx="1714500" cy="255000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19"/>
          <p:cNvSpPr/>
          <p:nvPr/>
        </p:nvSpPr>
        <p:spPr>
          <a:xfrm>
            <a:off x="10505695" y="4300000"/>
            <a:ext cx="400000" cy="400000"/>
          </a:xfrm>
          <a:prstGeom prst="roundRect">
            <a:avLst>
              <a:gd fmla="val 118519" name="adj"/>
            </a:avLst>
          </a:prstGeom>
          <a:solidFill>
            <a:srgbClr val="EEF2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74" name="Google Shape;774;p1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201046" y="4647841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775" name="Google Shape;775;p19"/>
          <p:cNvSpPr txBox="1"/>
          <p:nvPr/>
        </p:nvSpPr>
        <p:spPr>
          <a:xfrm>
            <a:off x="10005695" y="4250000"/>
            <a:ext cx="15145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Montserrat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Monthly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Montserrat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Newsletter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19"/>
          <p:cNvSpPr txBox="1"/>
          <p:nvPr/>
        </p:nvSpPr>
        <p:spPr>
          <a:xfrm>
            <a:off x="10005695" y="4800000"/>
            <a:ext cx="15145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Adds value without asking for a sale. Rebuilds trust and positions you as the expert.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19"/>
          <p:cNvSpPr/>
          <p:nvPr/>
        </p:nvSpPr>
        <p:spPr>
          <a:xfrm>
            <a:off x="10005695" y="6400000"/>
            <a:ext cx="1514500" cy="200000"/>
          </a:xfrm>
          <a:prstGeom prst="roundRect">
            <a:avLst>
              <a:gd fmla="val 144928" name="adj"/>
            </a:avLst>
          </a:prstGeom>
          <a:solidFill>
            <a:srgbClr val="EEF2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19"/>
          <p:cNvSpPr txBox="1"/>
          <p:nvPr/>
        </p:nvSpPr>
        <p:spPr>
          <a:xfrm>
            <a:off x="10005695" y="6050000"/>
            <a:ext cx="1514500" cy="4000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100" lIns="76200" spcFirstLastPara="1" rIns="762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800"/>
              <a:buFont typeface="Open Sans"/>
              <a:buNone/>
            </a:pPr>
            <a:r>
              <a:rPr b="1" i="0" lang="en-US" sz="800" u="none" cap="none" strike="noStrike">
                <a:solidFill>
                  <a:srgbClr val="6366F1"/>
                </a:solidFill>
                <a:latin typeface="Open Sans"/>
                <a:ea typeface="Open Sans"/>
                <a:cs typeface="Open Sans"/>
                <a:sym typeface="Open Sans"/>
              </a:rPr>
              <a:t>Relationship Glue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19"/>
          <p:cNvSpPr txBox="1"/>
          <p:nvPr/>
        </p:nvSpPr>
        <p:spPr>
          <a:xfrm>
            <a:off x="11702491" y="6400800"/>
            <a:ext cx="154534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Montserrat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80" name="Google Shape;780;p1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655918" y="3486607"/>
            <a:ext cx="95098" cy="95098"/>
          </a:xfrm>
          <a:prstGeom prst="rect">
            <a:avLst/>
          </a:prstGeom>
          <a:noFill/>
          <a:ln>
            <a:noFill/>
          </a:ln>
        </p:spPr>
      </p:pic>
      <p:sp>
        <p:nvSpPr>
          <p:cNvPr id="781" name="Google Shape;781;p19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82" name="Google Shape;782;p19"/>
          <p:cNvPicPr preferRelativeResize="0"/>
          <p:nvPr/>
        </p:nvPicPr>
        <p:blipFill rotWithShape="1">
          <a:blip r:embed="rId15">
            <a:alphaModFix amt="5000"/>
          </a:blip>
          <a:srcRect b="-44745" l="0" r="0" t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19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F97316"/>
                </a:solidFill>
                <a:latin typeface="Montserrat"/>
                <a:ea typeface="Montserrat"/>
                <a:cs typeface="Montserrat"/>
                <a:sym typeface="Montserrat"/>
              </a:rPr>
              <a:t>What It Takes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19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19"/>
          <p:cNvSpPr txBox="1"/>
          <p:nvPr/>
        </p:nvSpPr>
        <p:spPr>
          <a:xfrm>
            <a:off x="381305" y="909828"/>
            <a:ext cx="2857500" cy="1448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Systematic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Multi-Touch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Approach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19"/>
          <p:cNvSpPr/>
          <p:nvPr/>
        </p:nvSpPr>
        <p:spPr>
          <a:xfrm>
            <a:off x="381305" y="2635301"/>
            <a:ext cx="9144" cy="1371600"/>
          </a:xfrm>
          <a:prstGeom prst="rect">
            <a:avLst/>
          </a:prstGeom>
          <a:solidFill>
            <a:srgbClr val="FFFFFF">
              <a:alpha val="2000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19"/>
          <p:cNvSpPr txBox="1"/>
          <p:nvPr/>
        </p:nvSpPr>
        <p:spPr>
          <a:xfrm>
            <a:off x="580644" y="2635301"/>
            <a:ext cx="3162910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Reactivation requires persistence.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19"/>
          <p:cNvSpPr txBox="1"/>
          <p:nvPr/>
        </p:nvSpPr>
        <p:spPr>
          <a:xfrm>
            <a:off x="580644" y="3032150"/>
            <a:ext cx="2658161" cy="9811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 single email is easily ignored. A coordinated system across digital and physical channels makes your offer impossible to miss.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89" name="Google Shape;789;p19"/>
          <p:cNvPicPr preferRelativeResize="0"/>
          <p:nvPr/>
        </p:nvPicPr>
        <p:blipFill rotWithShape="1">
          <a:blip r:embed="rId16">
            <a:alphaModFix amt="80000"/>
          </a:blip>
          <a:srcRect b="0" l="-44" r="-44" t="0"/>
          <a:stretch/>
        </p:blipFill>
        <p:spPr>
          <a:xfrm>
            <a:off x="381305" y="4006901"/>
            <a:ext cx="514807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20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20"/>
          <p:cNvSpPr txBox="1"/>
          <p:nvPr/>
        </p:nvSpPr>
        <p:spPr>
          <a:xfrm>
            <a:off x="4381805" y="858622"/>
            <a:ext cx="729599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Introducing Your Asset Recovery System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99" name="Google Shape;799;p20"/>
          <p:cNvPicPr preferRelativeResize="0"/>
          <p:nvPr/>
        </p:nvPicPr>
        <p:blipFill rotWithShape="1">
          <a:blip r:embed="rId3">
            <a:alphaModFix/>
          </a:blip>
          <a:srcRect b="-4" l="0" r="0" t="-4"/>
          <a:stretch/>
        </p:blipFill>
        <p:spPr>
          <a:xfrm>
            <a:off x="4381805" y="1697126"/>
            <a:ext cx="7048195" cy="2809951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20"/>
          <p:cNvSpPr/>
          <p:nvPr/>
        </p:nvSpPr>
        <p:spPr>
          <a:xfrm>
            <a:off x="4839005" y="1506931"/>
            <a:ext cx="381305" cy="381305"/>
          </a:xfrm>
          <a:prstGeom prst="ellipse">
            <a:avLst/>
          </a:prstGeom>
          <a:solidFill>
            <a:srgbClr val="F9731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01" name="Google Shape;801;p20"/>
          <p:cNvPicPr preferRelativeResize="0"/>
          <p:nvPr/>
        </p:nvPicPr>
        <p:blipFill rotWithShape="1">
          <a:blip r:embed="rId4">
            <a:alphaModFix/>
          </a:blip>
          <a:srcRect b="0" l="-1648" r="-1648" t="0"/>
          <a:stretch/>
        </p:blipFill>
        <p:spPr>
          <a:xfrm>
            <a:off x="4943246" y="1602029"/>
            <a:ext cx="171907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802" name="Google Shape;802;p20"/>
          <p:cNvSpPr txBox="1"/>
          <p:nvPr/>
        </p:nvSpPr>
        <p:spPr>
          <a:xfrm>
            <a:off x="4934102" y="2173529"/>
            <a:ext cx="6020410" cy="1858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900"/>
              <a:buFont typeface="Montserrat"/>
              <a:buNone/>
            </a:pPr>
            <a:r>
              <a:rPr b="0" i="0" lang="en-US" sz="19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A systematic program that treats your dormant customers like </a:t>
            </a:r>
            <a:r>
              <a:rPr b="1" i="0" lang="en-US" sz="1900" u="none" cap="none" strike="noStrike">
                <a:solidFill>
                  <a:srgbClr val="C2410C"/>
                </a:solidFill>
                <a:latin typeface="Montserrat"/>
                <a:ea typeface="Montserrat"/>
                <a:cs typeface="Montserrat"/>
                <a:sym typeface="Montserrat"/>
              </a:rPr>
              <a:t>valuable assets</a:t>
            </a:r>
            <a:r>
              <a:rPr b="0" i="0" lang="en-US" sz="19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— with professional, multi-touch outreach designed specifically for HVAC customer reactivation. 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20"/>
          <p:cNvSpPr/>
          <p:nvPr/>
        </p:nvSpPr>
        <p:spPr>
          <a:xfrm>
            <a:off x="4381805" y="4983480"/>
            <a:ext cx="457200" cy="457200"/>
          </a:xfrm>
          <a:prstGeom prst="roundRect">
            <a:avLst>
              <a:gd fmla="val 100000" name="adj"/>
            </a:avLst>
          </a:prstGeom>
          <a:solidFill>
            <a:srgbClr val="E0F2FE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04" name="Google Shape;80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90618" y="5116982"/>
            <a:ext cx="237744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20"/>
          <p:cNvSpPr txBox="1"/>
          <p:nvPr/>
        </p:nvSpPr>
        <p:spPr>
          <a:xfrm>
            <a:off x="4990795" y="4983480"/>
            <a:ext cx="176296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Systematic Process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20"/>
          <p:cNvSpPr txBox="1"/>
          <p:nvPr/>
        </p:nvSpPr>
        <p:spPr>
          <a:xfrm>
            <a:off x="4990795" y="5250485"/>
            <a:ext cx="1552651" cy="5239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Replaces ad-hoc "blasts" with a structured, engineered workflow.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20"/>
          <p:cNvSpPr/>
          <p:nvPr/>
        </p:nvSpPr>
        <p:spPr>
          <a:xfrm>
            <a:off x="6825996" y="4983480"/>
            <a:ext cx="457200" cy="457200"/>
          </a:xfrm>
          <a:prstGeom prst="roundRect">
            <a:avLst>
              <a:gd fmla="val 100000" name="adj"/>
            </a:avLst>
          </a:prstGeom>
          <a:solidFill>
            <a:srgbClr val="FFF7ED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08" name="Google Shape;80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59498" y="5116982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809" name="Google Shape;809;p20"/>
          <p:cNvSpPr txBox="1"/>
          <p:nvPr/>
        </p:nvSpPr>
        <p:spPr>
          <a:xfrm>
            <a:off x="7435901" y="4983480"/>
            <a:ext cx="1552651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Multi-Touch &amp; Channel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20"/>
          <p:cNvSpPr txBox="1"/>
          <p:nvPr/>
        </p:nvSpPr>
        <p:spPr>
          <a:xfrm>
            <a:off x="7435901" y="5479085"/>
            <a:ext cx="1552651" cy="5239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Combines email, direct mail, and phone to cut through the noise.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20"/>
          <p:cNvSpPr/>
          <p:nvPr/>
        </p:nvSpPr>
        <p:spPr>
          <a:xfrm>
            <a:off x="9271102" y="4983480"/>
            <a:ext cx="457200" cy="457200"/>
          </a:xfrm>
          <a:prstGeom prst="roundRect">
            <a:avLst>
              <a:gd fmla="val 100000" name="adj"/>
            </a:avLst>
          </a:prstGeom>
          <a:solidFill>
            <a:srgbClr val="ECFDF5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12" name="Google Shape;812;p20"/>
          <p:cNvPicPr preferRelativeResize="0"/>
          <p:nvPr/>
        </p:nvPicPr>
        <p:blipFill rotWithShape="1">
          <a:blip r:embed="rId7">
            <a:alphaModFix/>
          </a:blip>
          <a:srcRect b="0" l="-1648" r="-1648" t="0"/>
          <a:stretch/>
        </p:blipFill>
        <p:spPr>
          <a:xfrm>
            <a:off x="9413748" y="5116982"/>
            <a:ext cx="171907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813" name="Google Shape;813;p20"/>
          <p:cNvSpPr txBox="1"/>
          <p:nvPr/>
        </p:nvSpPr>
        <p:spPr>
          <a:xfrm>
            <a:off x="9881006" y="4983480"/>
            <a:ext cx="155265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HVAC Specific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20"/>
          <p:cNvSpPr txBox="1"/>
          <p:nvPr/>
        </p:nvSpPr>
        <p:spPr>
          <a:xfrm>
            <a:off x="9881006" y="5250485"/>
            <a:ext cx="1552651" cy="5239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Messaging tailored to service cycles, seasonality, and equipment life.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20"/>
          <p:cNvSpPr txBox="1"/>
          <p:nvPr/>
        </p:nvSpPr>
        <p:spPr>
          <a:xfrm>
            <a:off x="11697005" y="6400800"/>
            <a:ext cx="154534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Montserrat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20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17" name="Google Shape;817;p20"/>
          <p:cNvPicPr preferRelativeResize="0"/>
          <p:nvPr/>
        </p:nvPicPr>
        <p:blipFill rotWithShape="1">
          <a:blip r:embed="rId8">
            <a:alphaModFix amt="5000"/>
          </a:blip>
          <a:srcRect b="-44745" l="0" r="0" t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20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F97316"/>
                </a:solidFill>
                <a:latin typeface="Montserrat"/>
                <a:ea typeface="Montserrat"/>
                <a:cs typeface="Montserrat"/>
                <a:sym typeface="Montserrat"/>
              </a:rPr>
              <a:t>The Solution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20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20"/>
          <p:cNvSpPr txBox="1"/>
          <p:nvPr/>
        </p:nvSpPr>
        <p:spPr>
          <a:xfrm>
            <a:off x="381305" y="909828"/>
            <a:ext cx="2857500" cy="1448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Revenue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Reactivation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Pilot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20"/>
          <p:cNvSpPr/>
          <p:nvPr/>
        </p:nvSpPr>
        <p:spPr>
          <a:xfrm>
            <a:off x="381305" y="2635301"/>
            <a:ext cx="9144" cy="1133856"/>
          </a:xfrm>
          <a:prstGeom prst="rect">
            <a:avLst/>
          </a:prstGeom>
          <a:solidFill>
            <a:srgbClr val="FFFFFF">
              <a:alpha val="2000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20"/>
          <p:cNvSpPr txBox="1"/>
          <p:nvPr/>
        </p:nvSpPr>
        <p:spPr>
          <a:xfrm>
            <a:off x="580644" y="2635301"/>
            <a:ext cx="2658161" cy="495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Stop treating dormant customers like dead leads.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20"/>
          <p:cNvSpPr txBox="1"/>
          <p:nvPr/>
        </p:nvSpPr>
        <p:spPr>
          <a:xfrm>
            <a:off x="580644" y="3275381"/>
            <a:ext cx="2658161" cy="495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Start treating them like the assets they are.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24" name="Google Shape;824;p20"/>
          <p:cNvPicPr preferRelativeResize="0"/>
          <p:nvPr/>
        </p:nvPicPr>
        <p:blipFill rotWithShape="1">
          <a:blip r:embed="rId9">
            <a:alphaModFix amt="80000"/>
          </a:blip>
          <a:srcRect b="0" l="0" r="0" t="0"/>
          <a:stretch/>
        </p:blipFill>
        <p:spPr>
          <a:xfrm>
            <a:off x="381305" y="3763670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2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2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21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21"/>
          <p:cNvSpPr txBox="1"/>
          <p:nvPr/>
        </p:nvSpPr>
        <p:spPr>
          <a:xfrm>
            <a:off x="4190695" y="476402"/>
            <a:ext cx="7429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Your Complete Reactivation System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21"/>
          <p:cNvSpPr/>
          <p:nvPr/>
        </p:nvSpPr>
        <p:spPr>
          <a:xfrm>
            <a:off x="4190695" y="1314907"/>
            <a:ext cx="3600907" cy="1591056"/>
          </a:xfrm>
          <a:prstGeom prst="roundRect">
            <a:avLst>
              <a:gd fmla="val 825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21"/>
          <p:cNvSpPr/>
          <p:nvPr/>
        </p:nvSpPr>
        <p:spPr>
          <a:xfrm>
            <a:off x="4190695" y="1314907"/>
            <a:ext cx="38405" cy="1571854"/>
          </a:xfrm>
          <a:prstGeom prst="rect">
            <a:avLst/>
          </a:prstGeom>
          <a:solidFill>
            <a:srgbClr val="F97316">
              <a:alpha val="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21"/>
          <p:cNvSpPr/>
          <p:nvPr/>
        </p:nvSpPr>
        <p:spPr>
          <a:xfrm>
            <a:off x="4429354" y="1552651"/>
            <a:ext cx="533095" cy="533095"/>
          </a:xfrm>
          <a:prstGeom prst="roundRect">
            <a:avLst>
              <a:gd fmla="val 73511" name="adj"/>
            </a:avLst>
          </a:prstGeom>
          <a:solidFill>
            <a:srgbClr val="FFF7ED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37" name="Google Shape;83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81144" y="170535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38" name="Google Shape;838;p21"/>
          <p:cNvSpPr txBox="1"/>
          <p:nvPr/>
        </p:nvSpPr>
        <p:spPr>
          <a:xfrm>
            <a:off x="5152644" y="1552651"/>
            <a:ext cx="2400300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 Personalized Email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21"/>
          <p:cNvSpPr txBox="1"/>
          <p:nvPr/>
        </p:nvSpPr>
        <p:spPr>
          <a:xfrm>
            <a:off x="5152644" y="1867205"/>
            <a:ext cx="24003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2 targeted campaigns per month sent to up to </a:t>
            </a:r>
            <a:r>
              <a:rPr b="1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5,000 contacts</a:t>
            </a: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. Includes subject line testing and spam-check optimization.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21"/>
          <p:cNvSpPr/>
          <p:nvPr/>
        </p:nvSpPr>
        <p:spPr>
          <a:xfrm>
            <a:off x="8020202" y="1314907"/>
            <a:ext cx="3600907" cy="1591056"/>
          </a:xfrm>
          <a:prstGeom prst="roundRect">
            <a:avLst>
              <a:gd fmla="val 825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21"/>
          <p:cNvSpPr/>
          <p:nvPr/>
        </p:nvSpPr>
        <p:spPr>
          <a:xfrm>
            <a:off x="8020202" y="1314907"/>
            <a:ext cx="38405" cy="1571854"/>
          </a:xfrm>
          <a:prstGeom prst="rect">
            <a:avLst/>
          </a:prstGeom>
          <a:solidFill>
            <a:srgbClr val="F97316">
              <a:alpha val="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21"/>
          <p:cNvSpPr/>
          <p:nvPr/>
        </p:nvSpPr>
        <p:spPr>
          <a:xfrm>
            <a:off x="8257946" y="1552651"/>
            <a:ext cx="533095" cy="533095"/>
          </a:xfrm>
          <a:prstGeom prst="roundRect">
            <a:avLst>
              <a:gd fmla="val 73511" name="adj"/>
            </a:avLst>
          </a:prstGeom>
          <a:solidFill>
            <a:srgbClr val="FFF7ED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43" name="Google Shape;84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10651" y="170535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44" name="Google Shape;844;p21"/>
          <p:cNvSpPr txBox="1"/>
          <p:nvPr/>
        </p:nvSpPr>
        <p:spPr>
          <a:xfrm>
            <a:off x="8982151" y="1552651"/>
            <a:ext cx="2400300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 Direct Mail Postcards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21"/>
          <p:cNvSpPr txBox="1"/>
          <p:nvPr/>
        </p:nvSpPr>
        <p:spPr>
          <a:xfrm>
            <a:off x="8982151" y="1867205"/>
            <a:ext cx="24003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2 high-impact postcard drops per month to segmented lists. Full color, 6x9 oversized format to cut through mailbox clutter.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21"/>
          <p:cNvSpPr/>
          <p:nvPr/>
        </p:nvSpPr>
        <p:spPr>
          <a:xfrm>
            <a:off x="4190695" y="3133649"/>
            <a:ext cx="3600907" cy="1591056"/>
          </a:xfrm>
          <a:prstGeom prst="roundRect">
            <a:avLst>
              <a:gd fmla="val 825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21"/>
          <p:cNvSpPr/>
          <p:nvPr/>
        </p:nvSpPr>
        <p:spPr>
          <a:xfrm>
            <a:off x="4190695" y="3133649"/>
            <a:ext cx="38405" cy="1571854"/>
          </a:xfrm>
          <a:prstGeom prst="rect">
            <a:avLst/>
          </a:prstGeom>
          <a:solidFill>
            <a:srgbClr val="F97316">
              <a:alpha val="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21"/>
          <p:cNvSpPr/>
          <p:nvPr/>
        </p:nvSpPr>
        <p:spPr>
          <a:xfrm>
            <a:off x="4429354" y="3372307"/>
            <a:ext cx="533095" cy="533095"/>
          </a:xfrm>
          <a:prstGeom prst="roundRect">
            <a:avLst>
              <a:gd fmla="val 73511" name="adj"/>
            </a:avLst>
          </a:prstGeom>
          <a:solidFill>
            <a:srgbClr val="FFF7ED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49" name="Google Shape;84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81144" y="352409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50" name="Google Shape;850;p21"/>
          <p:cNvSpPr txBox="1"/>
          <p:nvPr/>
        </p:nvSpPr>
        <p:spPr>
          <a:xfrm>
            <a:off x="5152644" y="3372307"/>
            <a:ext cx="2400300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 VIP Newsletter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21"/>
          <p:cNvSpPr txBox="1"/>
          <p:nvPr/>
        </p:nvSpPr>
        <p:spPr>
          <a:xfrm>
            <a:off x="5152644" y="3685946"/>
            <a:ext cx="24003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1 monthly printed or digital newsletter sent to your top </a:t>
            </a:r>
            <a:r>
              <a:rPr b="1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1,000 customers</a:t>
            </a: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to maintain top-of-mind awareness and trust.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21"/>
          <p:cNvSpPr/>
          <p:nvPr/>
        </p:nvSpPr>
        <p:spPr>
          <a:xfrm>
            <a:off x="8020202" y="3133649"/>
            <a:ext cx="3600907" cy="1591056"/>
          </a:xfrm>
          <a:prstGeom prst="roundRect">
            <a:avLst>
              <a:gd fmla="val 825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21"/>
          <p:cNvSpPr/>
          <p:nvPr/>
        </p:nvSpPr>
        <p:spPr>
          <a:xfrm>
            <a:off x="8020202" y="3133649"/>
            <a:ext cx="38405" cy="1571854"/>
          </a:xfrm>
          <a:prstGeom prst="rect">
            <a:avLst/>
          </a:prstGeom>
          <a:solidFill>
            <a:srgbClr val="F97316">
              <a:alpha val="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21"/>
          <p:cNvSpPr/>
          <p:nvPr/>
        </p:nvSpPr>
        <p:spPr>
          <a:xfrm>
            <a:off x="8257946" y="3372307"/>
            <a:ext cx="533095" cy="533095"/>
          </a:xfrm>
          <a:prstGeom prst="roundRect">
            <a:avLst>
              <a:gd fmla="val 73511" name="adj"/>
            </a:avLst>
          </a:prstGeom>
          <a:solidFill>
            <a:srgbClr val="FFF7ED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55" name="Google Shape;85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10651" y="352409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56" name="Google Shape;856;p21"/>
          <p:cNvSpPr txBox="1"/>
          <p:nvPr/>
        </p:nvSpPr>
        <p:spPr>
          <a:xfrm>
            <a:off x="8982151" y="3372307"/>
            <a:ext cx="2400300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 Call Tracking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21"/>
          <p:cNvSpPr txBox="1"/>
          <p:nvPr/>
        </p:nvSpPr>
        <p:spPr>
          <a:xfrm>
            <a:off x="8982151" y="3685946"/>
            <a:ext cx="24003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Dedicated tracking numbers and real-time dashboard. We record and score every inbound call to verify lead quality.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21"/>
          <p:cNvSpPr/>
          <p:nvPr/>
        </p:nvSpPr>
        <p:spPr>
          <a:xfrm>
            <a:off x="4190695" y="4953305"/>
            <a:ext cx="3600907" cy="1591056"/>
          </a:xfrm>
          <a:prstGeom prst="roundRect">
            <a:avLst>
              <a:gd fmla="val 825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21"/>
          <p:cNvSpPr/>
          <p:nvPr/>
        </p:nvSpPr>
        <p:spPr>
          <a:xfrm>
            <a:off x="4190695" y="4953305"/>
            <a:ext cx="38405" cy="1571854"/>
          </a:xfrm>
          <a:prstGeom prst="rect">
            <a:avLst/>
          </a:prstGeom>
          <a:solidFill>
            <a:srgbClr val="F97316">
              <a:alpha val="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21"/>
          <p:cNvSpPr/>
          <p:nvPr/>
        </p:nvSpPr>
        <p:spPr>
          <a:xfrm>
            <a:off x="4429354" y="5191049"/>
            <a:ext cx="533095" cy="533095"/>
          </a:xfrm>
          <a:prstGeom prst="roundRect">
            <a:avLst>
              <a:gd fmla="val 73511" name="adj"/>
            </a:avLst>
          </a:prstGeom>
          <a:solidFill>
            <a:srgbClr val="FFF7ED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61" name="Google Shape;861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81144" y="534375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p21"/>
          <p:cNvSpPr txBox="1"/>
          <p:nvPr/>
        </p:nvSpPr>
        <p:spPr>
          <a:xfrm>
            <a:off x="5152644" y="5191049"/>
            <a:ext cx="2400300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 Weekly Reporting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21"/>
          <p:cNvSpPr txBox="1"/>
          <p:nvPr/>
        </p:nvSpPr>
        <p:spPr>
          <a:xfrm>
            <a:off x="5152644" y="5505602"/>
            <a:ext cx="24003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Comprehensive performance reports showing open rates, response rates, appointments booked, and direct revenue generated.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21"/>
          <p:cNvSpPr/>
          <p:nvPr/>
        </p:nvSpPr>
        <p:spPr>
          <a:xfrm>
            <a:off x="8020202" y="4953305"/>
            <a:ext cx="3600907" cy="1591056"/>
          </a:xfrm>
          <a:prstGeom prst="roundRect">
            <a:avLst>
              <a:gd fmla="val 825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21"/>
          <p:cNvSpPr/>
          <p:nvPr/>
        </p:nvSpPr>
        <p:spPr>
          <a:xfrm>
            <a:off x="8020202" y="4953305"/>
            <a:ext cx="38405" cy="1571854"/>
          </a:xfrm>
          <a:prstGeom prst="rect">
            <a:avLst/>
          </a:prstGeom>
          <a:solidFill>
            <a:srgbClr val="F97316">
              <a:alpha val="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21"/>
          <p:cNvSpPr/>
          <p:nvPr/>
        </p:nvSpPr>
        <p:spPr>
          <a:xfrm>
            <a:off x="8257946" y="5191049"/>
            <a:ext cx="533095" cy="533095"/>
          </a:xfrm>
          <a:prstGeom prst="roundRect">
            <a:avLst>
              <a:gd fmla="val 73511" name="adj"/>
            </a:avLst>
          </a:prstGeom>
          <a:solidFill>
            <a:srgbClr val="FFF7ED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67" name="Google Shape;867;p21"/>
          <p:cNvPicPr preferRelativeResize="0"/>
          <p:nvPr/>
        </p:nvPicPr>
        <p:blipFill rotWithShape="1">
          <a:blip r:embed="rId8">
            <a:alphaModFix/>
          </a:blip>
          <a:srcRect b="0" l="-133" r="-133" t="0"/>
          <a:stretch/>
        </p:blipFill>
        <p:spPr>
          <a:xfrm>
            <a:off x="8438998" y="5343754"/>
            <a:ext cx="1719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68" name="Google Shape;868;p21"/>
          <p:cNvSpPr txBox="1"/>
          <p:nvPr/>
        </p:nvSpPr>
        <p:spPr>
          <a:xfrm>
            <a:off x="8982151" y="5191049"/>
            <a:ext cx="2400300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 CRM Integration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21"/>
          <p:cNvSpPr txBox="1"/>
          <p:nvPr/>
        </p:nvSpPr>
        <p:spPr>
          <a:xfrm>
            <a:off x="8982151" y="5505602"/>
            <a:ext cx="2400300" cy="600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Seamless sync with your existing tools. We pull data and push notes directly to your system of record.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21"/>
          <p:cNvSpPr/>
          <p:nvPr/>
        </p:nvSpPr>
        <p:spPr>
          <a:xfrm>
            <a:off x="4190695" y="6543446"/>
            <a:ext cx="7429500" cy="9144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71" name="Google Shape;871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190695" y="6774790"/>
            <a:ext cx="123444" cy="123444"/>
          </a:xfrm>
          <a:prstGeom prst="rect">
            <a:avLst/>
          </a:prstGeom>
          <a:noFill/>
          <a:ln>
            <a:noFill/>
          </a:ln>
        </p:spPr>
      </p:pic>
      <p:sp>
        <p:nvSpPr>
          <p:cNvPr id="872" name="Google Shape;872;p21"/>
          <p:cNvSpPr txBox="1"/>
          <p:nvPr/>
        </p:nvSpPr>
        <p:spPr>
          <a:xfrm>
            <a:off x="4390949" y="6743700"/>
            <a:ext cx="2543861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100% Done-For-You Implementation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21"/>
          <p:cNvSpPr txBox="1"/>
          <p:nvPr/>
        </p:nvSpPr>
        <p:spPr>
          <a:xfrm>
            <a:off x="8338414" y="6760159"/>
            <a:ext cx="848563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Works With: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21"/>
          <p:cNvSpPr txBox="1"/>
          <p:nvPr/>
        </p:nvSpPr>
        <p:spPr>
          <a:xfrm>
            <a:off x="9324137" y="6743700"/>
            <a:ext cx="1037844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ServiceTitan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21"/>
          <p:cNvSpPr txBox="1"/>
          <p:nvPr/>
        </p:nvSpPr>
        <p:spPr>
          <a:xfrm>
            <a:off x="10229393" y="6743700"/>
            <a:ext cx="1125626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Housecall Pro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21"/>
          <p:cNvSpPr txBox="1"/>
          <p:nvPr/>
        </p:nvSpPr>
        <p:spPr>
          <a:xfrm>
            <a:off x="11216945" y="6743700"/>
            <a:ext cx="522122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Jobber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21"/>
          <p:cNvSpPr txBox="1"/>
          <p:nvPr/>
        </p:nvSpPr>
        <p:spPr>
          <a:xfrm>
            <a:off x="11699748" y="6400800"/>
            <a:ext cx="154534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Montserrat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19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21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79" name="Google Shape;879;p21"/>
          <p:cNvPicPr preferRelativeResize="0"/>
          <p:nvPr/>
        </p:nvPicPr>
        <p:blipFill rotWithShape="1">
          <a:blip r:embed="rId10">
            <a:alphaModFix amt="5000"/>
          </a:blip>
          <a:srcRect b="-44745" l="0" r="0" t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Google Shape;880;p21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F97316"/>
                </a:solidFill>
                <a:latin typeface="Montserrat"/>
                <a:ea typeface="Montserrat"/>
                <a:cs typeface="Montserrat"/>
                <a:sym typeface="Montserrat"/>
              </a:rPr>
              <a:t>The Solution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21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21"/>
          <p:cNvSpPr txBox="1"/>
          <p:nvPr/>
        </p:nvSpPr>
        <p:spPr>
          <a:xfrm>
            <a:off x="381305" y="909828"/>
            <a:ext cx="2857500" cy="9628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What's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Included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21"/>
          <p:cNvSpPr/>
          <p:nvPr/>
        </p:nvSpPr>
        <p:spPr>
          <a:xfrm>
            <a:off x="381305" y="2155241"/>
            <a:ext cx="9144" cy="1371600"/>
          </a:xfrm>
          <a:prstGeom prst="rect">
            <a:avLst/>
          </a:prstGeom>
          <a:solidFill>
            <a:srgbClr val="FFFFFF">
              <a:alpha val="2000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p21"/>
          <p:cNvSpPr txBox="1"/>
          <p:nvPr/>
        </p:nvSpPr>
        <p:spPr>
          <a:xfrm>
            <a:off x="580644" y="2155241"/>
            <a:ext cx="2658161" cy="495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This is a complete, "done-for-you" reactivation system.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21"/>
          <p:cNvSpPr txBox="1"/>
          <p:nvPr/>
        </p:nvSpPr>
        <p:spPr>
          <a:xfrm>
            <a:off x="580644" y="2795321"/>
            <a:ext cx="2658161" cy="734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We handle the segmentation, creative, deployment, and tracking. You handle the appointments.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86" name="Google Shape;886;p21"/>
          <p:cNvPicPr preferRelativeResize="0"/>
          <p:nvPr/>
        </p:nvPicPr>
        <p:blipFill rotWithShape="1">
          <a:blip r:embed="rId11">
            <a:alphaModFix amt="80000"/>
          </a:blip>
          <a:srcRect b="0" l="0" r="0" t="0"/>
          <a:stretch/>
        </p:blipFill>
        <p:spPr>
          <a:xfrm>
            <a:off x="381305" y="3526841"/>
            <a:ext cx="5715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2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2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p22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22"/>
          <p:cNvSpPr txBox="1"/>
          <p:nvPr/>
        </p:nvSpPr>
        <p:spPr>
          <a:xfrm>
            <a:off x="4190695" y="476402"/>
            <a:ext cx="7429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Phase-by-Phase Roadmap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22"/>
          <p:cNvSpPr txBox="1"/>
          <p:nvPr/>
        </p:nvSpPr>
        <p:spPr>
          <a:xfrm>
            <a:off x="11670487" y="6400800"/>
            <a:ext cx="143561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Montserrat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97" name="Google Shape;897;p22"/>
          <p:cNvPicPr preferRelativeResize="0"/>
          <p:nvPr/>
        </p:nvPicPr>
        <p:blipFill rotWithShape="1">
          <a:blip r:embed="rId3">
            <a:alphaModFix/>
          </a:blip>
          <a:srcRect b="-402" l="0" r="0" t="-402"/>
          <a:stretch/>
        </p:blipFill>
        <p:spPr>
          <a:xfrm>
            <a:off x="4667098" y="1695298"/>
            <a:ext cx="6476695" cy="38405"/>
          </a:xfrm>
          <a:prstGeom prst="rect">
            <a:avLst/>
          </a:prstGeom>
          <a:noFill/>
          <a:ln>
            <a:noFill/>
          </a:ln>
        </p:spPr>
      </p:pic>
      <p:sp>
        <p:nvSpPr>
          <p:cNvPr id="898" name="Google Shape;898;p22"/>
          <p:cNvSpPr/>
          <p:nvPr/>
        </p:nvSpPr>
        <p:spPr>
          <a:xfrm>
            <a:off x="4190695" y="1314907"/>
            <a:ext cx="2324405" cy="5162702"/>
          </a:xfrm>
          <a:prstGeom prst="roundRect">
            <a:avLst>
              <a:gd fmla="val 386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99" name="Google Shape;899;p22"/>
          <p:cNvPicPr preferRelativeResize="0"/>
          <p:nvPr/>
        </p:nvPicPr>
        <p:blipFill rotWithShape="1">
          <a:blip r:embed="rId4">
            <a:alphaModFix/>
          </a:blip>
          <a:srcRect b="-397" l="0" r="0" t="-397"/>
          <a:stretch/>
        </p:blipFill>
        <p:spPr>
          <a:xfrm>
            <a:off x="4200754" y="1324051"/>
            <a:ext cx="2305202" cy="576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00" name="Google Shape;90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62702" y="1190549"/>
            <a:ext cx="381305" cy="381305"/>
          </a:xfrm>
          <a:prstGeom prst="rect">
            <a:avLst/>
          </a:prstGeom>
          <a:noFill/>
          <a:ln>
            <a:noFill/>
          </a:ln>
        </p:spPr>
      </p:pic>
      <p:sp>
        <p:nvSpPr>
          <p:cNvPr id="901" name="Google Shape;901;p22"/>
          <p:cNvSpPr/>
          <p:nvPr/>
        </p:nvSpPr>
        <p:spPr>
          <a:xfrm>
            <a:off x="5162702" y="1190549"/>
            <a:ext cx="381305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22"/>
          <p:cNvSpPr txBox="1"/>
          <p:nvPr/>
        </p:nvSpPr>
        <p:spPr>
          <a:xfrm>
            <a:off x="4429354" y="1666951"/>
            <a:ext cx="184800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Month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22"/>
          <p:cNvSpPr txBox="1"/>
          <p:nvPr/>
        </p:nvSpPr>
        <p:spPr>
          <a:xfrm>
            <a:off x="4429354" y="1914754"/>
            <a:ext cx="1848002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Foundation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22"/>
          <p:cNvSpPr txBox="1"/>
          <p:nvPr/>
        </p:nvSpPr>
        <p:spPr>
          <a:xfrm>
            <a:off x="4648810" y="2356409"/>
            <a:ext cx="1628546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Database Segmentation:</a:t>
            </a:r>
            <a:r>
              <a:rPr b="0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Cleaning list and identifying priority tiers.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05" name="Google Shape;905;p22"/>
          <p:cNvPicPr preferRelativeResize="0"/>
          <p:nvPr/>
        </p:nvPicPr>
        <p:blipFill rotWithShape="1">
          <a:blip r:embed="rId6">
            <a:alphaModFix/>
          </a:blip>
          <a:srcRect b="0" l="-2571" r="-2571" t="0"/>
          <a:stretch/>
        </p:blipFill>
        <p:spPr>
          <a:xfrm>
            <a:off x="4429354" y="2356409"/>
            <a:ext cx="105156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906" name="Google Shape;906;p22"/>
          <p:cNvSpPr txBox="1"/>
          <p:nvPr/>
        </p:nvSpPr>
        <p:spPr>
          <a:xfrm>
            <a:off x="4648810" y="3309214"/>
            <a:ext cx="1628546" cy="600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Message Development:</a:t>
            </a:r>
            <a:r>
              <a:rPr b="0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Crafting offers for At-Risk vs. Dormant.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07" name="Google Shape;907;p22"/>
          <p:cNvPicPr preferRelativeResize="0"/>
          <p:nvPr/>
        </p:nvPicPr>
        <p:blipFill rotWithShape="1">
          <a:blip r:embed="rId6">
            <a:alphaModFix/>
          </a:blip>
          <a:srcRect b="0" l="-2571" r="-2571" t="0"/>
          <a:stretch/>
        </p:blipFill>
        <p:spPr>
          <a:xfrm>
            <a:off x="4429354" y="3309214"/>
            <a:ext cx="105156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908" name="Google Shape;908;p22"/>
          <p:cNvSpPr txBox="1"/>
          <p:nvPr/>
        </p:nvSpPr>
        <p:spPr>
          <a:xfrm>
            <a:off x="4648810" y="4061765"/>
            <a:ext cx="1628546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Initial Launch:</a:t>
            </a:r>
            <a:r>
              <a:rPr b="0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Wave 1 Email + Postcard drop.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09" name="Google Shape;909;p22"/>
          <p:cNvPicPr preferRelativeResize="0"/>
          <p:nvPr/>
        </p:nvPicPr>
        <p:blipFill rotWithShape="1">
          <a:blip r:embed="rId6">
            <a:alphaModFix/>
          </a:blip>
          <a:srcRect b="0" l="-2571" r="-2571" t="0"/>
          <a:stretch/>
        </p:blipFill>
        <p:spPr>
          <a:xfrm>
            <a:off x="4429354" y="4061765"/>
            <a:ext cx="105156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910" name="Google Shape;910;p22"/>
          <p:cNvSpPr txBox="1"/>
          <p:nvPr/>
        </p:nvSpPr>
        <p:spPr>
          <a:xfrm>
            <a:off x="4648810" y="4614062"/>
            <a:ext cx="1628546" cy="600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Tracking Setup:</a:t>
            </a:r>
            <a:r>
              <a:rPr b="0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Call recording and dashboard configuration.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11" name="Google Shape;911;p22"/>
          <p:cNvPicPr preferRelativeResize="0"/>
          <p:nvPr/>
        </p:nvPicPr>
        <p:blipFill rotWithShape="1">
          <a:blip r:embed="rId6">
            <a:alphaModFix/>
          </a:blip>
          <a:srcRect b="0" l="-2571" r="-2571" t="0"/>
          <a:stretch/>
        </p:blipFill>
        <p:spPr>
          <a:xfrm>
            <a:off x="4429354" y="4614062"/>
            <a:ext cx="105156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912" name="Google Shape;912;p22"/>
          <p:cNvSpPr/>
          <p:nvPr/>
        </p:nvSpPr>
        <p:spPr>
          <a:xfrm>
            <a:off x="4200754" y="5595214"/>
            <a:ext cx="2305202" cy="875995"/>
          </a:xfrm>
          <a:prstGeom prst="roundRect">
            <a:avLst>
              <a:gd fmla="val 27231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22"/>
          <p:cNvSpPr/>
          <p:nvPr/>
        </p:nvSpPr>
        <p:spPr>
          <a:xfrm>
            <a:off x="4200754" y="5595214"/>
            <a:ext cx="2305202" cy="9144"/>
          </a:xfrm>
          <a:prstGeom prst="roundRect">
            <a:avLst>
              <a:gd fmla="val 2608696" name="adj"/>
            </a:avLst>
          </a:prstGeom>
          <a:solidFill>
            <a:srgbClr val="E2E8F0"/>
          </a:solidFill>
          <a:ln cap="flat" cmpd="sng" w="12700">
            <a:solidFill>
              <a:srgbClr val="E2E8F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p22"/>
          <p:cNvSpPr txBox="1"/>
          <p:nvPr/>
        </p:nvSpPr>
        <p:spPr>
          <a:xfrm>
            <a:off x="4429354" y="5795467"/>
            <a:ext cx="1848002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Open Sans"/>
              <a:buNone/>
            </a:pPr>
            <a:r>
              <a:rPr b="1" i="0" lang="en-US" sz="8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Monthly Goal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22"/>
          <p:cNvSpPr txBox="1"/>
          <p:nvPr/>
        </p:nvSpPr>
        <p:spPr>
          <a:xfrm>
            <a:off x="4429354" y="5990234"/>
            <a:ext cx="1848002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25–30 Leads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22"/>
          <p:cNvSpPr/>
          <p:nvPr/>
        </p:nvSpPr>
        <p:spPr>
          <a:xfrm>
            <a:off x="6748275" y="1314907"/>
            <a:ext cx="2324400" cy="5162700"/>
          </a:xfrm>
          <a:prstGeom prst="roundRect">
            <a:avLst>
              <a:gd fmla="val 386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17" name="Google Shape;917;p22"/>
          <p:cNvPicPr preferRelativeResize="0"/>
          <p:nvPr/>
        </p:nvPicPr>
        <p:blipFill rotWithShape="1">
          <a:blip r:embed="rId7">
            <a:alphaModFix/>
          </a:blip>
          <a:srcRect b="-397" l="0" r="0" t="-397"/>
          <a:stretch/>
        </p:blipFill>
        <p:spPr>
          <a:xfrm>
            <a:off x="6752844" y="1324051"/>
            <a:ext cx="2305202" cy="576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18" name="Google Shape;918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15707" y="1190549"/>
            <a:ext cx="381305" cy="381305"/>
          </a:xfrm>
          <a:prstGeom prst="rect">
            <a:avLst/>
          </a:prstGeom>
          <a:noFill/>
          <a:ln>
            <a:noFill/>
          </a:ln>
        </p:spPr>
      </p:pic>
      <p:sp>
        <p:nvSpPr>
          <p:cNvPr id="919" name="Google Shape;919;p22"/>
          <p:cNvSpPr/>
          <p:nvPr/>
        </p:nvSpPr>
        <p:spPr>
          <a:xfrm>
            <a:off x="7715707" y="1190549"/>
            <a:ext cx="381305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22"/>
          <p:cNvSpPr txBox="1"/>
          <p:nvPr/>
        </p:nvSpPr>
        <p:spPr>
          <a:xfrm>
            <a:off x="6981444" y="1666951"/>
            <a:ext cx="184800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Month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22"/>
          <p:cNvSpPr txBox="1"/>
          <p:nvPr/>
        </p:nvSpPr>
        <p:spPr>
          <a:xfrm>
            <a:off x="6981444" y="1914754"/>
            <a:ext cx="1848002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rgbClr val="F97316"/>
                </a:solidFill>
                <a:latin typeface="Montserrat"/>
                <a:ea typeface="Montserrat"/>
                <a:cs typeface="Montserrat"/>
                <a:sym typeface="Montserrat"/>
              </a:rPr>
              <a:t>Momentum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22"/>
          <p:cNvSpPr txBox="1"/>
          <p:nvPr/>
        </p:nvSpPr>
        <p:spPr>
          <a:xfrm>
            <a:off x="7200900" y="2356409"/>
            <a:ext cx="1628546" cy="600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Second Touch:</a:t>
            </a:r>
            <a:r>
              <a:rPr b="0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Follow-up sequences to non-responders.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23" name="Google Shape;923;p22"/>
          <p:cNvPicPr preferRelativeResize="0"/>
          <p:nvPr/>
        </p:nvPicPr>
        <p:blipFill rotWithShape="1">
          <a:blip r:embed="rId9">
            <a:alphaModFix/>
          </a:blip>
          <a:srcRect b="0" l="-2571" r="-2571" t="0"/>
          <a:stretch/>
        </p:blipFill>
        <p:spPr>
          <a:xfrm>
            <a:off x="6981444" y="2356409"/>
            <a:ext cx="105156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924" name="Google Shape;924;p22"/>
          <p:cNvSpPr txBox="1"/>
          <p:nvPr/>
        </p:nvSpPr>
        <p:spPr>
          <a:xfrm>
            <a:off x="7200900" y="3182501"/>
            <a:ext cx="1628400" cy="60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Newsletter Launch:</a:t>
            </a:r>
            <a:r>
              <a:rPr b="0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First retention-focused content piece sent.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25" name="Google Shape;925;p22"/>
          <p:cNvPicPr preferRelativeResize="0"/>
          <p:nvPr/>
        </p:nvPicPr>
        <p:blipFill rotWithShape="1">
          <a:blip r:embed="rId9">
            <a:alphaModFix/>
          </a:blip>
          <a:srcRect b="0" l="-2571" r="-2571" t="0"/>
          <a:stretch/>
        </p:blipFill>
        <p:spPr>
          <a:xfrm>
            <a:off x="6981444" y="3434705"/>
            <a:ext cx="105156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926" name="Google Shape;926;p22"/>
          <p:cNvSpPr txBox="1"/>
          <p:nvPr/>
        </p:nvSpPr>
        <p:spPr>
          <a:xfrm>
            <a:off x="7200900" y="4614062"/>
            <a:ext cx="1628546" cy="600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Response Analysis:</a:t>
            </a:r>
            <a:r>
              <a:rPr b="0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Reviewing call recordings for training.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27" name="Google Shape;927;p22"/>
          <p:cNvPicPr preferRelativeResize="0"/>
          <p:nvPr/>
        </p:nvPicPr>
        <p:blipFill rotWithShape="1">
          <a:blip r:embed="rId9">
            <a:alphaModFix/>
          </a:blip>
          <a:srcRect b="0" l="-2571" r="-2571" t="0"/>
          <a:stretch/>
        </p:blipFill>
        <p:spPr>
          <a:xfrm>
            <a:off x="6981444" y="4614062"/>
            <a:ext cx="105156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928" name="Google Shape;928;p22"/>
          <p:cNvSpPr/>
          <p:nvPr/>
        </p:nvSpPr>
        <p:spPr>
          <a:xfrm>
            <a:off x="6752844" y="5595214"/>
            <a:ext cx="2305202" cy="875995"/>
          </a:xfrm>
          <a:prstGeom prst="roundRect">
            <a:avLst>
              <a:gd fmla="val 27231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22"/>
          <p:cNvSpPr/>
          <p:nvPr/>
        </p:nvSpPr>
        <p:spPr>
          <a:xfrm>
            <a:off x="6752844" y="5595214"/>
            <a:ext cx="2305202" cy="9144"/>
          </a:xfrm>
          <a:prstGeom prst="roundRect">
            <a:avLst>
              <a:gd fmla="val 2608696" name="adj"/>
            </a:avLst>
          </a:prstGeom>
          <a:solidFill>
            <a:srgbClr val="E2E8F0"/>
          </a:solidFill>
          <a:ln cap="flat" cmpd="sng" w="12700">
            <a:solidFill>
              <a:srgbClr val="E2E8F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p22"/>
          <p:cNvSpPr txBox="1"/>
          <p:nvPr/>
        </p:nvSpPr>
        <p:spPr>
          <a:xfrm>
            <a:off x="6981444" y="5795467"/>
            <a:ext cx="1848002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Open Sans"/>
              <a:buNone/>
            </a:pPr>
            <a:r>
              <a:rPr b="1" i="0" lang="en-US" sz="8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Monthly Goal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22"/>
          <p:cNvSpPr txBox="1"/>
          <p:nvPr/>
        </p:nvSpPr>
        <p:spPr>
          <a:xfrm>
            <a:off x="6981444" y="5990234"/>
            <a:ext cx="1848002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40–50 Leads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22"/>
          <p:cNvSpPr/>
          <p:nvPr/>
        </p:nvSpPr>
        <p:spPr>
          <a:xfrm>
            <a:off x="9296705" y="1314907"/>
            <a:ext cx="2324405" cy="5162702"/>
          </a:xfrm>
          <a:prstGeom prst="roundRect">
            <a:avLst>
              <a:gd fmla="val 386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33" name="Google Shape;933;p22"/>
          <p:cNvPicPr preferRelativeResize="0"/>
          <p:nvPr/>
        </p:nvPicPr>
        <p:blipFill rotWithShape="1">
          <a:blip r:embed="rId10">
            <a:alphaModFix/>
          </a:blip>
          <a:srcRect b="-397" l="0" r="0" t="-397"/>
          <a:stretch/>
        </p:blipFill>
        <p:spPr>
          <a:xfrm>
            <a:off x="9305849" y="1324051"/>
            <a:ext cx="2305202" cy="576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34" name="Google Shape;934;p2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267798" y="1190549"/>
            <a:ext cx="381305" cy="381305"/>
          </a:xfrm>
          <a:prstGeom prst="rect">
            <a:avLst/>
          </a:prstGeom>
          <a:noFill/>
          <a:ln>
            <a:noFill/>
          </a:ln>
        </p:spPr>
      </p:pic>
      <p:sp>
        <p:nvSpPr>
          <p:cNvPr id="935" name="Google Shape;935;p22"/>
          <p:cNvSpPr/>
          <p:nvPr/>
        </p:nvSpPr>
        <p:spPr>
          <a:xfrm>
            <a:off x="10267798" y="1190549"/>
            <a:ext cx="381305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22"/>
          <p:cNvSpPr txBox="1"/>
          <p:nvPr/>
        </p:nvSpPr>
        <p:spPr>
          <a:xfrm>
            <a:off x="9534449" y="1666951"/>
            <a:ext cx="184800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Month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22"/>
          <p:cNvSpPr txBox="1"/>
          <p:nvPr/>
        </p:nvSpPr>
        <p:spPr>
          <a:xfrm>
            <a:off x="9534449" y="1914754"/>
            <a:ext cx="1848002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rgbClr val="059669"/>
                </a:solidFill>
                <a:latin typeface="Montserrat"/>
                <a:ea typeface="Montserrat"/>
                <a:cs typeface="Montserrat"/>
                <a:sym typeface="Montserrat"/>
              </a:rPr>
              <a:t>Optimization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22"/>
          <p:cNvSpPr txBox="1"/>
          <p:nvPr/>
        </p:nvSpPr>
        <p:spPr>
          <a:xfrm>
            <a:off x="9753905" y="2356409"/>
            <a:ext cx="1628546" cy="600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Double Down:</a:t>
            </a:r>
            <a:r>
              <a:rPr b="0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Scaling the offers/channels with highest ROI.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39" name="Google Shape;939;p22"/>
          <p:cNvPicPr preferRelativeResize="0"/>
          <p:nvPr/>
        </p:nvPicPr>
        <p:blipFill rotWithShape="1">
          <a:blip r:embed="rId12">
            <a:alphaModFix/>
          </a:blip>
          <a:srcRect b="0" l="-2571" r="-2571" t="0"/>
          <a:stretch/>
        </p:blipFill>
        <p:spPr>
          <a:xfrm>
            <a:off x="9534449" y="2356409"/>
            <a:ext cx="105156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22"/>
          <p:cNvSpPr txBox="1"/>
          <p:nvPr/>
        </p:nvSpPr>
        <p:spPr>
          <a:xfrm>
            <a:off x="9753905" y="3108960"/>
            <a:ext cx="1628546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A/B Testing:</a:t>
            </a:r>
            <a:r>
              <a:rPr b="0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Testing new subject lines on remaining dormant segments.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41" name="Google Shape;941;p22"/>
          <p:cNvPicPr preferRelativeResize="0"/>
          <p:nvPr/>
        </p:nvPicPr>
        <p:blipFill rotWithShape="1">
          <a:blip r:embed="rId12">
            <a:alphaModFix/>
          </a:blip>
          <a:srcRect b="0" l="-2571" r="-2571" t="0"/>
          <a:stretch/>
        </p:blipFill>
        <p:spPr>
          <a:xfrm>
            <a:off x="9534449" y="3108960"/>
            <a:ext cx="105156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Google Shape;942;p22"/>
          <p:cNvSpPr txBox="1"/>
          <p:nvPr/>
        </p:nvSpPr>
        <p:spPr>
          <a:xfrm>
            <a:off x="9753905" y="4061765"/>
            <a:ext cx="1628546" cy="600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Full Expansion:</a:t>
            </a:r>
            <a:r>
              <a:rPr b="0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Rolling out successful campaigns to older data.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43" name="Google Shape;943;p22"/>
          <p:cNvPicPr preferRelativeResize="0"/>
          <p:nvPr/>
        </p:nvPicPr>
        <p:blipFill rotWithShape="1">
          <a:blip r:embed="rId12">
            <a:alphaModFix/>
          </a:blip>
          <a:srcRect b="0" l="-2571" r="-2571" t="0"/>
          <a:stretch/>
        </p:blipFill>
        <p:spPr>
          <a:xfrm>
            <a:off x="9534449" y="4061765"/>
            <a:ext cx="105156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22"/>
          <p:cNvSpPr/>
          <p:nvPr/>
        </p:nvSpPr>
        <p:spPr>
          <a:xfrm>
            <a:off x="9305849" y="5595214"/>
            <a:ext cx="2305202" cy="875995"/>
          </a:xfrm>
          <a:prstGeom prst="roundRect">
            <a:avLst>
              <a:gd fmla="val 27231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22"/>
          <p:cNvSpPr/>
          <p:nvPr/>
        </p:nvSpPr>
        <p:spPr>
          <a:xfrm>
            <a:off x="9305849" y="5595214"/>
            <a:ext cx="2305202" cy="9144"/>
          </a:xfrm>
          <a:prstGeom prst="roundRect">
            <a:avLst>
              <a:gd fmla="val 2608696" name="adj"/>
            </a:avLst>
          </a:prstGeom>
          <a:solidFill>
            <a:srgbClr val="E2E8F0"/>
          </a:solidFill>
          <a:ln cap="flat" cmpd="sng" w="12700">
            <a:solidFill>
              <a:srgbClr val="E2E8F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22"/>
          <p:cNvSpPr txBox="1"/>
          <p:nvPr/>
        </p:nvSpPr>
        <p:spPr>
          <a:xfrm>
            <a:off x="9534449" y="5795467"/>
            <a:ext cx="1848002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Open Sans"/>
              <a:buNone/>
            </a:pPr>
            <a:r>
              <a:rPr b="1" i="0" lang="en-US" sz="8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Monthly Goal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22"/>
          <p:cNvSpPr txBox="1"/>
          <p:nvPr/>
        </p:nvSpPr>
        <p:spPr>
          <a:xfrm>
            <a:off x="9534449" y="5990234"/>
            <a:ext cx="1848002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059669"/>
                </a:solidFill>
                <a:latin typeface="Montserrat"/>
                <a:ea typeface="Montserrat"/>
                <a:cs typeface="Montserrat"/>
                <a:sym typeface="Montserrat"/>
              </a:rPr>
              <a:t>50–60 Leads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22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49" name="Google Shape;949;p22"/>
          <p:cNvPicPr preferRelativeResize="0"/>
          <p:nvPr/>
        </p:nvPicPr>
        <p:blipFill rotWithShape="1">
          <a:blip r:embed="rId13">
            <a:alphaModFix amt="5000"/>
          </a:blip>
          <a:srcRect b="-44745" l="0" r="0" t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0" name="Google Shape;950;p22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F97316"/>
                </a:solidFill>
                <a:latin typeface="Montserrat"/>
                <a:ea typeface="Montserrat"/>
                <a:cs typeface="Montserrat"/>
                <a:sym typeface="Montserrat"/>
              </a:rPr>
              <a:t>Execution Plan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22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22"/>
          <p:cNvSpPr txBox="1"/>
          <p:nvPr/>
        </p:nvSpPr>
        <p:spPr>
          <a:xfrm>
            <a:off x="381305" y="909828"/>
            <a:ext cx="2857500" cy="1448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90-Day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Timeline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&amp; Targets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22"/>
          <p:cNvSpPr/>
          <p:nvPr/>
        </p:nvSpPr>
        <p:spPr>
          <a:xfrm>
            <a:off x="381305" y="2635301"/>
            <a:ext cx="9144" cy="1619402"/>
          </a:xfrm>
          <a:prstGeom prst="rect">
            <a:avLst/>
          </a:prstGeom>
          <a:solidFill>
            <a:srgbClr val="FFFFFF">
              <a:alpha val="2000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22"/>
          <p:cNvSpPr txBox="1"/>
          <p:nvPr/>
        </p:nvSpPr>
        <p:spPr>
          <a:xfrm>
            <a:off x="580644" y="2635301"/>
            <a:ext cx="2658161" cy="9811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Reactivation follows a predictable curve. We build the foundation, generate initial momentum, and then optimize for maximum yield.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22"/>
          <p:cNvSpPr txBox="1"/>
          <p:nvPr/>
        </p:nvSpPr>
        <p:spPr>
          <a:xfrm>
            <a:off x="580644" y="3763670"/>
            <a:ext cx="2658161" cy="495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Here is the roadmap for the next quarter.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56" name="Google Shape;956;p22"/>
          <p:cNvPicPr preferRelativeResize="0"/>
          <p:nvPr/>
        </p:nvPicPr>
        <p:blipFill rotWithShape="1">
          <a:blip r:embed="rId14">
            <a:alphaModFix amt="80000"/>
          </a:blip>
          <a:srcRect b="0" l="-57" r="-57" t="0"/>
          <a:stretch/>
        </p:blipFill>
        <p:spPr>
          <a:xfrm>
            <a:off x="381305" y="4251046"/>
            <a:ext cx="400507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57" name="Google Shape;957;p22"/>
          <p:cNvSpPr txBox="1"/>
          <p:nvPr/>
        </p:nvSpPr>
        <p:spPr>
          <a:xfrm>
            <a:off x="7217800" y="3783402"/>
            <a:ext cx="16284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Post card Launch (2)</a:t>
            </a:r>
            <a:endParaRPr b="1" i="0" sz="1000" u="none" cap="none" strike="noStrike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r>
              <a:rPr b="0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ollowing up on the emails sending them back to you for any specials </a:t>
            </a:r>
            <a:endParaRPr b="0" i="0" sz="1000" u="none" cap="none" strike="noStrike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preencoded.png" id="958" name="Google Shape;958;p22"/>
          <p:cNvPicPr preferRelativeResize="0"/>
          <p:nvPr/>
        </p:nvPicPr>
        <p:blipFill rotWithShape="1">
          <a:blip r:embed="rId9">
            <a:alphaModFix/>
          </a:blip>
          <a:srcRect b="0" l="-2576" r="-2565" t="0"/>
          <a:stretch/>
        </p:blipFill>
        <p:spPr>
          <a:xfrm>
            <a:off x="6959241" y="3887809"/>
            <a:ext cx="105156" cy="11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2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p2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23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67" name="Google Shape;967;p23"/>
          <p:cNvPicPr preferRelativeResize="0"/>
          <p:nvPr/>
        </p:nvPicPr>
        <p:blipFill rotWithShape="1">
          <a:blip r:embed="rId3">
            <a:alphaModFix/>
          </a:blip>
          <a:srcRect b="-3" l="0" r="0" t="-3"/>
          <a:stretch/>
        </p:blipFill>
        <p:spPr>
          <a:xfrm>
            <a:off x="4381805" y="502920"/>
            <a:ext cx="7048195" cy="52806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68" name="Google Shape;96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24598" y="160020"/>
            <a:ext cx="761695" cy="7616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69" name="Google Shape;969;p23"/>
          <p:cNvPicPr preferRelativeResize="0"/>
          <p:nvPr/>
        </p:nvPicPr>
        <p:blipFill rotWithShape="1">
          <a:blip r:embed="rId5">
            <a:alphaModFix/>
          </a:blip>
          <a:srcRect b="-45" l="0" r="0" t="-45"/>
          <a:stretch/>
        </p:blipFill>
        <p:spPr>
          <a:xfrm>
            <a:off x="7776972" y="369418"/>
            <a:ext cx="256946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970" name="Google Shape;970;p23"/>
          <p:cNvSpPr txBox="1"/>
          <p:nvPr/>
        </p:nvSpPr>
        <p:spPr>
          <a:xfrm>
            <a:off x="4895698" y="1207922"/>
            <a:ext cx="602041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000"/>
              <a:buFont typeface="Montserrat"/>
              <a:buNone/>
            </a:pPr>
            <a:r>
              <a:rPr b="1" i="0" lang="en-US" sz="1000" u="none" cap="none" strike="noStrike">
                <a:solidFill>
                  <a:srgbClr val="B45309"/>
                </a:solidFill>
                <a:latin typeface="Montserrat"/>
                <a:ea typeface="Montserrat"/>
                <a:cs typeface="Montserrat"/>
                <a:sym typeface="Montserrat"/>
              </a:rPr>
              <a:t>The Performance Guarantee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23"/>
          <p:cNvSpPr txBox="1"/>
          <p:nvPr/>
        </p:nvSpPr>
        <p:spPr>
          <a:xfrm>
            <a:off x="4895698" y="1598371"/>
            <a:ext cx="6020410" cy="1343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700"/>
              <a:buFont typeface="Montserrat"/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 We will generate </a:t>
            </a:r>
            <a:r>
              <a:rPr b="1" i="0" lang="en-US" sz="27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40 Qualified Reactivation Leads</a:t>
            </a:r>
            <a:r>
              <a:rPr b="1" i="0" lang="en-US" sz="27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 in your first 90 days. 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23"/>
          <p:cNvSpPr/>
          <p:nvPr/>
        </p:nvSpPr>
        <p:spPr>
          <a:xfrm>
            <a:off x="4895698" y="3735324"/>
            <a:ext cx="6019495" cy="9144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Google Shape;973;p23"/>
          <p:cNvSpPr txBox="1"/>
          <p:nvPr/>
        </p:nvSpPr>
        <p:spPr>
          <a:xfrm>
            <a:off x="4895698" y="3163824"/>
            <a:ext cx="6020410" cy="286207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Open Sans"/>
              <a:buNone/>
            </a:pPr>
            <a:r>
              <a:rPr b="1" i="0" lang="en-US" sz="15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...Or we work for free until you get them.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23"/>
          <p:cNvSpPr/>
          <p:nvPr/>
        </p:nvSpPr>
        <p:spPr>
          <a:xfrm>
            <a:off x="4895698" y="4030675"/>
            <a:ext cx="6019495" cy="1238098"/>
          </a:xfrm>
          <a:prstGeom prst="roundRect">
            <a:avLst>
              <a:gd fmla="val 9090" name="adj"/>
            </a:avLst>
          </a:prstGeom>
          <a:solidFill>
            <a:srgbClr val="F8FAFC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75" name="Google Shape;975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86807" y="429768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76" name="Google Shape;976;p23"/>
          <p:cNvSpPr txBox="1"/>
          <p:nvPr/>
        </p:nvSpPr>
        <p:spPr>
          <a:xfrm>
            <a:off x="5467198" y="4221785"/>
            <a:ext cx="525780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Montserrat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What counts as a "Qualified Lead"?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23"/>
          <p:cNvSpPr txBox="1"/>
          <p:nvPr/>
        </p:nvSpPr>
        <p:spPr>
          <a:xfrm>
            <a:off x="5467198" y="4478731"/>
            <a:ext cx="5257800" cy="600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 past customer who responds to our outreach with interest in service, agrees to a quote or appointment booking, or explicitly requests a callback from your team. We don't count "unsubscribe" clicks or wrong numbers.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78" name="Google Shape;978;p23"/>
          <p:cNvPicPr preferRelativeResize="0"/>
          <p:nvPr/>
        </p:nvPicPr>
        <p:blipFill rotWithShape="1">
          <a:blip r:embed="rId7">
            <a:alphaModFix amt="70000"/>
          </a:blip>
          <a:srcRect b="-43" l="0" r="0" t="-43"/>
          <a:stretch/>
        </p:blipFill>
        <p:spPr>
          <a:xfrm>
            <a:off x="4925873" y="6184087"/>
            <a:ext cx="133502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979" name="Google Shape;979;p23"/>
          <p:cNvSpPr txBox="1"/>
          <p:nvPr/>
        </p:nvSpPr>
        <p:spPr>
          <a:xfrm>
            <a:off x="5135270" y="6164885"/>
            <a:ext cx="1870862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 Long-Term Contracts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80" name="Google Shape;980;p23"/>
          <p:cNvPicPr preferRelativeResize="0"/>
          <p:nvPr/>
        </p:nvPicPr>
        <p:blipFill rotWithShape="1">
          <a:blip r:embed="rId7">
            <a:alphaModFix amt="70000"/>
          </a:blip>
          <a:srcRect b="-43" l="0" r="0" t="-43"/>
          <a:stretch/>
        </p:blipFill>
        <p:spPr>
          <a:xfrm>
            <a:off x="7009790" y="6184087"/>
            <a:ext cx="133502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981" name="Google Shape;981;p23"/>
          <p:cNvSpPr txBox="1"/>
          <p:nvPr/>
        </p:nvSpPr>
        <p:spPr>
          <a:xfrm>
            <a:off x="7219188" y="6164885"/>
            <a:ext cx="2018081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Results-Based Partnership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82" name="Google Shape;982;p23"/>
          <p:cNvPicPr preferRelativeResize="0"/>
          <p:nvPr/>
        </p:nvPicPr>
        <p:blipFill rotWithShape="1">
          <a:blip r:embed="rId7">
            <a:alphaModFix amt="70000"/>
          </a:blip>
          <a:srcRect b="-43" l="0" r="0" t="-43"/>
          <a:stretch/>
        </p:blipFill>
        <p:spPr>
          <a:xfrm>
            <a:off x="9217152" y="6184087"/>
            <a:ext cx="133502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983" name="Google Shape;983;p23"/>
          <p:cNvSpPr txBox="1"/>
          <p:nvPr/>
        </p:nvSpPr>
        <p:spPr>
          <a:xfrm>
            <a:off x="9426550" y="6164885"/>
            <a:ext cx="174559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Transparent Reporting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23"/>
          <p:cNvSpPr txBox="1"/>
          <p:nvPr/>
        </p:nvSpPr>
        <p:spPr>
          <a:xfrm>
            <a:off x="11704320" y="6400800"/>
            <a:ext cx="154534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Montserrat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21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23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86" name="Google Shape;986;p23"/>
          <p:cNvPicPr preferRelativeResize="0"/>
          <p:nvPr/>
        </p:nvPicPr>
        <p:blipFill rotWithShape="1">
          <a:blip r:embed="rId8">
            <a:alphaModFix amt="5000"/>
          </a:blip>
          <a:srcRect b="-44745" l="0" r="0" t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7" name="Google Shape;987;p23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FBBF24"/>
                </a:solidFill>
                <a:latin typeface="Montserrat"/>
                <a:ea typeface="Montserrat"/>
                <a:cs typeface="Montserrat"/>
                <a:sym typeface="Montserrat"/>
              </a:rPr>
              <a:t>Risk Reversal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23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p23"/>
          <p:cNvSpPr txBox="1"/>
          <p:nvPr/>
        </p:nvSpPr>
        <p:spPr>
          <a:xfrm>
            <a:off x="381305" y="909828"/>
            <a:ext cx="2857500" cy="1448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Our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90-Day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Promise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23"/>
          <p:cNvSpPr/>
          <p:nvPr/>
        </p:nvSpPr>
        <p:spPr>
          <a:xfrm>
            <a:off x="381305" y="2635301"/>
            <a:ext cx="9144" cy="886054"/>
          </a:xfrm>
          <a:prstGeom prst="rect">
            <a:avLst/>
          </a:prstGeom>
          <a:solidFill>
            <a:srgbClr val="FFFFFF">
              <a:alpha val="2000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1" name="Google Shape;991;p23"/>
          <p:cNvSpPr txBox="1"/>
          <p:nvPr/>
        </p:nvSpPr>
        <p:spPr>
          <a:xfrm>
            <a:off x="580644" y="2635301"/>
            <a:ext cx="3162910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We don't ask you to take the risk.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23"/>
          <p:cNvSpPr txBox="1"/>
          <p:nvPr/>
        </p:nvSpPr>
        <p:spPr>
          <a:xfrm>
            <a:off x="580644" y="3032150"/>
            <a:ext cx="2658161" cy="495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We're betting our own revenue on our ability to reactivate your assets.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93" name="Google Shape;993;p23"/>
          <p:cNvPicPr preferRelativeResize="0"/>
          <p:nvPr/>
        </p:nvPicPr>
        <p:blipFill rotWithShape="1">
          <a:blip r:embed="rId9">
            <a:alphaModFix amt="80000"/>
          </a:blip>
          <a:srcRect b="0" l="0" r="0" t="0"/>
          <a:stretch/>
        </p:blipFill>
        <p:spPr>
          <a:xfrm>
            <a:off x="381305" y="3519526"/>
            <a:ext cx="5715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2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Google Shape;1000;p2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Google Shape;1001;p24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" name="Google Shape;1002;p24"/>
          <p:cNvSpPr txBox="1"/>
          <p:nvPr/>
        </p:nvSpPr>
        <p:spPr>
          <a:xfrm>
            <a:off x="4190695" y="476402"/>
            <a:ext cx="78629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Investment vs. Projected Return (90 Days)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24"/>
          <p:cNvSpPr/>
          <p:nvPr/>
        </p:nvSpPr>
        <p:spPr>
          <a:xfrm>
            <a:off x="4190695" y="1314907"/>
            <a:ext cx="2943454" cy="5067605"/>
          </a:xfrm>
          <a:prstGeom prst="roundRect">
            <a:avLst>
              <a:gd fmla="val 321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4" name="Google Shape;1004;p24"/>
          <p:cNvSpPr/>
          <p:nvPr/>
        </p:nvSpPr>
        <p:spPr>
          <a:xfrm>
            <a:off x="4200754" y="1324051"/>
            <a:ext cx="2924251" cy="724205"/>
          </a:xfrm>
          <a:prstGeom prst="roundRect">
            <a:avLst>
              <a:gd fmla="val 53163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p24"/>
          <p:cNvSpPr/>
          <p:nvPr/>
        </p:nvSpPr>
        <p:spPr>
          <a:xfrm>
            <a:off x="4200754" y="2039112"/>
            <a:ext cx="2924251" cy="9144"/>
          </a:xfrm>
          <a:prstGeom prst="roundRect">
            <a:avLst>
              <a:gd fmla="val 4210526" name="adj"/>
            </a:avLst>
          </a:prstGeom>
          <a:solidFill>
            <a:srgbClr val="E2E8F0"/>
          </a:solidFill>
          <a:ln cap="flat" cmpd="sng" w="12700">
            <a:solidFill>
              <a:srgbClr val="E2E8F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" name="Google Shape;1006;p24"/>
          <p:cNvSpPr txBox="1"/>
          <p:nvPr/>
        </p:nvSpPr>
        <p:spPr>
          <a:xfrm>
            <a:off x="4667098" y="1552651"/>
            <a:ext cx="2229307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 Total Investment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07" name="Google Shape;1007;p24"/>
          <p:cNvPicPr preferRelativeResize="0"/>
          <p:nvPr/>
        </p:nvPicPr>
        <p:blipFill rotWithShape="1">
          <a:blip r:embed="rId3">
            <a:alphaModFix/>
          </a:blip>
          <a:srcRect b="0" l="-5319" r="-5319" t="0"/>
          <a:stretch/>
        </p:blipFill>
        <p:spPr>
          <a:xfrm>
            <a:off x="4429354" y="1595628"/>
            <a:ext cx="142646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1008" name="Google Shape;1008;p24"/>
          <p:cNvSpPr/>
          <p:nvPr/>
        </p:nvSpPr>
        <p:spPr>
          <a:xfrm>
            <a:off x="4486046" y="2743200"/>
            <a:ext cx="2352751" cy="9144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p24"/>
          <p:cNvSpPr txBox="1"/>
          <p:nvPr/>
        </p:nvSpPr>
        <p:spPr>
          <a:xfrm>
            <a:off x="4486046" y="2348179"/>
            <a:ext cx="132679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One-Time Setup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24"/>
          <p:cNvSpPr txBox="1"/>
          <p:nvPr/>
        </p:nvSpPr>
        <p:spPr>
          <a:xfrm>
            <a:off x="6220663" y="2333549"/>
            <a:ext cx="662940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$6,000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24"/>
          <p:cNvSpPr/>
          <p:nvPr/>
        </p:nvSpPr>
        <p:spPr>
          <a:xfrm>
            <a:off x="4486046" y="3390595"/>
            <a:ext cx="2352751" cy="9144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24"/>
          <p:cNvSpPr txBox="1"/>
          <p:nvPr/>
        </p:nvSpPr>
        <p:spPr>
          <a:xfrm>
            <a:off x="4486046" y="2995574"/>
            <a:ext cx="160934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Program (Month 1)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24"/>
          <p:cNvSpPr txBox="1"/>
          <p:nvPr/>
        </p:nvSpPr>
        <p:spPr>
          <a:xfrm>
            <a:off x="6239866" y="2980944"/>
            <a:ext cx="662026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$7,900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24"/>
          <p:cNvSpPr/>
          <p:nvPr/>
        </p:nvSpPr>
        <p:spPr>
          <a:xfrm>
            <a:off x="4486046" y="4038905"/>
            <a:ext cx="2352751" cy="9144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24"/>
          <p:cNvSpPr txBox="1"/>
          <p:nvPr/>
        </p:nvSpPr>
        <p:spPr>
          <a:xfrm>
            <a:off x="4486046" y="3642970"/>
            <a:ext cx="160934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Program (Month 2)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24"/>
          <p:cNvSpPr txBox="1"/>
          <p:nvPr/>
        </p:nvSpPr>
        <p:spPr>
          <a:xfrm>
            <a:off x="6239866" y="3629254"/>
            <a:ext cx="662026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$7,900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24"/>
          <p:cNvSpPr txBox="1"/>
          <p:nvPr/>
        </p:nvSpPr>
        <p:spPr>
          <a:xfrm>
            <a:off x="4486046" y="4291279"/>
            <a:ext cx="160934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Program (Month 3)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24"/>
          <p:cNvSpPr txBox="1"/>
          <p:nvPr/>
        </p:nvSpPr>
        <p:spPr>
          <a:xfrm>
            <a:off x="6239866" y="4276649"/>
            <a:ext cx="662026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$7,900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24"/>
          <p:cNvSpPr/>
          <p:nvPr/>
        </p:nvSpPr>
        <p:spPr>
          <a:xfrm>
            <a:off x="4200754" y="5514746"/>
            <a:ext cx="2924251" cy="857707"/>
          </a:xfrm>
          <a:prstGeom prst="roundRect">
            <a:avLst>
              <a:gd fmla="val 37906" name="adj"/>
            </a:avLst>
          </a:prstGeom>
          <a:solidFill>
            <a:srgbClr val="1E293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24"/>
          <p:cNvSpPr txBox="1"/>
          <p:nvPr/>
        </p:nvSpPr>
        <p:spPr>
          <a:xfrm>
            <a:off x="4486046" y="5843930"/>
            <a:ext cx="1251814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startup investment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24"/>
          <p:cNvSpPr txBox="1"/>
          <p:nvPr/>
        </p:nvSpPr>
        <p:spPr>
          <a:xfrm>
            <a:off x="5731459" y="5743346"/>
            <a:ext cx="1202436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Montserrat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$29,700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24"/>
          <p:cNvSpPr txBox="1"/>
          <p:nvPr/>
        </p:nvSpPr>
        <p:spPr>
          <a:xfrm>
            <a:off x="7509053" y="1314907"/>
            <a:ext cx="411480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Projected Revenue Scenarios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24"/>
          <p:cNvSpPr/>
          <p:nvPr/>
        </p:nvSpPr>
        <p:spPr>
          <a:xfrm>
            <a:off x="7509053" y="1800454"/>
            <a:ext cx="4114800" cy="1028700"/>
          </a:xfrm>
          <a:prstGeom prst="roundRect">
            <a:avLst>
              <a:gd fmla="val 19753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p24"/>
          <p:cNvSpPr/>
          <p:nvPr/>
        </p:nvSpPr>
        <p:spPr>
          <a:xfrm>
            <a:off x="7509053" y="1800454"/>
            <a:ext cx="57607" cy="1004926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5" name="Google Shape;1025;p24"/>
          <p:cNvSpPr txBox="1"/>
          <p:nvPr/>
        </p:nvSpPr>
        <p:spPr>
          <a:xfrm>
            <a:off x="7804404" y="2100377"/>
            <a:ext cx="1752905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Conservative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24"/>
          <p:cNvSpPr txBox="1"/>
          <p:nvPr/>
        </p:nvSpPr>
        <p:spPr>
          <a:xfrm>
            <a:off x="7804404" y="2324405"/>
            <a:ext cx="2085746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40 Reactivations @ $850 avg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24"/>
          <p:cNvSpPr txBox="1"/>
          <p:nvPr/>
        </p:nvSpPr>
        <p:spPr>
          <a:xfrm>
            <a:off x="9955987" y="2000707"/>
            <a:ext cx="1376172" cy="305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$34,000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24"/>
          <p:cNvSpPr/>
          <p:nvPr/>
        </p:nvSpPr>
        <p:spPr>
          <a:xfrm>
            <a:off x="10594238" y="2361895"/>
            <a:ext cx="733349" cy="267005"/>
          </a:xfrm>
          <a:prstGeom prst="roundRect">
            <a:avLst>
              <a:gd fmla="val 342465" name="adj"/>
            </a:avLst>
          </a:prstGeom>
          <a:solidFill>
            <a:srgbClr val="F1F5F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9" name="Google Shape;1029;p24"/>
          <p:cNvSpPr/>
          <p:nvPr/>
        </p:nvSpPr>
        <p:spPr>
          <a:xfrm>
            <a:off x="10594238" y="2361895"/>
            <a:ext cx="734263" cy="267005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100" lIns="114300" spcFirstLastPara="1" rIns="114300" wrap="square" tIns="381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1.2x ROI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30" name="Google Shape;1030;p24"/>
          <p:cNvPicPr preferRelativeResize="0"/>
          <p:nvPr/>
        </p:nvPicPr>
        <p:blipFill rotWithShape="1">
          <a:blip r:embed="rId4">
            <a:alphaModFix/>
          </a:blip>
          <a:srcRect b="0" l="-4" r="-4" t="0"/>
          <a:stretch/>
        </p:blipFill>
        <p:spPr>
          <a:xfrm>
            <a:off x="7467905" y="3004718"/>
            <a:ext cx="4193438" cy="1044245"/>
          </a:xfrm>
          <a:prstGeom prst="rect">
            <a:avLst/>
          </a:prstGeom>
          <a:noFill/>
          <a:ln>
            <a:noFill/>
          </a:ln>
        </p:spPr>
      </p:pic>
      <p:sp>
        <p:nvSpPr>
          <p:cNvPr id="1031" name="Google Shape;1031;p24"/>
          <p:cNvSpPr/>
          <p:nvPr/>
        </p:nvSpPr>
        <p:spPr>
          <a:xfrm>
            <a:off x="7467905" y="3004718"/>
            <a:ext cx="57607" cy="1004926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p24"/>
          <p:cNvSpPr txBox="1"/>
          <p:nvPr/>
        </p:nvSpPr>
        <p:spPr>
          <a:xfrm>
            <a:off x="7768742" y="3310128"/>
            <a:ext cx="179131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Open Sans"/>
                <a:ea typeface="Open Sans"/>
                <a:cs typeface="Open Sans"/>
                <a:sym typeface="Open Sans"/>
              </a:rPr>
              <a:t>Realistic Target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24"/>
          <p:cNvSpPr txBox="1"/>
          <p:nvPr/>
        </p:nvSpPr>
        <p:spPr>
          <a:xfrm>
            <a:off x="7768742" y="3538728"/>
            <a:ext cx="2131466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80 Reactivations @ $850 avg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24"/>
          <p:cNvSpPr txBox="1"/>
          <p:nvPr/>
        </p:nvSpPr>
        <p:spPr>
          <a:xfrm>
            <a:off x="10023653" y="3208630"/>
            <a:ext cx="1343254" cy="314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059669"/>
                </a:solidFill>
                <a:latin typeface="Montserrat"/>
                <a:ea typeface="Montserrat"/>
                <a:cs typeface="Montserrat"/>
                <a:sym typeface="Montserrat"/>
              </a:rPr>
              <a:t>$68,000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24"/>
          <p:cNvSpPr/>
          <p:nvPr/>
        </p:nvSpPr>
        <p:spPr>
          <a:xfrm>
            <a:off x="10615270" y="3578047"/>
            <a:ext cx="752551" cy="276149"/>
          </a:xfrm>
          <a:prstGeom prst="roundRect">
            <a:avLst>
              <a:gd fmla="val 331126" name="adj"/>
            </a:avLst>
          </a:prstGeom>
          <a:solidFill>
            <a:srgbClr val="10B981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24"/>
          <p:cNvSpPr/>
          <p:nvPr/>
        </p:nvSpPr>
        <p:spPr>
          <a:xfrm>
            <a:off x="10615270" y="3578047"/>
            <a:ext cx="752551" cy="277063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100" lIns="114300" spcFirstLastPara="1" rIns="114300" wrap="square" tIns="381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2.3x ROI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24"/>
          <p:cNvSpPr/>
          <p:nvPr/>
        </p:nvSpPr>
        <p:spPr>
          <a:xfrm>
            <a:off x="7509053" y="4229100"/>
            <a:ext cx="4114800" cy="1028700"/>
          </a:xfrm>
          <a:prstGeom prst="roundRect">
            <a:avLst>
              <a:gd fmla="val 19753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24"/>
          <p:cNvSpPr/>
          <p:nvPr/>
        </p:nvSpPr>
        <p:spPr>
          <a:xfrm>
            <a:off x="7509053" y="4229100"/>
            <a:ext cx="57607" cy="1004926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24"/>
          <p:cNvSpPr txBox="1"/>
          <p:nvPr/>
        </p:nvSpPr>
        <p:spPr>
          <a:xfrm>
            <a:off x="7804404" y="4529023"/>
            <a:ext cx="18288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Optimistic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24"/>
          <p:cNvSpPr txBox="1"/>
          <p:nvPr/>
        </p:nvSpPr>
        <p:spPr>
          <a:xfrm>
            <a:off x="7804404" y="4753051"/>
            <a:ext cx="2176272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120 Reactivations @ $850 avg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24"/>
          <p:cNvSpPr txBox="1"/>
          <p:nvPr/>
        </p:nvSpPr>
        <p:spPr>
          <a:xfrm>
            <a:off x="9757562" y="4429354"/>
            <a:ext cx="1569110" cy="305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$102,000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24"/>
          <p:cNvSpPr/>
          <p:nvPr/>
        </p:nvSpPr>
        <p:spPr>
          <a:xfrm>
            <a:off x="10594238" y="4791456"/>
            <a:ext cx="733349" cy="267005"/>
          </a:xfrm>
          <a:prstGeom prst="roundRect">
            <a:avLst>
              <a:gd fmla="val 342465" name="adj"/>
            </a:avLst>
          </a:prstGeom>
          <a:solidFill>
            <a:srgbClr val="D1FAE5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p24"/>
          <p:cNvSpPr/>
          <p:nvPr/>
        </p:nvSpPr>
        <p:spPr>
          <a:xfrm>
            <a:off x="10594238" y="4791456"/>
            <a:ext cx="734263" cy="267005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100" lIns="114300" spcFirstLastPara="1" rIns="114300" wrap="square" tIns="381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Open Sans"/>
                <a:ea typeface="Open Sans"/>
                <a:cs typeface="Open Sans"/>
                <a:sym typeface="Open Sans"/>
              </a:rPr>
              <a:t>3.4x ROI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24"/>
          <p:cNvSpPr/>
          <p:nvPr/>
        </p:nvSpPr>
        <p:spPr>
          <a:xfrm>
            <a:off x="7509053" y="5556809"/>
            <a:ext cx="4114800" cy="828446"/>
          </a:xfrm>
          <a:prstGeom prst="roundRect">
            <a:avLst>
              <a:gd fmla="val 20299" name="adj"/>
            </a:avLst>
          </a:prstGeom>
          <a:solidFill>
            <a:srgbClr val="FFFBEB"/>
          </a:solidFill>
          <a:ln cap="flat" cmpd="sng" w="12700">
            <a:solidFill>
              <a:srgbClr val="FEF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45" name="Google Shape;1045;p24"/>
          <p:cNvPicPr preferRelativeResize="0"/>
          <p:nvPr/>
        </p:nvPicPr>
        <p:blipFill rotWithShape="1">
          <a:blip r:embed="rId5">
            <a:alphaModFix/>
          </a:blip>
          <a:srcRect b="-43" l="0" r="0" t="-43"/>
          <a:stretch/>
        </p:blipFill>
        <p:spPr>
          <a:xfrm>
            <a:off x="7660843" y="5747918"/>
            <a:ext cx="133502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046" name="Google Shape;1046;p24"/>
          <p:cNvSpPr txBox="1"/>
          <p:nvPr/>
        </p:nvSpPr>
        <p:spPr>
          <a:xfrm>
            <a:off x="7908646" y="5709514"/>
            <a:ext cx="3562502" cy="5239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Open Sans"/>
                <a:ea typeface="Open Sans"/>
                <a:cs typeface="Open Sans"/>
                <a:sym typeface="Open Sans"/>
              </a:rPr>
              <a:t>Break-Even Point:</a:t>
            </a:r>
            <a:r>
              <a:rPr b="0" i="0" lang="en-US" sz="900" u="none" cap="none" strike="noStrike">
                <a:solidFill>
                  <a:srgbClr val="92400E"/>
                </a:solidFill>
                <a:latin typeface="Open Sans"/>
                <a:ea typeface="Open Sans"/>
                <a:cs typeface="Open Sans"/>
                <a:sym typeface="Open Sans"/>
              </a:rPr>
              <a:t> You only need ~35 reactivations over 90 days to cover the entire program cost. Everything after that is profit.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24"/>
          <p:cNvSpPr txBox="1"/>
          <p:nvPr/>
        </p:nvSpPr>
        <p:spPr>
          <a:xfrm>
            <a:off x="11681460" y="6400800"/>
            <a:ext cx="157277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Montserrat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24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49" name="Google Shape;1049;p24"/>
          <p:cNvPicPr preferRelativeResize="0"/>
          <p:nvPr/>
        </p:nvPicPr>
        <p:blipFill rotWithShape="1">
          <a:blip r:embed="rId6">
            <a:alphaModFix amt="5000"/>
          </a:blip>
          <a:srcRect b="-44745" l="0" r="0" t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0" name="Google Shape;1050;p24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10B981"/>
                </a:solidFill>
                <a:latin typeface="Montserrat"/>
                <a:ea typeface="Montserrat"/>
                <a:cs typeface="Montserrat"/>
                <a:sym typeface="Montserrat"/>
              </a:rPr>
              <a:t>Investment &amp; ROI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24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p24"/>
          <p:cNvSpPr txBox="1"/>
          <p:nvPr/>
        </p:nvSpPr>
        <p:spPr>
          <a:xfrm>
            <a:off x="381305" y="909828"/>
            <a:ext cx="2857500" cy="9628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Numbers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24"/>
          <p:cNvSpPr/>
          <p:nvPr/>
        </p:nvSpPr>
        <p:spPr>
          <a:xfrm>
            <a:off x="381305" y="2155241"/>
            <a:ext cx="9144" cy="1619402"/>
          </a:xfrm>
          <a:prstGeom prst="rect">
            <a:avLst/>
          </a:prstGeom>
          <a:solidFill>
            <a:srgbClr val="FFFFFF">
              <a:alpha val="2000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p24"/>
          <p:cNvSpPr txBox="1"/>
          <p:nvPr/>
        </p:nvSpPr>
        <p:spPr>
          <a:xfrm>
            <a:off x="580644" y="2155241"/>
            <a:ext cx="2658161" cy="734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We've structured this pilot to minimize risk while maximizing speed to revenue.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24"/>
          <p:cNvSpPr txBox="1"/>
          <p:nvPr/>
        </p:nvSpPr>
        <p:spPr>
          <a:xfrm>
            <a:off x="580644" y="3039466"/>
            <a:ext cx="2658161" cy="734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Here is exactly what you put in, compared to what conservative models project you'll get out.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56" name="Google Shape;1056;p24"/>
          <p:cNvPicPr preferRelativeResize="0"/>
          <p:nvPr/>
        </p:nvPicPr>
        <p:blipFill rotWithShape="1">
          <a:blip r:embed="rId7">
            <a:alphaModFix amt="80000"/>
          </a:blip>
          <a:srcRect b="0" l="0" r="0" t="0"/>
          <a:stretch/>
        </p:blipFill>
        <p:spPr>
          <a:xfrm>
            <a:off x="381305" y="3770986"/>
            <a:ext cx="3429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2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p2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p25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p25"/>
          <p:cNvSpPr txBox="1"/>
          <p:nvPr/>
        </p:nvSpPr>
        <p:spPr>
          <a:xfrm>
            <a:off x="4190695" y="476402"/>
            <a:ext cx="7429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Implementation Roadmap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66" name="Google Shape;1066;p25"/>
          <p:cNvPicPr preferRelativeResize="0"/>
          <p:nvPr/>
        </p:nvPicPr>
        <p:blipFill rotWithShape="1">
          <a:blip r:embed="rId3">
            <a:alphaModFix/>
          </a:blip>
          <a:srcRect b="0" l="-398" r="-398" t="0"/>
          <a:stretch/>
        </p:blipFill>
        <p:spPr>
          <a:xfrm>
            <a:off x="4619549" y="1552651"/>
            <a:ext cx="38405" cy="47722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67" name="Google Shape;106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91049" y="6409944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1068" name="Google Shape;1068;p25"/>
          <p:cNvSpPr txBox="1"/>
          <p:nvPr/>
        </p:nvSpPr>
        <p:spPr>
          <a:xfrm>
            <a:off x="5495544" y="6115507"/>
            <a:ext cx="6124651" cy="590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No high-pressure sales tactics. Just a transparent conversation to see if the math makes sense for your business.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25"/>
          <p:cNvSpPr txBox="1"/>
          <p:nvPr/>
        </p:nvSpPr>
        <p:spPr>
          <a:xfrm>
            <a:off x="11681460" y="6400800"/>
            <a:ext cx="157277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Montserrat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23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25"/>
          <p:cNvSpPr/>
          <p:nvPr/>
        </p:nvSpPr>
        <p:spPr>
          <a:xfrm>
            <a:off x="4381805" y="1543507"/>
            <a:ext cx="514807" cy="514807"/>
          </a:xfrm>
          <a:prstGeom prst="ellipse">
            <a:avLst/>
          </a:prstGeom>
          <a:solidFill>
            <a:srgbClr val="10B981"/>
          </a:solidFill>
          <a:ln cap="flat" cmpd="sng" w="508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71" name="Google Shape;1071;p25"/>
          <p:cNvPicPr preferRelativeResize="0"/>
          <p:nvPr/>
        </p:nvPicPr>
        <p:blipFill rotWithShape="1">
          <a:blip r:embed="rId5">
            <a:alphaModFix/>
          </a:blip>
          <a:srcRect b="0" l="-1648" r="-1648" t="0"/>
          <a:stretch/>
        </p:blipFill>
        <p:spPr>
          <a:xfrm>
            <a:off x="4552798" y="1705356"/>
            <a:ext cx="171907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1072" name="Google Shape;1072;p25"/>
          <p:cNvSpPr/>
          <p:nvPr/>
        </p:nvSpPr>
        <p:spPr>
          <a:xfrm>
            <a:off x="5181905" y="1314907"/>
            <a:ext cx="6439205" cy="972007"/>
          </a:xfrm>
          <a:prstGeom prst="roundRect">
            <a:avLst>
              <a:gd fmla="val 22135" name="adj"/>
            </a:avLst>
          </a:prstGeom>
          <a:solidFill>
            <a:srgbClr val="F0FDF4"/>
          </a:solidFill>
          <a:ln cap="flat" cmpd="sng" w="127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25"/>
          <p:cNvSpPr txBox="1"/>
          <p:nvPr/>
        </p:nvSpPr>
        <p:spPr>
          <a:xfrm>
            <a:off x="5419649" y="1552651"/>
            <a:ext cx="4734763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Review This Report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p25"/>
          <p:cNvSpPr txBox="1"/>
          <p:nvPr/>
        </p:nvSpPr>
        <p:spPr>
          <a:xfrm>
            <a:off x="5419649" y="1848002"/>
            <a:ext cx="5420563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You've analyzed the dormant revenue opportunity in your specific database.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25"/>
          <p:cNvSpPr/>
          <p:nvPr/>
        </p:nvSpPr>
        <p:spPr>
          <a:xfrm>
            <a:off x="10222078" y="1657807"/>
            <a:ext cx="1162202" cy="286207"/>
          </a:xfrm>
          <a:prstGeom prst="roundRect">
            <a:avLst>
              <a:gd fmla="val 319489" name="adj"/>
            </a:avLst>
          </a:prstGeom>
          <a:solidFill>
            <a:srgbClr val="DCFCE7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p25"/>
          <p:cNvSpPr/>
          <p:nvPr/>
        </p:nvSpPr>
        <p:spPr>
          <a:xfrm>
            <a:off x="10222078" y="1657807"/>
            <a:ext cx="1162202" cy="286207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500" lIns="114300" spcFirstLastPara="1" rIns="114300" wrap="square" tIns="63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166534"/>
                </a:solidFill>
                <a:latin typeface="Open Sans"/>
                <a:ea typeface="Open Sans"/>
                <a:cs typeface="Open Sans"/>
                <a:sym typeface="Open Sans"/>
              </a:rPr>
              <a:t>You Are Here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77" name="Google Shape;1077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56202" y="2717597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8" name="Google Shape;1078;p25"/>
          <p:cNvSpPr/>
          <p:nvPr/>
        </p:nvSpPr>
        <p:spPr>
          <a:xfrm>
            <a:off x="4356202" y="2717597"/>
            <a:ext cx="57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79" name="Google Shape;1079;p25"/>
          <p:cNvPicPr preferRelativeResize="0"/>
          <p:nvPr/>
        </p:nvPicPr>
        <p:blipFill rotWithShape="1">
          <a:blip r:embed="rId7">
            <a:alphaModFix/>
          </a:blip>
          <a:srcRect b="-21" l="0" r="0" t="-21"/>
          <a:stretch/>
        </p:blipFill>
        <p:spPr>
          <a:xfrm>
            <a:off x="5277002" y="2514600"/>
            <a:ext cx="6439205" cy="972007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Google Shape;1080;p25"/>
          <p:cNvSpPr txBox="1"/>
          <p:nvPr/>
        </p:nvSpPr>
        <p:spPr>
          <a:xfrm>
            <a:off x="5514746" y="2752344"/>
            <a:ext cx="4038905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C2410C"/>
                </a:solidFill>
                <a:latin typeface="Montserrat"/>
                <a:ea typeface="Montserrat"/>
                <a:cs typeface="Montserrat"/>
                <a:sym typeface="Montserrat"/>
              </a:rPr>
              <a:t>Connect with us email,text,or schedule a call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25"/>
          <p:cNvSpPr txBox="1"/>
          <p:nvPr/>
        </p:nvSpPr>
        <p:spPr>
          <a:xfrm>
            <a:off x="5514746" y="3047695"/>
            <a:ext cx="4724705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We'll walk through your specific segments and answer questions.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25"/>
          <p:cNvSpPr/>
          <p:nvPr/>
        </p:nvSpPr>
        <p:spPr>
          <a:xfrm>
            <a:off x="9776765" y="2848356"/>
            <a:ext cx="1705356" cy="304495"/>
          </a:xfrm>
          <a:prstGeom prst="roundRect">
            <a:avLst>
              <a:gd fmla="val 300300" name="adj"/>
            </a:avLst>
          </a:prstGeom>
          <a:solidFill>
            <a:srgbClr val="FFF7ED"/>
          </a:solidFill>
          <a:ln cap="flat" cmpd="sng" w="12700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3" name="Google Shape;1083;p25"/>
          <p:cNvSpPr/>
          <p:nvPr/>
        </p:nvSpPr>
        <p:spPr>
          <a:xfrm>
            <a:off x="9776765" y="2848356"/>
            <a:ext cx="1705356" cy="30541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500" lIns="114300" spcFirstLastPara="1" rIns="114300" wrap="square" tIns="63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C2410C"/>
                </a:solidFill>
                <a:latin typeface="Open Sans"/>
                <a:ea typeface="Open Sans"/>
                <a:cs typeface="Open Sans"/>
                <a:sym typeface="Open Sans"/>
              </a:rPr>
              <a:t>Immediate Next Step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25"/>
          <p:cNvSpPr/>
          <p:nvPr/>
        </p:nvSpPr>
        <p:spPr>
          <a:xfrm>
            <a:off x="4381805" y="3943807"/>
            <a:ext cx="514807" cy="514807"/>
          </a:xfrm>
          <a:prstGeom prst="ellipse">
            <a:avLst/>
          </a:prstGeom>
          <a:solidFill>
            <a:srgbClr val="FFFFFF"/>
          </a:solidFill>
          <a:ln cap="flat" cmpd="sng" w="508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25"/>
          <p:cNvSpPr/>
          <p:nvPr/>
        </p:nvSpPr>
        <p:spPr>
          <a:xfrm>
            <a:off x="4381805" y="3943807"/>
            <a:ext cx="514807" cy="514807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25"/>
          <p:cNvSpPr/>
          <p:nvPr/>
        </p:nvSpPr>
        <p:spPr>
          <a:xfrm>
            <a:off x="5181905" y="3715207"/>
            <a:ext cx="6439205" cy="972007"/>
          </a:xfrm>
          <a:prstGeom prst="roundRect">
            <a:avLst>
              <a:gd fmla="val 22135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Google Shape;1087;p25"/>
          <p:cNvSpPr txBox="1"/>
          <p:nvPr/>
        </p:nvSpPr>
        <p:spPr>
          <a:xfrm>
            <a:off x="5419649" y="3952951"/>
            <a:ext cx="4010558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Build Custom Reactivation Plan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25"/>
          <p:cNvSpPr txBox="1"/>
          <p:nvPr/>
        </p:nvSpPr>
        <p:spPr>
          <a:xfrm>
            <a:off x="5439050" y="4195101"/>
            <a:ext cx="469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We design the messaging and select the 1000 priority targets for the mailing. And the email campaigns for  your complete email list  </a:t>
            </a:r>
            <a:endParaRPr b="0" i="0" sz="1000" u="none" cap="none" strike="noStrike">
              <a:solidFill>
                <a:srgbClr val="64748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25"/>
          <p:cNvSpPr/>
          <p:nvPr/>
        </p:nvSpPr>
        <p:spPr>
          <a:xfrm>
            <a:off x="10582351" y="4058107"/>
            <a:ext cx="800100" cy="286207"/>
          </a:xfrm>
          <a:prstGeom prst="roundRect">
            <a:avLst>
              <a:gd fmla="val 319489" name="adj"/>
            </a:avLst>
          </a:prstGeom>
          <a:solidFill>
            <a:srgbClr val="F1F5F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p25"/>
          <p:cNvSpPr/>
          <p:nvPr/>
        </p:nvSpPr>
        <p:spPr>
          <a:xfrm>
            <a:off x="10582351" y="4058107"/>
            <a:ext cx="800100" cy="286207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500" lIns="114300" spcFirstLastPara="1" rIns="114300" wrap="square" tIns="63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2-3 Days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25"/>
          <p:cNvSpPr/>
          <p:nvPr/>
        </p:nvSpPr>
        <p:spPr>
          <a:xfrm>
            <a:off x="4381805" y="5143500"/>
            <a:ext cx="514807" cy="514807"/>
          </a:xfrm>
          <a:prstGeom prst="ellipse">
            <a:avLst/>
          </a:prstGeom>
          <a:solidFill>
            <a:srgbClr val="FFFFFF"/>
          </a:solidFill>
          <a:ln cap="flat" cmpd="sng" w="508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25"/>
          <p:cNvSpPr/>
          <p:nvPr/>
        </p:nvSpPr>
        <p:spPr>
          <a:xfrm>
            <a:off x="4381805" y="5143500"/>
            <a:ext cx="514807" cy="514807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3" name="Google Shape;1093;p25"/>
          <p:cNvSpPr/>
          <p:nvPr/>
        </p:nvSpPr>
        <p:spPr>
          <a:xfrm>
            <a:off x="5191055" y="4915350"/>
            <a:ext cx="6439200" cy="972000"/>
          </a:xfrm>
          <a:prstGeom prst="roundRect">
            <a:avLst>
              <a:gd fmla="val 22135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25"/>
          <p:cNvSpPr txBox="1"/>
          <p:nvPr/>
        </p:nvSpPr>
        <p:spPr>
          <a:xfrm>
            <a:off x="5419649" y="5152644"/>
            <a:ext cx="3277210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Launch Pilot Program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25"/>
          <p:cNvSpPr txBox="1"/>
          <p:nvPr/>
        </p:nvSpPr>
        <p:spPr>
          <a:xfrm>
            <a:off x="5419650" y="5448000"/>
            <a:ext cx="457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First emails and postcards deploy. Tracking goes live.whith tracking phone numbers 1. for mailings an  1. for emails that ring to your main number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25"/>
          <p:cNvSpPr/>
          <p:nvPr/>
        </p:nvSpPr>
        <p:spPr>
          <a:xfrm>
            <a:off x="10053828" y="5257800"/>
            <a:ext cx="1333195" cy="286207"/>
          </a:xfrm>
          <a:prstGeom prst="roundRect">
            <a:avLst>
              <a:gd fmla="val 319489" name="adj"/>
            </a:avLst>
          </a:prstGeom>
          <a:solidFill>
            <a:srgbClr val="F1F5F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p25"/>
          <p:cNvSpPr/>
          <p:nvPr/>
        </p:nvSpPr>
        <p:spPr>
          <a:xfrm>
            <a:off x="10053828" y="5257800"/>
            <a:ext cx="1334110" cy="286207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500" lIns="114300" spcFirstLastPara="1" rIns="114300" wrap="square" tIns="63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7-10 Days Total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25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99" name="Google Shape;1099;p25"/>
          <p:cNvPicPr preferRelativeResize="0"/>
          <p:nvPr/>
        </p:nvPicPr>
        <p:blipFill rotWithShape="1">
          <a:blip r:embed="rId8">
            <a:alphaModFix amt="5000"/>
          </a:blip>
          <a:srcRect b="-44745" l="0" r="0" t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p25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F97316"/>
                </a:solidFill>
                <a:latin typeface="Montserrat"/>
                <a:ea typeface="Montserrat"/>
                <a:cs typeface="Montserrat"/>
                <a:sym typeface="Montserrat"/>
              </a:rPr>
              <a:t>Next Steps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25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2" name="Google Shape;1102;p25"/>
          <p:cNvSpPr txBox="1"/>
          <p:nvPr/>
        </p:nvSpPr>
        <p:spPr>
          <a:xfrm>
            <a:off x="381305" y="909828"/>
            <a:ext cx="2857500" cy="1448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Your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Path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Forward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25"/>
          <p:cNvSpPr/>
          <p:nvPr/>
        </p:nvSpPr>
        <p:spPr>
          <a:xfrm>
            <a:off x="381305" y="2635301"/>
            <a:ext cx="9144" cy="1371600"/>
          </a:xfrm>
          <a:prstGeom prst="rect">
            <a:avLst/>
          </a:prstGeom>
          <a:solidFill>
            <a:srgbClr val="FFFFFF">
              <a:alpha val="2000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4" name="Google Shape;1104;p25"/>
          <p:cNvSpPr txBox="1"/>
          <p:nvPr/>
        </p:nvSpPr>
        <p:spPr>
          <a:xfrm>
            <a:off x="580644" y="2635301"/>
            <a:ext cx="2658161" cy="495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There is a clear process to turning this data into revenue.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25"/>
          <p:cNvSpPr txBox="1"/>
          <p:nvPr/>
        </p:nvSpPr>
        <p:spPr>
          <a:xfrm>
            <a:off x="580644" y="3275381"/>
            <a:ext cx="2658161" cy="734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We operate with full transparency—no hidden steps, no complex contracts.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06" name="Google Shape;1106;p25"/>
          <p:cNvPicPr preferRelativeResize="0"/>
          <p:nvPr/>
        </p:nvPicPr>
        <p:blipFill rotWithShape="1">
          <a:blip r:embed="rId9">
            <a:alphaModFix amt="80000"/>
          </a:blip>
          <a:srcRect b="0" l="-57" r="-57" t="0"/>
          <a:stretch/>
        </p:blipFill>
        <p:spPr>
          <a:xfrm>
            <a:off x="381305" y="4006901"/>
            <a:ext cx="400507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2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3" name="Google Shape;1113;p2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4" name="Google Shape;1114;p26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5" name="Google Shape;1115;p26"/>
          <p:cNvSpPr txBox="1"/>
          <p:nvPr/>
        </p:nvSpPr>
        <p:spPr>
          <a:xfrm>
            <a:off x="10673791" y="381305"/>
            <a:ext cx="1272845" cy="28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5000"/>
              <a:buFont typeface="Montserrat"/>
              <a:buNone/>
            </a:pPr>
            <a:r>
              <a:rPr b="1" i="0" lang="en-US" sz="15000" u="none" cap="none" strike="noStrike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rPr>
              <a:t>?</a:t>
            </a:r>
            <a:endParaRPr b="0" i="0" sz="1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p26"/>
          <p:cNvSpPr txBox="1"/>
          <p:nvPr/>
        </p:nvSpPr>
        <p:spPr>
          <a:xfrm>
            <a:off x="11673230" y="6400800"/>
            <a:ext cx="143561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Montserrat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7" name="Google Shape;1117;p26"/>
          <p:cNvSpPr txBox="1"/>
          <p:nvPr/>
        </p:nvSpPr>
        <p:spPr>
          <a:xfrm>
            <a:off x="4190695" y="476402"/>
            <a:ext cx="7429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Frequently Asked Questions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p26"/>
          <p:cNvSpPr/>
          <p:nvPr/>
        </p:nvSpPr>
        <p:spPr>
          <a:xfrm>
            <a:off x="4190695" y="1218895"/>
            <a:ext cx="7334402" cy="1181405"/>
          </a:xfrm>
          <a:prstGeom prst="roundRect">
            <a:avLst>
              <a:gd fmla="val 1498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9" name="Google Shape;1119;p26"/>
          <p:cNvSpPr/>
          <p:nvPr/>
        </p:nvSpPr>
        <p:spPr>
          <a:xfrm>
            <a:off x="4429354" y="1476756"/>
            <a:ext cx="381305" cy="381305"/>
          </a:xfrm>
          <a:prstGeom prst="ellipse">
            <a:avLst/>
          </a:prstGeom>
          <a:solidFill>
            <a:srgbClr val="FFF7ED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20" name="Google Shape;1120;p26"/>
          <p:cNvPicPr preferRelativeResize="0"/>
          <p:nvPr/>
        </p:nvPicPr>
        <p:blipFill rotWithShape="1">
          <a:blip r:embed="rId3">
            <a:alphaModFix/>
          </a:blip>
          <a:srcRect b="0" l="-760" r="-760" t="0"/>
          <a:stretch/>
        </p:blipFill>
        <p:spPr>
          <a:xfrm>
            <a:off x="4543654" y="1580998"/>
            <a:ext cx="152705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1121" name="Google Shape;1121;p26"/>
          <p:cNvSpPr txBox="1"/>
          <p:nvPr/>
        </p:nvSpPr>
        <p:spPr>
          <a:xfrm>
            <a:off x="5000854" y="1457554"/>
            <a:ext cx="6286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"What if our database is messy?"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26"/>
          <p:cNvSpPr txBox="1"/>
          <p:nvPr/>
        </p:nvSpPr>
        <p:spPr>
          <a:xfrm>
            <a:off x="5000854" y="1762049"/>
            <a:ext cx="6286500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Don't worry, everyone's is. We clean, deduplicate, and segment your list as part of the initial setup. We can work with exports from any CRM or even basic spreadsheets.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p26"/>
          <p:cNvSpPr/>
          <p:nvPr/>
        </p:nvSpPr>
        <p:spPr>
          <a:xfrm>
            <a:off x="4190695" y="2590495"/>
            <a:ext cx="7334402" cy="1181405"/>
          </a:xfrm>
          <a:prstGeom prst="roundRect">
            <a:avLst>
              <a:gd fmla="val 1498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4" name="Google Shape;1124;p26"/>
          <p:cNvSpPr/>
          <p:nvPr/>
        </p:nvSpPr>
        <p:spPr>
          <a:xfrm>
            <a:off x="4429354" y="2848356"/>
            <a:ext cx="381305" cy="381305"/>
          </a:xfrm>
          <a:prstGeom prst="ellipse">
            <a:avLst/>
          </a:prstGeom>
          <a:solidFill>
            <a:srgbClr val="FFF7ED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25" name="Google Shape;1125;p26"/>
          <p:cNvPicPr preferRelativeResize="0"/>
          <p:nvPr/>
        </p:nvPicPr>
        <p:blipFill rotWithShape="1">
          <a:blip r:embed="rId4">
            <a:alphaModFix/>
          </a:blip>
          <a:srcRect b="0" l="-1773" r="-1773" t="0"/>
          <a:stretch/>
        </p:blipFill>
        <p:spPr>
          <a:xfrm>
            <a:off x="4552798" y="2952598"/>
            <a:ext cx="133502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1126" name="Google Shape;1126;p26"/>
          <p:cNvSpPr txBox="1"/>
          <p:nvPr/>
        </p:nvSpPr>
        <p:spPr>
          <a:xfrm>
            <a:off x="5000854" y="2829154"/>
            <a:ext cx="6286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"Will this work with our existing tools?"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26"/>
          <p:cNvSpPr txBox="1"/>
          <p:nvPr/>
        </p:nvSpPr>
        <p:spPr>
          <a:xfrm>
            <a:off x="5000854" y="3133649"/>
            <a:ext cx="6286500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Yes. We integrate seamlessly with ServiceTitan, Housecall Pro, Jobber, and most other industry platforms. We pull data to trigger campaigns and push notes back so your records stay updated.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p26"/>
          <p:cNvSpPr/>
          <p:nvPr/>
        </p:nvSpPr>
        <p:spPr>
          <a:xfrm>
            <a:off x="4190695" y="3962095"/>
            <a:ext cx="7334402" cy="1181405"/>
          </a:xfrm>
          <a:prstGeom prst="roundRect">
            <a:avLst>
              <a:gd fmla="val 1498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p26"/>
          <p:cNvSpPr/>
          <p:nvPr/>
        </p:nvSpPr>
        <p:spPr>
          <a:xfrm>
            <a:off x="4429354" y="4219956"/>
            <a:ext cx="381305" cy="381305"/>
          </a:xfrm>
          <a:prstGeom prst="ellipse">
            <a:avLst/>
          </a:prstGeom>
          <a:solidFill>
            <a:srgbClr val="FFF7ED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30" name="Google Shape;1130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33595" y="4324198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1131" name="Google Shape;1131;p26"/>
          <p:cNvSpPr txBox="1"/>
          <p:nvPr/>
        </p:nvSpPr>
        <p:spPr>
          <a:xfrm>
            <a:off x="5000854" y="4200754"/>
            <a:ext cx="6286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"What's your typical response rate?"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26"/>
          <p:cNvSpPr txBox="1"/>
          <p:nvPr/>
        </p:nvSpPr>
        <p:spPr>
          <a:xfrm>
            <a:off x="5000854" y="4505249"/>
            <a:ext cx="6286500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For HVAC dormant lists, we typically see 8–15% email open rates leading to a 2–4% conversion rate into qualified inquiries. Consistency over time is what drives these numbers.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26"/>
          <p:cNvSpPr/>
          <p:nvPr/>
        </p:nvSpPr>
        <p:spPr>
          <a:xfrm>
            <a:off x="4190695" y="5333695"/>
            <a:ext cx="7334402" cy="1181405"/>
          </a:xfrm>
          <a:prstGeom prst="roundRect">
            <a:avLst>
              <a:gd fmla="val 1498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26"/>
          <p:cNvSpPr/>
          <p:nvPr/>
        </p:nvSpPr>
        <p:spPr>
          <a:xfrm>
            <a:off x="4429354" y="5591556"/>
            <a:ext cx="381305" cy="381305"/>
          </a:xfrm>
          <a:prstGeom prst="ellipse">
            <a:avLst/>
          </a:prstGeom>
          <a:solidFill>
            <a:srgbClr val="FFF7ED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35" name="Google Shape;1135;p26"/>
          <p:cNvPicPr preferRelativeResize="0"/>
          <p:nvPr/>
        </p:nvPicPr>
        <p:blipFill rotWithShape="1">
          <a:blip r:embed="rId6">
            <a:alphaModFix/>
          </a:blip>
          <a:srcRect b="0" l="-760" r="-760" t="0"/>
          <a:stretch/>
        </p:blipFill>
        <p:spPr>
          <a:xfrm>
            <a:off x="4543654" y="5695798"/>
            <a:ext cx="152705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1136" name="Google Shape;1136;p26"/>
          <p:cNvSpPr txBox="1"/>
          <p:nvPr/>
        </p:nvSpPr>
        <p:spPr>
          <a:xfrm>
            <a:off x="5000854" y="5572354"/>
            <a:ext cx="6286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"Can we start smaller?"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p26"/>
          <p:cNvSpPr txBox="1"/>
          <p:nvPr/>
        </p:nvSpPr>
        <p:spPr>
          <a:xfrm>
            <a:off x="5000854" y="5876849"/>
            <a:ext cx="6286500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This </a:t>
            </a:r>
            <a:r>
              <a:rPr b="1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IS</a:t>
            </a: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the small pilot. We designed this 90-day program specifically to prove the concept and ROI before you commit to a long-term retention strategy.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p26"/>
          <p:cNvSpPr/>
          <p:nvPr/>
        </p:nvSpPr>
        <p:spPr>
          <a:xfrm>
            <a:off x="4190695" y="6705295"/>
            <a:ext cx="7334402" cy="1181405"/>
          </a:xfrm>
          <a:prstGeom prst="roundRect">
            <a:avLst>
              <a:gd fmla="val 1498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p26"/>
          <p:cNvSpPr/>
          <p:nvPr/>
        </p:nvSpPr>
        <p:spPr>
          <a:xfrm>
            <a:off x="4429354" y="6963156"/>
            <a:ext cx="381305" cy="381305"/>
          </a:xfrm>
          <a:prstGeom prst="ellipse">
            <a:avLst/>
          </a:prstGeom>
          <a:solidFill>
            <a:srgbClr val="FFF7ED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40" name="Google Shape;1140;p26"/>
          <p:cNvPicPr preferRelativeResize="0"/>
          <p:nvPr/>
        </p:nvPicPr>
        <p:blipFill rotWithShape="1">
          <a:blip r:embed="rId7">
            <a:alphaModFix/>
          </a:blip>
          <a:srcRect b="0" l="-1064" r="-1064" t="0"/>
          <a:stretch/>
        </p:blipFill>
        <p:spPr>
          <a:xfrm>
            <a:off x="4509821" y="7067398"/>
            <a:ext cx="219456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1141" name="Google Shape;1141;p26"/>
          <p:cNvSpPr txBox="1"/>
          <p:nvPr/>
        </p:nvSpPr>
        <p:spPr>
          <a:xfrm>
            <a:off x="5000854" y="6943954"/>
            <a:ext cx="6286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"How hands-on do we need to be?"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26"/>
          <p:cNvSpPr txBox="1"/>
          <p:nvPr/>
        </p:nvSpPr>
        <p:spPr>
          <a:xfrm>
            <a:off x="5000854" y="7248449"/>
            <a:ext cx="6286500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Minimal. We need your pricing, availability, and an onboarding call. After that, we handle the outreach. You just need someone ready to answer the phone and book the jobs.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26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44" name="Google Shape;1144;p26"/>
          <p:cNvPicPr preferRelativeResize="0"/>
          <p:nvPr/>
        </p:nvPicPr>
        <p:blipFill rotWithShape="1">
          <a:blip r:embed="rId8">
            <a:alphaModFix amt="5000"/>
          </a:blip>
          <a:srcRect b="-44745" l="0" r="0" t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5" name="Google Shape;1145;p26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F97316"/>
                </a:solidFill>
                <a:latin typeface="Montserrat"/>
                <a:ea typeface="Montserrat"/>
                <a:cs typeface="Montserrat"/>
                <a:sym typeface="Montserrat"/>
              </a:rPr>
              <a:t>Common Questions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6" name="Google Shape;1146;p26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p26"/>
          <p:cNvSpPr txBox="1"/>
          <p:nvPr/>
        </p:nvSpPr>
        <p:spPr>
          <a:xfrm>
            <a:off x="381305" y="909828"/>
            <a:ext cx="2857500" cy="1448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What You're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Probably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Wondering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p26"/>
          <p:cNvSpPr/>
          <p:nvPr/>
        </p:nvSpPr>
        <p:spPr>
          <a:xfrm>
            <a:off x="381305" y="2635301"/>
            <a:ext cx="9144" cy="1371600"/>
          </a:xfrm>
          <a:prstGeom prst="rect">
            <a:avLst/>
          </a:prstGeom>
          <a:solidFill>
            <a:srgbClr val="FFFFFF">
              <a:alpha val="2000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9" name="Google Shape;1149;p26"/>
          <p:cNvSpPr txBox="1"/>
          <p:nvPr/>
        </p:nvSpPr>
        <p:spPr>
          <a:xfrm>
            <a:off x="580644" y="2635301"/>
            <a:ext cx="2658161" cy="495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We've implemented this system for dozens of HVAC companies.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0" name="Google Shape;1150;p26"/>
          <p:cNvSpPr txBox="1"/>
          <p:nvPr/>
        </p:nvSpPr>
        <p:spPr>
          <a:xfrm>
            <a:off x="580644" y="3275381"/>
            <a:ext cx="2658161" cy="734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Here are the answers to the most common concerns we hear from owners like you.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51" name="Google Shape;1151;p26"/>
          <p:cNvPicPr preferRelativeResize="0"/>
          <p:nvPr/>
        </p:nvPicPr>
        <p:blipFill rotWithShape="1">
          <a:blip r:embed="rId9">
            <a:alphaModFix amt="80000"/>
          </a:blip>
          <a:srcRect b="0" l="0" r="0" t="0"/>
          <a:stretch/>
        </p:blipFill>
        <p:spPr>
          <a:xfrm>
            <a:off x="381305" y="4006901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27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p27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9" name="Google Shape;1159;p27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0" name="Google Shape;1160;p27"/>
          <p:cNvSpPr txBox="1"/>
          <p:nvPr/>
        </p:nvSpPr>
        <p:spPr>
          <a:xfrm>
            <a:off x="3810000" y="280000"/>
            <a:ext cx="8000000" cy="5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700"/>
              <a:buFont typeface="Montserrat"/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 Let's Talk About Your </a:t>
            </a:r>
            <a:r>
              <a:rPr b="1" i="0" lang="en-US" sz="2700" u="none" cap="none" strike="noStrike">
                <a:solidFill>
                  <a:srgbClr val="10B981"/>
                </a:solidFill>
                <a:latin typeface="Montserrat"/>
                <a:ea typeface="Montserrat"/>
                <a:cs typeface="Montserrat"/>
                <a:sym typeface="Montserrat"/>
              </a:rPr>
              <a:t>$392,740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27"/>
          <p:cNvSpPr/>
          <p:nvPr/>
        </p:nvSpPr>
        <p:spPr>
          <a:xfrm>
            <a:off x="0" y="0"/>
            <a:ext cx="3619200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2" name="Google Shape;1162;p27"/>
          <p:cNvSpPr txBox="1"/>
          <p:nvPr/>
        </p:nvSpPr>
        <p:spPr>
          <a:xfrm>
            <a:off x="381305" y="571500"/>
            <a:ext cx="28575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F97316"/>
                </a:solidFill>
                <a:latin typeface="Montserrat"/>
                <a:ea typeface="Montserrat"/>
                <a:cs typeface="Montserrat"/>
                <a:sym typeface="Montserrat"/>
              </a:rPr>
              <a:t>Action Plan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3" name="Google Shape;1163;p27"/>
          <p:cNvSpPr/>
          <p:nvPr/>
        </p:nvSpPr>
        <p:spPr>
          <a:xfrm>
            <a:off x="381305" y="571500"/>
            <a:ext cx="190200" cy="1920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27"/>
          <p:cNvSpPr txBox="1"/>
          <p:nvPr/>
        </p:nvSpPr>
        <p:spPr>
          <a:xfrm>
            <a:off x="381305" y="909828"/>
            <a:ext cx="2857500" cy="14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Your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Next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Move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5" name="Google Shape;1165;p27"/>
          <p:cNvSpPr/>
          <p:nvPr/>
        </p:nvSpPr>
        <p:spPr>
          <a:xfrm>
            <a:off x="381305" y="2635301"/>
            <a:ext cx="9000" cy="1134000"/>
          </a:xfrm>
          <a:prstGeom prst="rect">
            <a:avLst/>
          </a:prstGeom>
          <a:solidFill>
            <a:srgbClr val="FFFFFF">
              <a:alpha val="2000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p27"/>
          <p:cNvSpPr txBox="1"/>
          <p:nvPr/>
        </p:nvSpPr>
        <p:spPr>
          <a:xfrm>
            <a:off x="580644" y="2635301"/>
            <a:ext cx="30330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Stop leaving money on the table.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p27"/>
          <p:cNvSpPr txBox="1"/>
          <p:nvPr/>
        </p:nvSpPr>
        <p:spPr>
          <a:xfrm>
            <a:off x="580644" y="3032150"/>
            <a:ext cx="26583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We can have your reactivation pilot launched and generating leads in less than 3 weeks.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p27"/>
          <p:cNvSpPr/>
          <p:nvPr/>
        </p:nvSpPr>
        <p:spPr>
          <a:xfrm>
            <a:off x="3810000" y="950000"/>
            <a:ext cx="8281700" cy="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You've just seen what's likely sitting in your database. If the numbers we walked through resonate with you — and you're ready to find out how much of that revenue is actually recoverable — I'd love to connect.</a:t>
            </a:r>
            <a:endParaRPr/>
          </a:p>
        </p:txBody>
      </p:sp>
      <p:sp>
        <p:nvSpPr>
          <p:cNvPr id="1169" name="Google Shape;1169;p27"/>
          <p:cNvSpPr/>
          <p:nvPr/>
        </p:nvSpPr>
        <p:spPr>
          <a:xfrm>
            <a:off x="3810000" y="1900000"/>
            <a:ext cx="9144" cy="350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0" name="Google Shape;1170;p27"/>
          <p:cNvSpPr/>
          <p:nvPr/>
        </p:nvSpPr>
        <p:spPr>
          <a:xfrm>
            <a:off x="3940000" y="1880000"/>
            <a:ext cx="8151700" cy="3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A2540"/>
                </a:solidFill>
                <a:latin typeface="Arial"/>
                <a:ea typeface="Arial"/>
                <a:cs typeface="Arial"/>
                <a:sym typeface="Arial"/>
              </a:rPr>
              <a:t>No pressure. No pitch. Just next steps — on your terms.</a:t>
            </a:r>
            <a:endParaRPr/>
          </a:p>
        </p:txBody>
      </p:sp>
      <p:sp>
        <p:nvSpPr>
          <p:cNvPr id="1171" name="Google Shape;1171;p27"/>
          <p:cNvSpPr/>
          <p:nvPr/>
        </p:nvSpPr>
        <p:spPr>
          <a:xfrm>
            <a:off x="3810000" y="2420000"/>
            <a:ext cx="2684566" cy="2980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p27"/>
          <p:cNvSpPr/>
          <p:nvPr/>
        </p:nvSpPr>
        <p:spPr>
          <a:xfrm>
            <a:off x="5052283" y="2600000"/>
            <a:ext cx="200000" cy="200000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3" name="Google Shape;1173;p27"/>
          <p:cNvSpPr/>
          <p:nvPr/>
        </p:nvSpPr>
        <p:spPr>
          <a:xfrm>
            <a:off x="3960000" y="2900000"/>
            <a:ext cx="2384566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A2540"/>
                </a:solidFill>
                <a:latin typeface="Arial"/>
                <a:ea typeface="Arial"/>
                <a:cs typeface="Arial"/>
                <a:sym typeface="Arial"/>
              </a:rPr>
              <a:t>Email Me</a:t>
            </a:r>
            <a:endParaRPr/>
          </a:p>
        </p:txBody>
      </p:sp>
      <p:sp>
        <p:nvSpPr>
          <p:cNvPr id="1174" name="Google Shape;1174;p27"/>
          <p:cNvSpPr/>
          <p:nvPr/>
        </p:nvSpPr>
        <p:spPr>
          <a:xfrm>
            <a:off x="3960000" y="3370000"/>
            <a:ext cx="2384566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Send your questions at your own pace</a:t>
            </a:r>
            <a:endParaRPr/>
          </a:p>
        </p:txBody>
      </p:sp>
      <p:sp>
        <p:nvSpPr>
          <p:cNvPr id="1175" name="Google Shape;1175;p27"/>
          <p:cNvSpPr/>
          <p:nvPr/>
        </p:nvSpPr>
        <p:spPr>
          <a:xfrm>
            <a:off x="3960000" y="4120000"/>
            <a:ext cx="2384566" cy="3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AAA6E"/>
                </a:solidFill>
                <a:latin typeface="Arial"/>
                <a:ea typeface="Arial"/>
                <a:cs typeface="Arial"/>
                <a:sym typeface="Arial"/>
              </a:rPr>
              <a:t>dave@profitablebusinesssolutions.com</a:t>
            </a:r>
            <a:endParaRPr/>
          </a:p>
        </p:txBody>
      </p:sp>
      <p:sp>
        <p:nvSpPr>
          <p:cNvPr id="1176" name="Google Shape;1176;p27"/>
          <p:cNvSpPr/>
          <p:nvPr/>
        </p:nvSpPr>
        <p:spPr>
          <a:xfrm>
            <a:off x="6608566" y="2420000"/>
            <a:ext cx="2684566" cy="2980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27"/>
          <p:cNvSpPr/>
          <p:nvPr/>
        </p:nvSpPr>
        <p:spPr>
          <a:xfrm>
            <a:off x="7850849" y="2600000"/>
            <a:ext cx="200000" cy="200000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8" name="Google Shape;1178;p27"/>
          <p:cNvSpPr/>
          <p:nvPr/>
        </p:nvSpPr>
        <p:spPr>
          <a:xfrm>
            <a:off x="6758566" y="2900000"/>
            <a:ext cx="2384566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A2540"/>
                </a:solidFill>
                <a:latin typeface="Arial"/>
                <a:ea typeface="Arial"/>
                <a:cs typeface="Arial"/>
                <a:sym typeface="Arial"/>
              </a:rPr>
              <a:t>Text Me</a:t>
            </a:r>
            <a:endParaRPr/>
          </a:p>
        </p:txBody>
      </p:sp>
      <p:sp>
        <p:nvSpPr>
          <p:cNvPr id="1179" name="Google Shape;1179;p27"/>
          <p:cNvSpPr/>
          <p:nvPr/>
        </p:nvSpPr>
        <p:spPr>
          <a:xfrm>
            <a:off x="6758566" y="3370000"/>
            <a:ext cx="2384566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We'll go back and forth at your pace</a:t>
            </a:r>
            <a:endParaRPr/>
          </a:p>
        </p:txBody>
      </p:sp>
      <p:sp>
        <p:nvSpPr>
          <p:cNvPr id="1180" name="Google Shape;1180;p27"/>
          <p:cNvSpPr/>
          <p:nvPr/>
        </p:nvSpPr>
        <p:spPr>
          <a:xfrm>
            <a:off x="6758566" y="4120000"/>
            <a:ext cx="2384566" cy="3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AAA6E"/>
                </a:solidFill>
                <a:latin typeface="Arial"/>
                <a:ea typeface="Arial"/>
                <a:cs typeface="Arial"/>
                <a:sym typeface="Arial"/>
              </a:rPr>
              <a:t>727-599-9252</a:t>
            </a:r>
            <a:endParaRPr/>
          </a:p>
        </p:txBody>
      </p:sp>
      <p:sp>
        <p:nvSpPr>
          <p:cNvPr id="1181" name="Google Shape;1181;p27"/>
          <p:cNvSpPr/>
          <p:nvPr/>
        </p:nvSpPr>
        <p:spPr>
          <a:xfrm>
            <a:off x="9407132" y="2420000"/>
            <a:ext cx="2684566" cy="2980000"/>
          </a:xfrm>
          <a:prstGeom prst="rect">
            <a:avLst/>
          </a:prstGeom>
          <a:solidFill>
            <a:srgbClr val="FFF8F4"/>
          </a:solidFill>
          <a:ln cap="flat" cmpd="sng" w="19050">
            <a:solidFill>
              <a:srgbClr val="E07B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2" name="Google Shape;1182;p27"/>
          <p:cNvSpPr/>
          <p:nvPr/>
        </p:nvSpPr>
        <p:spPr>
          <a:xfrm>
            <a:off x="10649415" y="2600000"/>
            <a:ext cx="200000" cy="200000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3" name="Google Shape;1183;p27"/>
          <p:cNvSpPr/>
          <p:nvPr/>
        </p:nvSpPr>
        <p:spPr>
          <a:xfrm>
            <a:off x="9557132" y="2900000"/>
            <a:ext cx="2384566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A2540"/>
                </a:solidFill>
                <a:latin typeface="Arial"/>
                <a:ea typeface="Arial"/>
                <a:cs typeface="Arial"/>
                <a:sym typeface="Arial"/>
              </a:rPr>
              <a:t>Strategy Call</a:t>
            </a:r>
            <a:endParaRPr/>
          </a:p>
        </p:txBody>
      </p:sp>
      <p:sp>
        <p:nvSpPr>
          <p:cNvPr id="1184" name="Google Shape;1184;p27"/>
          <p:cNvSpPr/>
          <p:nvPr/>
        </p:nvSpPr>
        <p:spPr>
          <a:xfrm>
            <a:off x="9557132" y="3370000"/>
            <a:ext cx="2384566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If you'd rather just talk it through</a:t>
            </a:r>
            <a:endParaRPr/>
          </a:p>
        </p:txBody>
      </p:sp>
      <p:sp>
        <p:nvSpPr>
          <p:cNvPr id="1185" name="Google Shape;1185;p27"/>
          <p:cNvSpPr/>
          <p:nvPr/>
        </p:nvSpPr>
        <p:spPr>
          <a:xfrm>
            <a:off x="9557132" y="4170000"/>
            <a:ext cx="2384566" cy="380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6" name="Google Shape;1186;p27"/>
          <p:cNvSpPr/>
          <p:nvPr/>
        </p:nvSpPr>
        <p:spPr>
          <a:xfrm>
            <a:off x="9557132" y="4170000"/>
            <a:ext cx="2384566" cy="3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Schedule a Call  →</a:t>
            </a:r>
            <a:endParaRPr/>
          </a:p>
        </p:txBody>
      </p:sp>
      <p:sp>
        <p:nvSpPr>
          <p:cNvPr id="1187" name="Google Shape;1187;p27"/>
          <p:cNvSpPr/>
          <p:nvPr/>
        </p:nvSpPr>
        <p:spPr>
          <a:xfrm>
            <a:off x="3810000" y="5870000"/>
            <a:ext cx="8281700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8" name="Google Shape;1188;p27"/>
          <p:cNvSpPr/>
          <p:nvPr/>
        </p:nvSpPr>
        <p:spPr>
          <a:xfrm>
            <a:off x="3810000" y="5900000"/>
            <a:ext cx="82817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No obligation. Just clarity.  |  This report was prepared exclusively for Profitable Business Solutions based on analysis completed [DATE].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