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12192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gV9wT1BEuFUh5ZQmnJS41faFd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2F6066-B1D2-4EBC-B10D-6545B9B429E1}">
  <a:tblStyle styleId="{162F6066-B1D2-4EBC-B10D-6545B9B429E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3" name="Google Shape;79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8" name="Google Shape;8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7" name="Google Shape;9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9" name="Google Shape;105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0" name="Google Shape;106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5" name="Google Shape;1155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10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50.png"/><Relationship Id="rId7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37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37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1.png"/><Relationship Id="rId13" Type="http://schemas.openxmlformats.org/officeDocument/2006/relationships/image" Target="../media/image36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Relationship Id="rId8" Type="http://schemas.openxmlformats.org/officeDocument/2006/relationships/image" Target="../media/image7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9" Type="http://schemas.openxmlformats.org/officeDocument/2006/relationships/image" Target="../media/image37.png"/><Relationship Id="rId5" Type="http://schemas.openxmlformats.org/officeDocument/2006/relationships/image" Target="../media/image54.png"/><Relationship Id="rId6" Type="http://schemas.openxmlformats.org/officeDocument/2006/relationships/image" Target="../media/image42.png"/><Relationship Id="rId7" Type="http://schemas.openxmlformats.org/officeDocument/2006/relationships/image" Target="../media/image72.png"/><Relationship Id="rId8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8.png"/><Relationship Id="rId4" Type="http://schemas.openxmlformats.org/officeDocument/2006/relationships/image" Target="../media/image45.png"/><Relationship Id="rId5" Type="http://schemas.openxmlformats.org/officeDocument/2006/relationships/image" Target="../media/image37.png"/><Relationship Id="rId6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9.png"/><Relationship Id="rId5" Type="http://schemas.openxmlformats.org/officeDocument/2006/relationships/image" Target="../media/image55.png"/><Relationship Id="rId6" Type="http://schemas.openxmlformats.org/officeDocument/2006/relationships/image" Target="../media/image53.png"/><Relationship Id="rId7" Type="http://schemas.openxmlformats.org/officeDocument/2006/relationships/image" Target="../media/image62.png"/><Relationship Id="rId8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97.png"/><Relationship Id="rId9" Type="http://schemas.openxmlformats.org/officeDocument/2006/relationships/image" Target="../media/image49.png"/><Relationship Id="rId5" Type="http://schemas.openxmlformats.org/officeDocument/2006/relationships/image" Target="../media/image64.png"/><Relationship Id="rId6" Type="http://schemas.openxmlformats.org/officeDocument/2006/relationships/image" Target="../media/image86.png"/><Relationship Id="rId7" Type="http://schemas.openxmlformats.org/officeDocument/2006/relationships/image" Target="../media/image54.png"/><Relationship Id="rId8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3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73.png"/><Relationship Id="rId7" Type="http://schemas.openxmlformats.org/officeDocument/2006/relationships/image" Target="../media/image68.png"/><Relationship Id="rId8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78.png"/><Relationship Id="rId13" Type="http://schemas.openxmlformats.org/officeDocument/2006/relationships/image" Target="../media/image83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6.png"/><Relationship Id="rId4" Type="http://schemas.openxmlformats.org/officeDocument/2006/relationships/image" Target="../media/image77.png"/><Relationship Id="rId9" Type="http://schemas.openxmlformats.org/officeDocument/2006/relationships/image" Target="../media/image76.png"/><Relationship Id="rId14" Type="http://schemas.openxmlformats.org/officeDocument/2006/relationships/image" Target="../media/image87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80.png"/><Relationship Id="rId8" Type="http://schemas.openxmlformats.org/officeDocument/2006/relationships/image" Target="../media/image71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0.png"/><Relationship Id="rId10" Type="http://schemas.openxmlformats.org/officeDocument/2006/relationships/image" Target="../media/image89.png"/><Relationship Id="rId13" Type="http://schemas.openxmlformats.org/officeDocument/2006/relationships/image" Target="../media/image92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1.png"/><Relationship Id="rId4" Type="http://schemas.openxmlformats.org/officeDocument/2006/relationships/image" Target="../media/image84.png"/><Relationship Id="rId9" Type="http://schemas.openxmlformats.org/officeDocument/2006/relationships/image" Target="../media/image90.png"/><Relationship Id="rId15" Type="http://schemas.openxmlformats.org/officeDocument/2006/relationships/image" Target="../media/image37.png"/><Relationship Id="rId14" Type="http://schemas.openxmlformats.org/officeDocument/2006/relationships/image" Target="../media/image98.png"/><Relationship Id="rId16" Type="http://schemas.openxmlformats.org/officeDocument/2006/relationships/image" Target="../media/image94.png"/><Relationship Id="rId5" Type="http://schemas.openxmlformats.org/officeDocument/2006/relationships/image" Target="../media/image85.png"/><Relationship Id="rId6" Type="http://schemas.openxmlformats.org/officeDocument/2006/relationships/image" Target="../media/image82.png"/><Relationship Id="rId7" Type="http://schemas.openxmlformats.org/officeDocument/2006/relationships/image" Target="../media/image88.png"/><Relationship Id="rId8" Type="http://schemas.openxmlformats.org/officeDocument/2006/relationships/image" Target="../media/image10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1.png"/><Relationship Id="rId4" Type="http://schemas.openxmlformats.org/officeDocument/2006/relationships/image" Target="../media/image93.png"/><Relationship Id="rId9" Type="http://schemas.openxmlformats.org/officeDocument/2006/relationships/image" Target="../media/image102.png"/><Relationship Id="rId5" Type="http://schemas.openxmlformats.org/officeDocument/2006/relationships/image" Target="../media/image113.png"/><Relationship Id="rId6" Type="http://schemas.openxmlformats.org/officeDocument/2006/relationships/image" Target="../media/image125.png"/><Relationship Id="rId7" Type="http://schemas.openxmlformats.org/officeDocument/2006/relationships/image" Target="../media/image95.png"/><Relationship Id="rId8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103.png"/><Relationship Id="rId1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1.png"/><Relationship Id="rId4" Type="http://schemas.openxmlformats.org/officeDocument/2006/relationships/image" Target="../media/image143.png"/><Relationship Id="rId9" Type="http://schemas.openxmlformats.org/officeDocument/2006/relationships/image" Target="../media/image104.png"/><Relationship Id="rId5" Type="http://schemas.openxmlformats.org/officeDocument/2006/relationships/hyperlink" Target="http://clutter.to" TargetMode="External"/><Relationship Id="rId6" Type="http://schemas.openxmlformats.org/officeDocument/2006/relationships/image" Target="../media/image99.png"/><Relationship Id="rId7" Type="http://schemas.openxmlformats.org/officeDocument/2006/relationships/image" Target="../media/image140.png"/><Relationship Id="rId8" Type="http://schemas.openxmlformats.org/officeDocument/2006/relationships/image" Target="../media/image122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8.png"/><Relationship Id="rId10" Type="http://schemas.openxmlformats.org/officeDocument/2006/relationships/image" Target="../media/image115.png"/><Relationship Id="rId13" Type="http://schemas.openxmlformats.org/officeDocument/2006/relationships/image" Target="../media/image37.png"/><Relationship Id="rId1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6.png"/><Relationship Id="rId4" Type="http://schemas.openxmlformats.org/officeDocument/2006/relationships/image" Target="../media/image108.png"/><Relationship Id="rId9" Type="http://schemas.openxmlformats.org/officeDocument/2006/relationships/image" Target="../media/image114.png"/><Relationship Id="rId14" Type="http://schemas.openxmlformats.org/officeDocument/2006/relationships/image" Target="../media/image116.png"/><Relationship Id="rId5" Type="http://schemas.openxmlformats.org/officeDocument/2006/relationships/image" Target="../media/image107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7.png"/><Relationship Id="rId4" Type="http://schemas.openxmlformats.org/officeDocument/2006/relationships/image" Target="../media/image142.png"/><Relationship Id="rId9" Type="http://schemas.openxmlformats.org/officeDocument/2006/relationships/image" Target="../media/image123.png"/><Relationship Id="rId5" Type="http://schemas.openxmlformats.org/officeDocument/2006/relationships/image" Target="../media/image137.png"/><Relationship Id="rId6" Type="http://schemas.openxmlformats.org/officeDocument/2006/relationships/image" Target="../media/image119.png"/><Relationship Id="rId7" Type="http://schemas.openxmlformats.org/officeDocument/2006/relationships/image" Target="../media/image124.png"/><Relationship Id="rId8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0.png"/><Relationship Id="rId4" Type="http://schemas.openxmlformats.org/officeDocument/2006/relationships/image" Target="../media/image127.png"/><Relationship Id="rId5" Type="http://schemas.openxmlformats.org/officeDocument/2006/relationships/image" Target="../media/image141.png"/><Relationship Id="rId6" Type="http://schemas.openxmlformats.org/officeDocument/2006/relationships/image" Target="../media/image37.png"/><Relationship Id="rId7" Type="http://schemas.openxmlformats.org/officeDocument/2006/relationships/image" Target="../media/image1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1.png"/><Relationship Id="rId4" Type="http://schemas.openxmlformats.org/officeDocument/2006/relationships/image" Target="../media/image128.png"/><Relationship Id="rId9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34.png"/><Relationship Id="rId7" Type="http://schemas.openxmlformats.org/officeDocument/2006/relationships/image" Target="../media/image129.png"/><Relationship Id="rId8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5.png"/><Relationship Id="rId4" Type="http://schemas.openxmlformats.org/officeDocument/2006/relationships/image" Target="../media/image132.png"/><Relationship Id="rId9" Type="http://schemas.openxmlformats.org/officeDocument/2006/relationships/image" Target="../media/image136.png"/><Relationship Id="rId5" Type="http://schemas.openxmlformats.org/officeDocument/2006/relationships/image" Target="../media/image144.png"/><Relationship Id="rId6" Type="http://schemas.openxmlformats.org/officeDocument/2006/relationships/image" Target="../media/image135.png"/><Relationship Id="rId7" Type="http://schemas.openxmlformats.org/officeDocument/2006/relationships/image" Target="../media/image130.png"/><Relationship Id="rId8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 amt="8000"/>
          </a:blip>
          <a:srcRect b="0" l="-38887" r="-38887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-200" r="-200" t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5">
            <a:alphaModFix/>
          </a:blip>
          <a:srcRect b="0" l="-28" r="-28" t="0"/>
          <a:stretch/>
        </p:blipFill>
        <p:spPr>
          <a:xfrm>
            <a:off x="761695" y="935431"/>
            <a:ext cx="6019495" cy="37124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/>
          <p:nvPr/>
        </p:nvSpPr>
        <p:spPr>
          <a:xfrm>
            <a:off x="1113739" y="935431"/>
            <a:ext cx="5668366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 Profitable Business Solutions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" name="Google Shape;22;p1"/>
          <p:cNvPicPr preferRelativeResize="0"/>
          <p:nvPr/>
        </p:nvPicPr>
        <p:blipFill rotWithShape="1">
          <a:blip r:embed="rId6">
            <a:alphaModFix/>
          </a:blip>
          <a:srcRect b="0" l="-7078" r="-7078" t="0"/>
          <a:stretch/>
        </p:blipFill>
        <p:spPr>
          <a:xfrm>
            <a:off x="923544" y="1054303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761695" y="1612087"/>
            <a:ext cx="6020410" cy="201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DORMANT CUSTOMER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REVENUE REPORT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61695" y="3852367"/>
            <a:ext cx="57607" cy="69494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047902" y="3852367"/>
            <a:ext cx="5734202" cy="695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A Complete Analysis of Your Customer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Asset Portfolio &amp; Reactivation Opportunity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61695" y="5079492"/>
            <a:ext cx="2152498" cy="847649"/>
          </a:xfrm>
          <a:prstGeom prst="roundRect">
            <a:avLst>
              <a:gd fmla="val 19393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000354" y="5279746"/>
            <a:ext cx="16770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Montserrat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PREPARED FOR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1000354" y="5493715"/>
            <a:ext cx="186263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Dave Negri &amp; 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17774" y="5079492"/>
            <a:ext cx="1904695" cy="847649"/>
          </a:xfrm>
          <a:prstGeom prst="roundRect">
            <a:avLst>
              <a:gd fmla="val 19393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3456432" y="5279746"/>
            <a:ext cx="1429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Montserrat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3456432" y="5493715"/>
            <a:ext cx="1569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April 22,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 rot="2340000">
            <a:off x="6483096" y="615391"/>
            <a:ext cx="5629046" cy="5629046"/>
          </a:xfrm>
          <a:prstGeom prst="ellipse">
            <a:avLst/>
          </a:prstGeom>
          <a:noFill/>
          <a:ln cap="flat" cmpd="sng" w="254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0696651" y="2029054"/>
            <a:ext cx="114300" cy="1143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696505" y="4552798"/>
            <a:ext cx="75895" cy="75895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" name="Google Shape;3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0" y="1904695"/>
            <a:ext cx="3047695" cy="3047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20302" y="2952598"/>
            <a:ext cx="952805" cy="952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1"/>
          <p:cNvPicPr preferRelativeResize="0"/>
          <p:nvPr/>
        </p:nvPicPr>
        <p:blipFill rotWithShape="1">
          <a:blip r:embed="rId9">
            <a:alphaModFix/>
          </a:blip>
          <a:srcRect b="-13" l="0" r="0" t="-13"/>
          <a:stretch/>
        </p:blipFill>
        <p:spPr>
          <a:xfrm>
            <a:off x="8641080" y="4114800"/>
            <a:ext cx="2655418" cy="93360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/>
          <p:nvPr/>
        </p:nvSpPr>
        <p:spPr>
          <a:xfrm>
            <a:off x="8869680" y="4352544"/>
            <a:ext cx="457200" cy="457200"/>
          </a:xfrm>
          <a:prstGeom prst="roundRect">
            <a:avLst>
              <a:gd fmla="val 66667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" name="Google Shape;39;p1"/>
          <p:cNvPicPr preferRelativeResize="0"/>
          <p:nvPr/>
        </p:nvPicPr>
        <p:blipFill rotWithShape="1">
          <a:blip r:embed="rId10">
            <a:alphaModFix/>
          </a:blip>
          <a:srcRect b="-45" l="0" r="0" t="-45"/>
          <a:stretch/>
        </p:blipFill>
        <p:spPr>
          <a:xfrm>
            <a:off x="8969350" y="4466844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 txBox="1"/>
          <p:nvPr/>
        </p:nvSpPr>
        <p:spPr>
          <a:xfrm>
            <a:off x="9479585" y="4304995"/>
            <a:ext cx="172273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Identified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9479585" y="4515307"/>
            <a:ext cx="15910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4762195" y="987552"/>
            <a:ext cx="6667805" cy="1286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After analyzing your customer database, we've identified </a:t>
            </a:r>
            <a:r>
              <a:rPr b="1" i="0" lang="en-US" sz="21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$392,740 in dormant annual revenue</a:t>
            </a: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sitting in customers you've already paid to acquire.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4762195" y="2431412"/>
            <a:ext cx="6667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report shows you exactly where that opportunity exists, which customers to target first, and the realistic path to </a:t>
            </a:r>
            <a:r>
              <a:rPr b="1" i="0" lang="en-US" sz="21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recovering 30-40% of this revenue</a:t>
            </a: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this year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62195" y="4774997"/>
            <a:ext cx="6667805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4762195" y="5165446"/>
            <a:ext cx="20391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Hidden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762195" y="5413248"/>
            <a:ext cx="24259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$392,740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/ year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7080199" y="5165446"/>
            <a:ext cx="20391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Dormant Assets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080199" y="5413248"/>
            <a:ext cx="24259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150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customers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9398203" y="5165446"/>
            <a:ext cx="20391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Time to Reactivate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9506103" y="5413248"/>
            <a:ext cx="203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90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days start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 amt="5000"/>
          </a:blip>
          <a:srcRect b="-35714" l="0" r="0" t="-35714"/>
          <a:stretch/>
        </p:blipFill>
        <p:spPr>
          <a:xfrm>
            <a:off x="0" y="0"/>
            <a:ext cx="4000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476402" y="571500"/>
            <a:ext cx="3048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6402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76402" y="2104949"/>
            <a:ext cx="3048610" cy="118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We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Found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4">
            <a:alphaModFix amt="90000"/>
          </a:blip>
          <a:srcRect b="0" l="0" r="0" t="0"/>
          <a:stretch/>
        </p:blipFill>
        <p:spPr>
          <a:xfrm>
            <a:off x="476402" y="961949"/>
            <a:ext cx="76169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476402" y="3564331"/>
            <a:ext cx="30486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Analysis Period: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Jan 2024 - Jan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476402" y="4143146"/>
            <a:ext cx="30486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Source: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CRM Database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33695" y="262433"/>
            <a:ext cx="47549" cy="159105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5609844" y="262433"/>
            <a:ext cx="5820156" cy="1591056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Most businesses treat sales as transactions. Done right, sales are the </a:t>
            </a:r>
            <a:r>
              <a:rPr b="1" i="0" lang="en-US" sz="24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beginning</a:t>
            </a: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of a buying relationship.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5333695" y="2227478"/>
            <a:ext cx="609630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Your customers aren't just revenue events—they are tangible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assets on your balance sheet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You've already paid the acquisition cost to win their trust.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5333695" y="3256178"/>
            <a:ext cx="60963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Letting them go dormant isn't a marketing problem; it's an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asset management problem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333695" y="4418381"/>
            <a:ext cx="6096305" cy="1028700"/>
          </a:xfrm>
          <a:prstGeom prst="roundRect">
            <a:avLst>
              <a:gd fmla="val 13169" name="adj"/>
            </a:avLst>
          </a:prstGeom>
          <a:solidFill>
            <a:srgbClr val="FFF7ED"/>
          </a:solidFill>
          <a:ln cap="flat" cmpd="sng" w="12700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3">
            <a:alphaModFix/>
          </a:blip>
          <a:srcRect b="0" l="-133" r="-133" t="0"/>
          <a:stretch/>
        </p:blipFill>
        <p:spPr>
          <a:xfrm>
            <a:off x="5572354" y="4694530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5934456" y="4657039"/>
            <a:ext cx="525780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"You are not in the HVAC business. You are in the customer relationship business that happens to do HVAC."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33695" y="5824728"/>
            <a:ext cx="6096305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5333695" y="6215177"/>
            <a:ext cx="13149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$200–$500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5302606" y="6605626"/>
            <a:ext cx="137617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Acquisition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796735" y="6357823"/>
            <a:ext cx="12344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Open Sans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7057339" y="6215177"/>
            <a:ext cx="10479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6975958" y="6605626"/>
            <a:ext cx="12115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Already Earned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8257032" y="6357823"/>
            <a:ext cx="12344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Open Sans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8518550" y="6215177"/>
            <a:ext cx="10003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ASSET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8518550" y="6605626"/>
            <a:ext cx="100035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To Be Managed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1672316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0" y="0"/>
            <a:ext cx="4572000" cy="6858000"/>
          </a:xfrm>
          <a:custGeom>
            <a:rect b="b" l="l" r="r" t="t"/>
            <a:pathLst>
              <a:path extrusionOk="0" h="6858000" w="4572000">
                <a:moveTo>
                  <a:pt x="0" y="0"/>
                </a:moveTo>
                <a:lnTo>
                  <a:pt x="4572000" y="0"/>
                </a:lnTo>
                <a:lnTo>
                  <a:pt x="3886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93" name="Google Shape;93;p3"/>
          <p:cNvSpPr txBox="1"/>
          <p:nvPr/>
        </p:nvSpPr>
        <p:spPr>
          <a:xfrm>
            <a:off x="1004011" y="2663647"/>
            <a:ext cx="2572207" cy="132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You're Not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the HVAC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004011" y="4212641"/>
            <a:ext cx="571500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1004011" y="4479646"/>
            <a:ext cx="2572207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The Asset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Philosophy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5">
            <a:alphaModFix amt="90000"/>
          </a:blip>
          <a:srcRect b="0" l="-469" r="-469" t="0"/>
          <a:stretch/>
        </p:blipFill>
        <p:spPr>
          <a:xfrm>
            <a:off x="1004011" y="1863547"/>
            <a:ext cx="5047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-7" l="0" r="0" t="-7"/>
          <a:stretch/>
        </p:blipFill>
        <p:spPr>
          <a:xfrm>
            <a:off x="4190695" y="571500"/>
            <a:ext cx="7429500" cy="348660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7198157" y="2214677"/>
            <a:ext cx="14200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Asset Breakdown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190695" y="4438498"/>
            <a:ext cx="2324405" cy="1848002"/>
          </a:xfrm>
          <a:prstGeom prst="roundRect">
            <a:avLst>
              <a:gd fmla="val 612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190695" y="4438498"/>
            <a:ext cx="2324405" cy="38405"/>
          </a:xfrm>
          <a:prstGeom prst="roundRect">
            <a:avLst>
              <a:gd fmla="val 294549" name="adj"/>
            </a:avLst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4419295" y="4705502"/>
            <a:ext cx="66111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787238" y="4705502"/>
            <a:ext cx="5056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419295" y="5162702"/>
            <a:ext cx="1114654" cy="276149"/>
          </a:xfrm>
          <a:prstGeom prst="roundRect">
            <a:avLst>
              <a:gd fmla="val 91345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419295" y="5162702"/>
            <a:ext cx="1114654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960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3795" y="522488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4419295" y="5553151"/>
            <a:ext cx="1867205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4419295" y="5676595"/>
            <a:ext cx="1867205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Purchased in last 12 months.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Currently engaged.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743700" y="4438498"/>
            <a:ext cx="2324405" cy="1848002"/>
          </a:xfrm>
          <a:prstGeom prst="roundRect">
            <a:avLst>
              <a:gd fmla="val 612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743700" y="4438498"/>
            <a:ext cx="2324405" cy="38405"/>
          </a:xfrm>
          <a:prstGeom prst="roundRect">
            <a:avLst>
              <a:gd fmla="val 294549" name="adj"/>
            </a:avLst>
          </a:prstGeom>
          <a:solidFill>
            <a:srgbClr val="94A3B8"/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972300" y="4705502"/>
            <a:ext cx="770839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At-Risk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360359" y="4705502"/>
            <a:ext cx="4864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972300" y="5162702"/>
            <a:ext cx="1114654" cy="276149"/>
          </a:xfrm>
          <a:prstGeom prst="roundRect">
            <a:avLst>
              <a:gd fmla="val 91345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972300" y="5162702"/>
            <a:ext cx="1114654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800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522488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6972300" y="5553151"/>
            <a:ext cx="1867205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6972300" y="5676595"/>
            <a:ext cx="1867205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12-24 months since purchase.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Engagement fading.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296705" y="4438498"/>
            <a:ext cx="2324405" cy="1848002"/>
          </a:xfrm>
          <a:prstGeom prst="roundRect">
            <a:avLst>
              <a:gd fmla="val 6121" name="adj"/>
            </a:avLst>
          </a:prstGeom>
          <a:solidFill>
            <a:srgbClr val="FFF7ED"/>
          </a:solidFill>
          <a:ln cap="flat" cmpd="sng" w="12700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296705" y="4438498"/>
            <a:ext cx="2324405" cy="38405"/>
          </a:xfrm>
          <a:prstGeom prst="roundRect">
            <a:avLst>
              <a:gd fmla="val 294549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9534449" y="4705502"/>
            <a:ext cx="810158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Dormant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0880446" y="4705502"/>
            <a:ext cx="5056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45%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534449" y="5162702"/>
            <a:ext cx="1228954" cy="276149"/>
          </a:xfrm>
          <a:prstGeom prst="roundRect">
            <a:avLst>
              <a:gd fmla="val 91345" name="adj"/>
            </a:avLst>
          </a:prstGeom>
          <a:solidFill>
            <a:srgbClr val="F97316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534449" y="5162702"/>
            <a:ext cx="1228954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150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9746" y="522488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9534449" y="5553151"/>
            <a:ext cx="1848002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534449" y="5676595"/>
            <a:ext cx="1848002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Primary Opportunity.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24+ months silent.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11659514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6" name="Google Shape;136;p4"/>
          <p:cNvPicPr preferRelativeResize="0"/>
          <p:nvPr/>
        </p:nvPicPr>
        <p:blipFill rotWithShape="1">
          <a:blip r:embed="rId7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Database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Current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Asset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Portfolio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81305" y="3637483"/>
            <a:ext cx="2857500" cy="1647749"/>
          </a:xfrm>
          <a:prstGeom prst="roundRect">
            <a:avLst>
              <a:gd fmla="val 7699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76656" y="3932834"/>
            <a:ext cx="22677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Total Database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76656" y="4208983"/>
            <a:ext cx="2267712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381305" y="3211373"/>
            <a:ext cx="28575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segmented your database based on recency of purchase to identify asset health.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76656" y="4818888"/>
            <a:ext cx="22677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Unique customer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Calculating Your Idle Investment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381805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381805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610405" y="1733702"/>
            <a:ext cx="381305" cy="381305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3">
            <a:alphaModFix/>
          </a:blip>
          <a:srcRect b="-180" l="0" r="0" t="-180"/>
          <a:stretch/>
        </p:blipFill>
        <p:spPr>
          <a:xfrm>
            <a:off x="4705502" y="1848002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4610405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Dormant Assets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4610405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4610405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636154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001000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001000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29600" y="1733702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900" y="18480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8229600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Acquisition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8229600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$200 - $500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229600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Per Customer (CAC)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11255350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5">
            <a:alphaModFix/>
          </a:blip>
          <a:srcRect b="0" l="-5" r="-5" t="0"/>
          <a:stretch/>
        </p:blipFill>
        <p:spPr>
          <a:xfrm>
            <a:off x="4381805" y="3991356"/>
            <a:ext cx="7048195" cy="151424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4381805" y="3991356"/>
            <a:ext cx="75895" cy="149504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772254" y="4381805"/>
            <a:ext cx="62682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Total Sunk Cost Sitting Dormant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4772254" y="4733849"/>
            <a:ext cx="6268212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$30,000 — $75,000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4772254" y="5495544"/>
            <a:ext cx="6268212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That's up to three-quarters of a million dollars in marketing investment generating </a:t>
            </a:r>
            <a:r>
              <a:rPr b="1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zero return</a:t>
            </a: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right now.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805" y="592439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4686300" y="5886907"/>
            <a:ext cx="5715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Asset Perspective: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If you bought a $500,000 piece of equipment and left it in the warehouse unplugged, you'd fix it immediately. Your customer list is that equipment.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9" name="Google Shape;179;p5"/>
          <p:cNvPicPr preferRelativeResize="0"/>
          <p:nvPr/>
        </p:nvPicPr>
        <p:blipFill rotWithShape="1">
          <a:blip r:embed="rId7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Acquisition Reality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Sunk Cost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Database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81305" y="3116275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580644" y="3116275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isn't a theoretical projection.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580644" y="3512210"/>
            <a:ext cx="2658161" cy="121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actual cash you have already deployed in marketing spend, commissions, and overhead to acquire customers who are now silent.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5"/>
          <p:cNvPicPr preferRelativeResize="0"/>
          <p:nvPr/>
        </p:nvPicPr>
        <p:blipFill rotWithShape="1">
          <a:blip r:embed="rId8">
            <a:alphaModFix amt="80000"/>
          </a:blip>
          <a:srcRect b="0" l="0" r="0" t="0"/>
          <a:stretch/>
        </p:blipFill>
        <p:spPr>
          <a:xfrm>
            <a:off x="381305" y="473110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What You're Losing Annually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381805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381805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610405" y="1733702"/>
            <a:ext cx="381305" cy="381305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" name="Google Shape;199;p6"/>
          <p:cNvPicPr preferRelativeResize="0"/>
          <p:nvPr/>
        </p:nvPicPr>
        <p:blipFill rotWithShape="1">
          <a:blip r:embed="rId3">
            <a:alphaModFix/>
          </a:blip>
          <a:srcRect b="-180" l="0" r="0" t="-180"/>
          <a:stretch/>
        </p:blipFill>
        <p:spPr>
          <a:xfrm>
            <a:off x="4705502" y="1848002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4610405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Dormant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610405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4610405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Customers &gt;24 Months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7636154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001000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8001000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8229600" y="1733702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7" name="Google Shape;207;p6"/>
          <p:cNvPicPr preferRelativeResize="0"/>
          <p:nvPr/>
        </p:nvPicPr>
        <p:blipFill rotWithShape="1">
          <a:blip r:embed="rId4">
            <a:alphaModFix/>
          </a:blip>
          <a:srcRect b="-100" l="0" r="0" t="-100"/>
          <a:stretch/>
        </p:blipFill>
        <p:spPr>
          <a:xfrm>
            <a:off x="8363102" y="1848002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 txBox="1"/>
          <p:nvPr/>
        </p:nvSpPr>
        <p:spPr>
          <a:xfrm>
            <a:off x="8229600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Typical Service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8229600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~$32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8229600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Per Head (Conservative Avg)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11255350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6"/>
          <p:cNvPicPr preferRelativeResize="0"/>
          <p:nvPr/>
        </p:nvPicPr>
        <p:blipFill rotWithShape="1">
          <a:blip r:embed="rId5">
            <a:alphaModFix/>
          </a:blip>
          <a:srcRect b="-20" l="0" r="0" t="-20"/>
          <a:stretch/>
        </p:blipFill>
        <p:spPr>
          <a:xfrm>
            <a:off x="4381805" y="3991356"/>
            <a:ext cx="7048195" cy="131490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4381805" y="3991356"/>
            <a:ext cx="75895" cy="1295705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4772254" y="4381805"/>
            <a:ext cx="62682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Annual Unrealized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4772254" y="4733849"/>
            <a:ext cx="62682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5400"/>
              <a:buFont typeface="Montserrat"/>
              <a:buNone/>
            </a:pPr>
            <a:r>
              <a:rPr b="1" i="0" lang="en-US" sz="54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4705500" y="5448897"/>
            <a:ext cx="6268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If these dormant customers simply returned to a standard service cadence, this is the </a:t>
            </a:r>
            <a:r>
              <a:rPr b="1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pure profit</a:t>
            </a: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leaking from your business.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805" y="572414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 txBox="1"/>
          <p:nvPr/>
        </p:nvSpPr>
        <p:spPr>
          <a:xfrm>
            <a:off x="4627625" y="5483100"/>
            <a:ext cx="64404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11665915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1" name="Google Shape;221;p6"/>
          <p:cNvPicPr preferRelativeResize="0"/>
          <p:nvPr/>
        </p:nvPicPr>
        <p:blipFill rotWithShape="1">
          <a:blip r:embed="rId7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Revenue Loss Calculation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Annual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Dormant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Revenue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the opportunity cost of silence.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580644" y="327538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While these customers aren't buying from you, their HVAC needs haven't disappeared. They are spending this money elsewhere.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6"/>
          <p:cNvPicPr preferRelativeResize="0"/>
          <p:nvPr/>
        </p:nvPicPr>
        <p:blipFill rotWithShape="1">
          <a:blip r:embed="rId8">
            <a:alphaModFix amt="80000"/>
          </a:blip>
          <a:srcRect b="0" l="0" r="0" t="0"/>
          <a:stretch/>
        </p:blipFill>
        <p:spPr>
          <a:xfrm>
            <a:off x="381305" y="425104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4190695" y="571500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Performance Gap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190695" y="1947672"/>
            <a:ext cx="4324198" cy="3810305"/>
          </a:xfrm>
          <a:prstGeom prst="roundRect">
            <a:avLst>
              <a:gd fmla="val 192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7"/>
          <p:cNvPicPr preferRelativeResize="0"/>
          <p:nvPr/>
        </p:nvPicPr>
        <p:blipFill rotWithShape="1">
          <a:blip r:embed="rId3">
            <a:alphaModFix/>
          </a:blip>
          <a:srcRect b="0" l="-6" r="-6" t="0"/>
          <a:stretch/>
        </p:blipFill>
        <p:spPr>
          <a:xfrm>
            <a:off x="4381805" y="2138782"/>
            <a:ext cx="3943807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7"/>
          <p:cNvSpPr txBox="1"/>
          <p:nvPr/>
        </p:nvSpPr>
        <p:spPr>
          <a:xfrm>
            <a:off x="4381805" y="5662879"/>
            <a:ext cx="39438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Annual Reactivation Rate (% of Dormant Base)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991295" y="1410005"/>
            <a:ext cx="2628900" cy="1524305"/>
          </a:xfrm>
          <a:prstGeom prst="roundRect">
            <a:avLst>
              <a:gd fmla="val 899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991295" y="1410005"/>
            <a:ext cx="47549" cy="1524305"/>
          </a:xfrm>
          <a:prstGeom prst="roundRect">
            <a:avLst>
              <a:gd fmla="val 288460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9267444" y="1638605"/>
            <a:ext cx="212415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Performance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9267444" y="1886407"/>
            <a:ext cx="25091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7.5%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points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9267444" y="2305202"/>
            <a:ext cx="2124151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You are performing at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~28%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of the industry standard.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991295" y="3161995"/>
            <a:ext cx="2628900" cy="1524305"/>
          </a:xfrm>
          <a:prstGeom prst="roundRect">
            <a:avLst>
              <a:gd fmla="val 8998" name="adj"/>
            </a:avLst>
          </a:prstGeom>
          <a:solidFill>
            <a:srgbClr val="FFF7ED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991295" y="3161995"/>
            <a:ext cx="47549" cy="1524305"/>
          </a:xfrm>
          <a:prstGeom prst="roundRect">
            <a:avLst>
              <a:gd fmla="val 288460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9267444" y="3390595"/>
            <a:ext cx="212415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Annual Cost of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9267444" y="3638398"/>
            <a:ext cx="212415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$23,000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9267444" y="4058107"/>
            <a:ext cx="2124151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 unrealized revenue compared to peers of your size.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991295" y="4914900"/>
            <a:ext cx="2628900" cy="1380744"/>
          </a:xfrm>
          <a:prstGeom prst="roundRect">
            <a:avLst>
              <a:gd fmla="val 7308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2" name="Google Shape;252;p7"/>
          <p:cNvPicPr preferRelativeResize="0"/>
          <p:nvPr/>
        </p:nvPicPr>
        <p:blipFill rotWithShape="1">
          <a:blip r:embed="rId4">
            <a:alphaModFix/>
          </a:blip>
          <a:srcRect b="0" l="-33" r="-33" t="0"/>
          <a:stretch/>
        </p:blipFill>
        <p:spPr>
          <a:xfrm>
            <a:off x="9182405" y="5143500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 txBox="1"/>
          <p:nvPr/>
        </p:nvSpPr>
        <p:spPr>
          <a:xfrm>
            <a:off x="9506102" y="5105095"/>
            <a:ext cx="1924812" cy="1000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Volume Reality: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Companies your size typically reactivate 115–175 dormant customers per year. You're currently on track to reactivate 43.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11668658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6" name="Google Shape;256;p7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Industry Benchmark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You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81305" y="2155241"/>
            <a:ext cx="9144" cy="1218895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580644" y="2155241"/>
            <a:ext cx="2658161" cy="121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compared your current reactivation performance against anonymized data from 140+ HVAC companies in the $2M-$10M revenue range.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6">
            <a:alphaModFix amt="80000"/>
          </a:blip>
          <a:srcRect b="0" l="-57" r="-57" t="0"/>
          <a:stretch/>
        </p:blipFill>
        <p:spPr>
          <a:xfrm>
            <a:off x="381305" y="3374136"/>
            <a:ext cx="400507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4190695" y="728777"/>
            <a:ext cx="7429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Economics of Attention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8"/>
          <p:cNvPicPr preferRelativeResize="0"/>
          <p:nvPr/>
        </p:nvPicPr>
        <p:blipFill rotWithShape="1">
          <a:blip r:embed="rId3">
            <a:alphaModFix/>
          </a:blip>
          <a:srcRect b="0" l="-4" r="-4" t="0"/>
          <a:stretch/>
        </p:blipFill>
        <p:spPr>
          <a:xfrm>
            <a:off x="4190695" y="1414577"/>
            <a:ext cx="7429500" cy="361919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/>
          <p:nvPr/>
        </p:nvSpPr>
        <p:spPr>
          <a:xfrm>
            <a:off x="4200754" y="1423721"/>
            <a:ext cx="3705149" cy="3600907"/>
          </a:xfrm>
          <a:prstGeom prst="roundRect">
            <a:avLst>
              <a:gd fmla="val 215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672023" y="1805026"/>
            <a:ext cx="761695" cy="381305"/>
          </a:xfrm>
          <a:prstGeom prst="roundRect">
            <a:avLst>
              <a:gd fmla="val 239808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5" name="Google Shape;275;p8"/>
          <p:cNvPicPr preferRelativeResize="0"/>
          <p:nvPr/>
        </p:nvPicPr>
        <p:blipFill rotWithShape="1">
          <a:blip r:embed="rId4">
            <a:alphaModFix/>
          </a:blip>
          <a:srcRect b="-24" l="0" r="0" t="-24"/>
          <a:stretch/>
        </p:blipFill>
        <p:spPr>
          <a:xfrm>
            <a:off x="5814670" y="1805026"/>
            <a:ext cx="476402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 txBox="1"/>
          <p:nvPr/>
        </p:nvSpPr>
        <p:spPr>
          <a:xfrm>
            <a:off x="4868266" y="2376526"/>
            <a:ext cx="2371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Your Acquisition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5352898" y="2757830"/>
            <a:ext cx="1400861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$500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4981651" y="3366821"/>
            <a:ext cx="215066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Cost Per New Customer (CAC)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5335524" y="3781044"/>
            <a:ext cx="21717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Cold leads with zero trust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8"/>
          <p:cNvPicPr preferRelativeResize="0"/>
          <p:nvPr/>
        </p:nvPicPr>
        <p:blipFill rotWithShape="1">
          <a:blip r:embed="rId5">
            <a:alphaModFix/>
          </a:blip>
          <a:srcRect b="0" l="-2512" r="-2512" t="0"/>
          <a:stretch/>
        </p:blipFill>
        <p:spPr>
          <a:xfrm>
            <a:off x="5195621" y="3807562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5383073" y="4082796"/>
            <a:ext cx="224759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Low conversion rates (2-3%)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8"/>
          <p:cNvPicPr preferRelativeResize="0"/>
          <p:nvPr/>
        </p:nvPicPr>
        <p:blipFill rotWithShape="1">
          <a:blip r:embed="rId6">
            <a:alphaModFix/>
          </a:blip>
          <a:srcRect b="0" l="-837" r="-837" t="0"/>
          <a:stretch/>
        </p:blipFill>
        <p:spPr>
          <a:xfrm>
            <a:off x="5195621" y="4108399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8"/>
          <p:cNvSpPr txBox="1"/>
          <p:nvPr/>
        </p:nvSpPr>
        <p:spPr>
          <a:xfrm>
            <a:off x="5402275" y="4383634"/>
            <a:ext cx="209214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High competitive friction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8"/>
          <p:cNvPicPr preferRelativeResize="0"/>
          <p:nvPr/>
        </p:nvPicPr>
        <p:blipFill rotWithShape="1">
          <a:blip r:embed="rId7">
            <a:alphaModFix/>
          </a:blip>
          <a:srcRect b="0" l="-1507" r="-1507" t="0"/>
          <a:stretch/>
        </p:blipFill>
        <p:spPr>
          <a:xfrm>
            <a:off x="5195621" y="4409237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8"/>
          <p:cNvSpPr/>
          <p:nvPr/>
        </p:nvSpPr>
        <p:spPr>
          <a:xfrm>
            <a:off x="7905902" y="1423721"/>
            <a:ext cx="3705149" cy="3600907"/>
          </a:xfrm>
          <a:prstGeom prst="roundRect">
            <a:avLst>
              <a:gd fmla="val 2150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9377172" y="1805026"/>
            <a:ext cx="761695" cy="381305"/>
          </a:xfrm>
          <a:prstGeom prst="roundRect">
            <a:avLst>
              <a:gd fmla="val 239808" name="adj"/>
            </a:avLst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7" name="Google Shape;28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8282" y="1805026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8"/>
          <p:cNvSpPr txBox="1"/>
          <p:nvPr/>
        </p:nvSpPr>
        <p:spPr>
          <a:xfrm>
            <a:off x="8494776" y="2376526"/>
            <a:ext cx="25338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Competitor Reactivation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9261958" y="2757830"/>
            <a:ext cx="1000354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$75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8925458" y="3366821"/>
            <a:ext cx="16724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Cost Per Reactivation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9015984" y="3781044"/>
            <a:ext cx="1885493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They target YOUR past 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8"/>
          <p:cNvPicPr preferRelativeResize="0"/>
          <p:nvPr/>
        </p:nvPicPr>
        <p:blipFill rotWithShape="1">
          <a:blip r:embed="rId9">
            <a:alphaModFix/>
          </a:blip>
          <a:srcRect b="-1100" l="0" r="0" t="-1100"/>
          <a:stretch/>
        </p:blipFill>
        <p:spPr>
          <a:xfrm>
            <a:off x="8900770" y="3807562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 txBox="1"/>
          <p:nvPr/>
        </p:nvSpPr>
        <p:spPr>
          <a:xfrm>
            <a:off x="9049817" y="4269334"/>
            <a:ext cx="185166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Warmer intent &amp; trust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8"/>
          <p:cNvPicPr preferRelativeResize="0"/>
          <p:nvPr/>
        </p:nvPicPr>
        <p:blipFill rotWithShape="1">
          <a:blip r:embed="rId9">
            <a:alphaModFix/>
          </a:blip>
          <a:srcRect b="-1100" l="0" r="0" t="-1100"/>
          <a:stretch/>
        </p:blipFill>
        <p:spPr>
          <a:xfrm>
            <a:off x="8900770" y="4294937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 txBox="1"/>
          <p:nvPr/>
        </p:nvSpPr>
        <p:spPr>
          <a:xfrm>
            <a:off x="9049817" y="4570171"/>
            <a:ext cx="185166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Faster sales cycle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9">
            <a:alphaModFix/>
          </a:blip>
          <a:srcRect b="-1100" l="0" r="0" t="-1100"/>
          <a:stretch/>
        </p:blipFill>
        <p:spPr>
          <a:xfrm>
            <a:off x="8900770" y="4595774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4190695" y="5319979"/>
            <a:ext cx="7429500" cy="809244"/>
          </a:xfrm>
          <a:prstGeom prst="roundRect">
            <a:avLst>
              <a:gd fmla="val 2127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190695" y="5319979"/>
            <a:ext cx="38405" cy="809244"/>
          </a:xfrm>
          <a:prstGeom prst="roundRect">
            <a:avLst>
              <a:gd fmla="val 448177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9" name="Google Shape;29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57700" y="56098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8"/>
          <p:cNvSpPr txBox="1"/>
          <p:nvPr/>
        </p:nvSpPr>
        <p:spPr>
          <a:xfrm>
            <a:off x="4876495" y="5510174"/>
            <a:ext cx="65151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Reality Check:</a:t>
            </a:r>
            <a:r>
              <a:rPr b="0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Your dormant customers don't stop needing HVAC service. They just start buying from someone else. Usually a competitor who simply stayes in touch.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11662258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3" name="Google Shape;303;p8"/>
          <p:cNvPicPr preferRelativeResize="0"/>
          <p:nvPr/>
        </p:nvPicPr>
        <p:blipFill rotWithShape="1">
          <a:blip r:embed="rId11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8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The Competitor Reality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While You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Chase New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Leads...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Your competitors aren't just outbidding you on Google 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They are quietly harvesting the low-hanging fruit that you planted, paid for, and then ignored.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8"/>
          <p:cNvPicPr preferRelativeResize="0"/>
          <p:nvPr/>
        </p:nvPicPr>
        <p:blipFill rotWithShape="1">
          <a:blip r:embed="rId12">
            <a:alphaModFix amt="80000"/>
          </a:blip>
          <a:srcRect b="0" l="-80" r="-80" t="0"/>
          <a:stretch/>
        </p:blipFill>
        <p:spPr>
          <a:xfrm>
            <a:off x="381305" y="4006901"/>
            <a:ext cx="28620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67244" y="2986430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/>
          <p:nvPr/>
        </p:nvSpPr>
        <p:spPr>
          <a:xfrm>
            <a:off x="7667244" y="2986430"/>
            <a:ext cx="476402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4190695" y="571500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It's Not What You Think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4190695" y="1123798"/>
            <a:ext cx="762426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Most businesses blame price or service. The data tells a different 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9"/>
          <p:cNvPicPr preferRelativeResize="0"/>
          <p:nvPr/>
        </p:nvPicPr>
        <p:blipFill rotWithShape="1">
          <a:blip r:embed="rId3">
            <a:alphaModFix/>
          </a:blip>
          <a:srcRect b="-6" l="0" r="0" t="-6"/>
          <a:stretch/>
        </p:blipFill>
        <p:spPr>
          <a:xfrm>
            <a:off x="4190695" y="2447849"/>
            <a:ext cx="3524098" cy="381030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9"/>
          <p:cNvSpPr txBox="1"/>
          <p:nvPr/>
        </p:nvSpPr>
        <p:spPr>
          <a:xfrm>
            <a:off x="5624474" y="3924605"/>
            <a:ext cx="657454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Primary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Driver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5624474" y="4324198"/>
            <a:ext cx="6574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62%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8096098" y="1762049"/>
            <a:ext cx="3524098" cy="761695"/>
          </a:xfrm>
          <a:prstGeom prst="roundRect">
            <a:avLst>
              <a:gd fmla="val 240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096098" y="1762049"/>
            <a:ext cx="38405" cy="761695"/>
          </a:xfrm>
          <a:prstGeom prst="roundRect">
            <a:avLst>
              <a:gd fmla="val 476188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8324698" y="1969618"/>
            <a:ext cx="762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9087307" y="1914754"/>
            <a:ext cx="2343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Service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9087307" y="2180844"/>
            <a:ext cx="2343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Unhappy with last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8096098" y="2671877"/>
            <a:ext cx="3524098" cy="761695"/>
          </a:xfrm>
          <a:prstGeom prst="roundRect">
            <a:avLst>
              <a:gd fmla="val 240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8096098" y="2671877"/>
            <a:ext cx="38405" cy="761695"/>
          </a:xfrm>
          <a:prstGeom prst="roundRect">
            <a:avLst>
              <a:gd fmla="val 476188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 txBox="1"/>
          <p:nvPr/>
        </p:nvSpPr>
        <p:spPr>
          <a:xfrm>
            <a:off x="8324698" y="2878531"/>
            <a:ext cx="762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9087307" y="2824582"/>
            <a:ext cx="2343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Moved Away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9087307" y="3090672"/>
            <a:ext cx="2343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 longer need local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8096098" y="3581705"/>
            <a:ext cx="3524098" cy="761695"/>
          </a:xfrm>
          <a:prstGeom prst="roundRect">
            <a:avLst>
              <a:gd fmla="val 240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096098" y="3581705"/>
            <a:ext cx="38405" cy="761695"/>
          </a:xfrm>
          <a:prstGeom prst="roundRect">
            <a:avLst>
              <a:gd fmla="val 476188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8324698" y="3788359"/>
            <a:ext cx="762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9087307" y="3733495"/>
            <a:ext cx="2343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Price Shopping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9087307" y="4000500"/>
            <a:ext cx="2343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Switched to cheaper competitor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8061350" y="4483303"/>
            <a:ext cx="3600907" cy="780898"/>
          </a:xfrm>
          <a:prstGeom prst="roundRect">
            <a:avLst>
              <a:gd fmla="val 22848" name="adj"/>
            </a:avLst>
          </a:prstGeom>
          <a:solidFill>
            <a:srgbClr val="FFF7ED"/>
          </a:solidFill>
          <a:ln>
            <a:noFill/>
          </a:ln>
          <a:effectLst>
            <a:outerShdw blurRad="114300" rotWithShape="0" algn="bl" dir="16200000" dist="38100">
              <a:srgbClr val="F97316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8061350" y="4483303"/>
            <a:ext cx="38405" cy="780898"/>
          </a:xfrm>
          <a:prstGeom prst="roundRect">
            <a:avLst>
              <a:gd fmla="val 464574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8294522" y="4694530"/>
            <a:ext cx="781812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62%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9071762" y="4638751"/>
            <a:ext cx="25530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Simply Forgot / No Contact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9071762" y="4911242"/>
            <a:ext cx="239115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Perceived indifference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8096098" y="5686654"/>
            <a:ext cx="3524098" cy="1257300"/>
          </a:xfrm>
          <a:prstGeom prst="roundRect">
            <a:avLst>
              <a:gd fmla="val 8815" name="adj"/>
            </a:avLst>
          </a:prstGeom>
          <a:solidFill>
            <a:srgbClr val="ECFDF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7" name="Google Shape;3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6351" y="590519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9"/>
          <p:cNvSpPr txBox="1"/>
          <p:nvPr/>
        </p:nvSpPr>
        <p:spPr>
          <a:xfrm>
            <a:off x="8639251" y="5886907"/>
            <a:ext cx="2781605" cy="857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065F46"/>
                </a:solidFill>
                <a:latin typeface="Open Sans"/>
                <a:ea typeface="Open Sans"/>
                <a:cs typeface="Open Sans"/>
                <a:sym typeface="Open Sans"/>
              </a:rPr>
              <a:t>The Good News:</a:t>
            </a:r>
            <a:r>
              <a:rPr b="0" i="0" lang="en-US" sz="1100" u="none" cap="none" strike="noStrike">
                <a:solidFill>
                  <a:srgbClr val="064E3B"/>
                </a:solidFill>
                <a:latin typeface="Open Sans"/>
                <a:ea typeface="Open Sans"/>
                <a:cs typeface="Open Sans"/>
                <a:sym typeface="Open Sans"/>
              </a:rPr>
              <a:t> Most dormant customers didn't leave because of a problem. They left because of </a:t>
            </a:r>
            <a:r>
              <a:rPr b="0" i="1" lang="en-US" sz="1100" u="none" cap="none" strike="noStrike">
                <a:solidFill>
                  <a:srgbClr val="064E3B"/>
                </a:solidFill>
                <a:latin typeface="Open Sans"/>
                <a:ea typeface="Open Sans"/>
                <a:cs typeface="Open Sans"/>
                <a:sym typeface="Open Sans"/>
              </a:rPr>
              <a:t>silence</a:t>
            </a:r>
            <a:r>
              <a:rPr b="0" i="0" lang="en-US" sz="1100" u="none" cap="none" strike="noStrike">
                <a:solidFill>
                  <a:srgbClr val="064E3B"/>
                </a:solidFill>
                <a:latin typeface="Open Sans"/>
                <a:ea typeface="Open Sans"/>
                <a:cs typeface="Open Sans"/>
                <a:sym typeface="Open Sans"/>
              </a:rPr>
              <a:t>. This means they are winnable.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11665915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1" name="Google Shape;351;p9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9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Root Cause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 Dormant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 txBox="1"/>
          <p:nvPr/>
        </p:nvSpPr>
        <p:spPr>
          <a:xfrm>
            <a:off x="580644" y="263530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surveyed customer behavior across the HVAC industry to understand the real reasons behind dormancy.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580644" y="3763670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results contradict the common fear that "something went wrong."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8" name="Google Shape;358;p9"/>
          <p:cNvPicPr preferRelativeResize="0"/>
          <p:nvPr/>
        </p:nvPicPr>
        <p:blipFill rotWithShape="1">
          <a:blip r:embed="rId6">
            <a:alphaModFix amt="80000"/>
          </a:blip>
          <a:srcRect b="0" l="0" r="0" t="0"/>
          <a:stretch/>
        </p:blipFill>
        <p:spPr>
          <a:xfrm>
            <a:off x="381305" y="4251046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4190695" y="476402"/>
            <a:ext cx="7429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Projected Asset Decay (Next 12 Months)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190695" y="1067105"/>
            <a:ext cx="7429500" cy="448056"/>
          </a:xfrm>
          <a:prstGeom prst="roundRect">
            <a:avLst>
              <a:gd fmla="val 69475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9" name="Google Shape;3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0949" y="1224382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0"/>
          <p:cNvSpPr txBox="1"/>
          <p:nvPr/>
        </p:nvSpPr>
        <p:spPr>
          <a:xfrm>
            <a:off x="4638751" y="1067105"/>
            <a:ext cx="54864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991B1B"/>
                </a:solidFill>
                <a:latin typeface="Open Sans"/>
                <a:ea typeface="Open Sans"/>
                <a:cs typeface="Open Sans"/>
                <a:sym typeface="Open Sans"/>
              </a:rPr>
              <a:t>Projection assumes current 0% reactivation effort and standard industry churn rates.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190695" y="1705356"/>
            <a:ext cx="7429500" cy="2943454"/>
          </a:xfrm>
          <a:prstGeom prst="roundRect">
            <a:avLst>
              <a:gd fmla="val 241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2" name="Google Shape;372;p10"/>
          <p:cNvPicPr preferRelativeResize="0"/>
          <p:nvPr/>
        </p:nvPicPr>
        <p:blipFill rotWithShape="1">
          <a:blip r:embed="rId4">
            <a:alphaModFix/>
          </a:blip>
          <a:srcRect b="0" l="-8" r="-8" t="0"/>
          <a:stretch/>
        </p:blipFill>
        <p:spPr>
          <a:xfrm>
            <a:off x="4390949" y="1904695"/>
            <a:ext cx="7029907" cy="254294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0"/>
          <p:cNvSpPr/>
          <p:nvPr/>
        </p:nvSpPr>
        <p:spPr>
          <a:xfrm>
            <a:off x="4190695" y="4934102"/>
            <a:ext cx="1524305" cy="1447495"/>
          </a:xfrm>
          <a:prstGeom prst="roundRect">
            <a:avLst>
              <a:gd fmla="val 997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190695" y="4934102"/>
            <a:ext cx="1524305" cy="38405"/>
          </a:xfrm>
          <a:prstGeom prst="roundRect">
            <a:avLst>
              <a:gd fmla="val 37593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4381805" y="5162702"/>
            <a:ext cx="1143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4381805" y="5410505"/>
            <a:ext cx="1143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+80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4381805" y="5848502"/>
            <a:ext cx="11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New Dormant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905195" y="4934102"/>
            <a:ext cx="1524305" cy="1447495"/>
          </a:xfrm>
          <a:prstGeom prst="roundRect">
            <a:avLst>
              <a:gd fmla="val 9974" name="adj"/>
            </a:avLst>
          </a:prstGeom>
          <a:solidFill>
            <a:srgbClr val="FFF7ED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905195" y="4934102"/>
            <a:ext cx="1524305" cy="38405"/>
          </a:xfrm>
          <a:prstGeom prst="roundRect">
            <a:avLst>
              <a:gd fmla="val 375938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6096305" y="5162702"/>
            <a:ext cx="1143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 txBox="1"/>
          <p:nvPr/>
        </p:nvSpPr>
        <p:spPr>
          <a:xfrm>
            <a:off x="6096305" y="5410505"/>
            <a:ext cx="1143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+165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6096305" y="5848502"/>
            <a:ext cx="11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New Dormant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7619695" y="4934102"/>
            <a:ext cx="1524305" cy="1447495"/>
          </a:xfrm>
          <a:prstGeom prst="roundRect">
            <a:avLst>
              <a:gd fmla="val 9974" name="adj"/>
            </a:avLst>
          </a:prstGeom>
          <a:solidFill>
            <a:srgbClr val="FEF2F2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7619695" y="4934102"/>
            <a:ext cx="1524305" cy="38405"/>
          </a:xfrm>
          <a:prstGeom prst="roundRect">
            <a:avLst>
              <a:gd fmla="val 375938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7810805" y="5162702"/>
            <a:ext cx="1143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7810805" y="5410505"/>
            <a:ext cx="1143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+340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7810805" y="5848502"/>
            <a:ext cx="11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New Dormant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9334195" y="4934102"/>
            <a:ext cx="2286000" cy="1447495"/>
          </a:xfrm>
          <a:prstGeom prst="roundRect">
            <a:avLst>
              <a:gd fmla="val 9974" name="adj"/>
            </a:avLst>
          </a:prstGeom>
          <a:solidFill>
            <a:srgbClr val="7F1D1D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9334195" y="4934102"/>
            <a:ext cx="2286000" cy="38405"/>
          </a:xfrm>
          <a:prstGeom prst="roundRect">
            <a:avLst>
              <a:gd fmla="val 375938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 txBox="1"/>
          <p:nvPr/>
        </p:nvSpPr>
        <p:spPr>
          <a:xfrm>
            <a:off x="9525305" y="5191049"/>
            <a:ext cx="19056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FCA5A5"/>
                </a:solidFill>
                <a:latin typeface="Open Sans"/>
                <a:ea typeface="Open Sans"/>
                <a:cs typeface="Open Sans"/>
                <a:sym typeface="Open Sans"/>
              </a:rPr>
              <a:t>Cumulative Revenue Loss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9525305" y="5438851"/>
            <a:ext cx="2066544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$156,000+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9525305" y="5991149"/>
            <a:ext cx="19056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FCA5A5"/>
                </a:solidFill>
                <a:latin typeface="Open Sans"/>
                <a:ea typeface="Open Sans"/>
                <a:cs typeface="Open Sans"/>
                <a:sym typeface="Open Sans"/>
              </a:rPr>
              <a:t>In Annualized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 txBox="1"/>
          <p:nvPr/>
        </p:nvSpPr>
        <p:spPr>
          <a:xfrm>
            <a:off x="11694262" y="6400800"/>
            <a:ext cx="1563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5" name="Google Shape;395;p10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0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Future Projection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Nothing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381305" y="2155241"/>
            <a:ext cx="9144" cy="2257654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 txBox="1"/>
          <p:nvPr/>
        </p:nvSpPr>
        <p:spPr>
          <a:xfrm>
            <a:off x="580644" y="2155241"/>
            <a:ext cx="265816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Dormancy is progressive.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580644" y="2552090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Today's "At-Risk" customers will become next month's "Dormant" customers.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580644" y="343540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Without intervention, the natural churn rate of your database compounds rapidly over the next year.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Reactivation Potential: </a:t>
            </a:r>
            <a:r>
              <a:rPr b="1" i="0" lang="en-US" sz="24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Top 20%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190695" y="2090318"/>
            <a:ext cx="3429000" cy="3810305"/>
          </a:xfrm>
          <a:prstGeom prst="roundRect">
            <a:avLst>
              <a:gd fmla="val 237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3" name="Google Shape;413;p11"/>
          <p:cNvPicPr preferRelativeResize="0"/>
          <p:nvPr/>
        </p:nvPicPr>
        <p:blipFill rotWithShape="1">
          <a:blip r:embed="rId3">
            <a:alphaModFix/>
          </a:blip>
          <a:srcRect b="0" l="-8" r="-8" t="0"/>
          <a:stretch/>
        </p:blipFill>
        <p:spPr>
          <a:xfrm>
            <a:off x="4476902" y="2276856"/>
            <a:ext cx="2857500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1"/>
          <p:cNvSpPr txBox="1"/>
          <p:nvPr/>
        </p:nvSpPr>
        <p:spPr>
          <a:xfrm>
            <a:off x="4884725" y="3571646"/>
            <a:ext cx="2047342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8.2</a:t>
            </a: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/10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751222" y="4466844"/>
            <a:ext cx="2314346" cy="314554"/>
          </a:xfrm>
          <a:prstGeom prst="roundRect">
            <a:avLst>
              <a:gd fmla="val 290697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751222" y="4466844"/>
            <a:ext cx="2315261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52400" spcFirstLastPara="1" rIns="1524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Excellent Potential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 txBox="1"/>
          <p:nvPr/>
        </p:nvSpPr>
        <p:spPr>
          <a:xfrm>
            <a:off x="4762195" y="4972507"/>
            <a:ext cx="2286000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Your database health and market position put you in the </a:t>
            </a: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top 20%</a:t>
            </a: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of HVAC businesses for reactivation opportunity.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8096098" y="1314907"/>
            <a:ext cx="3524098" cy="1019556"/>
          </a:xfrm>
          <a:prstGeom prst="roundRect">
            <a:avLst>
              <a:gd fmla="val 201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8096098" y="1314907"/>
            <a:ext cx="38405" cy="1019556"/>
          </a:xfrm>
          <a:prstGeom prst="roundRect">
            <a:avLst>
              <a:gd fmla="val 534043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8324698" y="1595628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1" name="Google Shape;421;p11"/>
          <p:cNvPicPr preferRelativeResize="0"/>
          <p:nvPr/>
        </p:nvPicPr>
        <p:blipFill rotWithShape="1">
          <a:blip r:embed="rId4">
            <a:alphaModFix/>
          </a:blip>
          <a:srcRect b="0" l="-1648" r="-1648" t="0"/>
          <a:stretch/>
        </p:blipFill>
        <p:spPr>
          <a:xfrm>
            <a:off x="8467344" y="1729130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1"/>
          <p:cNvSpPr txBox="1"/>
          <p:nvPr/>
        </p:nvSpPr>
        <p:spPr>
          <a:xfrm>
            <a:off x="8973007" y="1505102"/>
            <a:ext cx="21625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Database Quality: 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8973007" y="1772107"/>
            <a:ext cx="2076602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Recent service history and valid contact info for 85%+ of records.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17236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1"/>
          <p:cNvSpPr/>
          <p:nvPr/>
        </p:nvSpPr>
        <p:spPr>
          <a:xfrm>
            <a:off x="8096098" y="2486254"/>
            <a:ext cx="3524098" cy="1248156"/>
          </a:xfrm>
          <a:prstGeom prst="roundRect">
            <a:avLst>
              <a:gd fmla="val 1342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8096098" y="2486254"/>
            <a:ext cx="38405" cy="1248156"/>
          </a:xfrm>
          <a:prstGeom prst="roundRect">
            <a:avLst>
              <a:gd fmla="val 436203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8324698" y="2881274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8" name="Google Shape;42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200" y="301477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1"/>
          <p:cNvSpPr txBox="1"/>
          <p:nvPr/>
        </p:nvSpPr>
        <p:spPr>
          <a:xfrm>
            <a:off x="8973007" y="2676449"/>
            <a:ext cx="20766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Customer Value: Above Avg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8973007" y="3172054"/>
            <a:ext cx="2076602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Your average ticket and LTV exceed regional industry benchmarks.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301020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/>
          <p:nvPr/>
        </p:nvSpPr>
        <p:spPr>
          <a:xfrm>
            <a:off x="8096098" y="3886200"/>
            <a:ext cx="3524098" cy="1209751"/>
          </a:xfrm>
          <a:prstGeom prst="roundRect">
            <a:avLst>
              <a:gd fmla="val 142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8096098" y="3886200"/>
            <a:ext cx="38405" cy="1209751"/>
          </a:xfrm>
          <a:prstGeom prst="roundRect">
            <a:avLst>
              <a:gd fmla="val 449941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8324698" y="4260190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5" name="Google Shape;43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439369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1"/>
          <p:cNvSpPr txBox="1"/>
          <p:nvPr/>
        </p:nvSpPr>
        <p:spPr>
          <a:xfrm>
            <a:off x="8973007" y="4076395"/>
            <a:ext cx="22567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Service Variety: Strong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8973007" y="4343400"/>
            <a:ext cx="2076602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Multiple entry points (Install, Maintenance, Repair) increase win-back odds.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438820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1"/>
          <p:cNvSpPr/>
          <p:nvPr/>
        </p:nvSpPr>
        <p:spPr>
          <a:xfrm>
            <a:off x="8096098" y="5243170"/>
            <a:ext cx="3524098" cy="1438351"/>
          </a:xfrm>
          <a:prstGeom prst="roundRect">
            <a:avLst>
              <a:gd fmla="val 101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8096098" y="5243170"/>
            <a:ext cx="38405" cy="1438351"/>
          </a:xfrm>
          <a:prstGeom prst="roundRect">
            <a:avLst>
              <a:gd fmla="val 378428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8324698" y="5731459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2" name="Google Shape;442;p11"/>
          <p:cNvPicPr preferRelativeResize="0"/>
          <p:nvPr/>
        </p:nvPicPr>
        <p:blipFill rotWithShape="1">
          <a:blip r:embed="rId8">
            <a:alphaModFix/>
          </a:blip>
          <a:srcRect b="0" l="-1282" r="-1282" t="0"/>
          <a:stretch/>
        </p:blipFill>
        <p:spPr>
          <a:xfrm>
            <a:off x="8443570" y="586496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1"/>
          <p:cNvSpPr txBox="1"/>
          <p:nvPr/>
        </p:nvSpPr>
        <p:spPr>
          <a:xfrm>
            <a:off x="8973007" y="5434279"/>
            <a:ext cx="20766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Brand Recognition: Established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8973007" y="5928970"/>
            <a:ext cx="2076602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Long-standing local presence means "warm" reactivation is easier.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586039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1"/>
          <p:cNvSpPr txBox="1"/>
          <p:nvPr/>
        </p:nvSpPr>
        <p:spPr>
          <a:xfrm>
            <a:off x="11728094" y="6400800"/>
            <a:ext cx="14173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8" name="Google Shape;448;p11"/>
          <p:cNvPicPr preferRelativeResize="0"/>
          <p:nvPr/>
        </p:nvPicPr>
        <p:blipFill rotWithShape="1">
          <a:blip r:embed="rId9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Opportunity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1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Reactivation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Score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1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analyzed your database against 4 key success indicators.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score indicates the probability of successfully reactivating dormant revenue in the first 90 days.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5" name="Google Shape;455;p11"/>
          <p:cNvPicPr preferRelativeResize="0"/>
          <p:nvPr/>
        </p:nvPicPr>
        <p:blipFill rotWithShape="1">
          <a:blip r:embed="rId10">
            <a:alphaModFix amt="80000"/>
          </a:blip>
          <a:srcRect b="0" l="0" r="0" t="0"/>
          <a:stretch/>
        </p:blipFill>
        <p:spPr>
          <a:xfrm>
            <a:off x="381305" y="400690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Highest-Probability Reactivation List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4190695" y="1162202"/>
            <a:ext cx="7429500" cy="733349"/>
          </a:xfrm>
          <a:prstGeom prst="roundRect">
            <a:avLst>
              <a:gd fmla="val 12955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4190695" y="1162202"/>
            <a:ext cx="38405" cy="733349"/>
          </a:xfrm>
          <a:prstGeom prst="roundRect">
            <a:avLst>
              <a:gd fmla="val 247370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7" name="Google Shape;4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0" y="1433779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2"/>
          <p:cNvSpPr txBox="1"/>
          <p:nvPr/>
        </p:nvSpPr>
        <p:spPr>
          <a:xfrm>
            <a:off x="4753051" y="1314907"/>
            <a:ext cx="6639458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The Pareto Principle in Action:</a:t>
            </a:r>
            <a:r>
              <a:rPr b="0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 These top 200 customers represent </a:t>
            </a:r>
            <a:r>
              <a:rPr b="1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65%</a:t>
            </a:r>
            <a:r>
              <a:rPr b="0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 of your total reactivation opportunity value.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4190695" y="2180844"/>
            <a:ext cx="7429500" cy="3629254"/>
          </a:xfrm>
          <a:prstGeom prst="roundRect">
            <a:avLst>
              <a:gd fmla="val 15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0" name="Google Shape;470;p12"/>
          <p:cNvGraphicFramePr/>
          <p:nvPr/>
        </p:nvGraphicFramePr>
        <p:xfrm>
          <a:off x="4200754" y="2190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{162F6066-B1D2-4EBC-B10D-6545B9B429E1}</a:tableStyleId>
              </a:tblPr>
              <a:tblGrid>
                <a:gridCol w="1315825"/>
                <a:gridCol w="1402700"/>
                <a:gridCol w="1615750"/>
                <a:gridCol w="1344175"/>
                <a:gridCol w="1731875"/>
              </a:tblGrid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CUSTOMER ID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LAST PURCHASE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LAST SERVICE TYPE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LIFETIME VALUE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REACTIVATION SCORE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#1847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HVAC Install (Complete)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9.1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#2910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Premium Maintenance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$2,800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8.9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#4432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Emergency Repair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$4,100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8.7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#1105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System Upgrade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$5,500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8.5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#3321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Annual Tune-up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$1,900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8.2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#5022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Filter Replacement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$1,450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B4530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7.9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1" name="Google Shape;471;p12"/>
          <p:cNvSpPr/>
          <p:nvPr/>
        </p:nvSpPr>
        <p:spPr>
          <a:xfrm>
            <a:off x="4200754" y="6719926"/>
            <a:ext cx="7410298" cy="42885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4200754" y="6719926"/>
            <a:ext cx="7410298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4200754" y="6843370"/>
            <a:ext cx="7411212" cy="3054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228600" spcFirstLastPara="1" rIns="2286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...and 194 more high-priority targets identified in the full appendix.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4" name="Google Shape;47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4719" y="621974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2"/>
          <p:cNvSpPr txBox="1"/>
          <p:nvPr/>
        </p:nvSpPr>
        <p:spPr>
          <a:xfrm>
            <a:off x="9164117" y="6191402"/>
            <a:ext cx="292516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Full list available in attached CSV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 txBox="1"/>
          <p:nvPr/>
        </p:nvSpPr>
        <p:spPr>
          <a:xfrm>
            <a:off x="11704320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8" name="Google Shape;478;p12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2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Target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Top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200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Targets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580644" y="263530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scored all 150 dormant customers based on purchase history, service type, and recency.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 txBox="1"/>
          <p:nvPr/>
        </p:nvSpPr>
        <p:spPr>
          <a:xfrm>
            <a:off x="580644" y="3519526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These top 200 represent the "low-hanging fruit" — the easiest wins with the highest potential value.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5" name="Google Shape;485;p12"/>
          <p:cNvPicPr preferRelativeResize="0"/>
          <p:nvPr/>
        </p:nvPicPr>
        <p:blipFill rotWithShape="1">
          <a:blip r:embed="rId6">
            <a:alphaModFix amt="80000"/>
          </a:blip>
          <a:srcRect b="0" l="0" r="0" t="0"/>
          <a:stretch/>
        </p:blipFill>
        <p:spPr>
          <a:xfrm>
            <a:off x="381305" y="425104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3"/>
          <p:cNvSpPr txBox="1"/>
          <p:nvPr/>
        </p:nvSpPr>
        <p:spPr>
          <a:xfrm>
            <a:off x="4095598" y="476402"/>
            <a:ext cx="762061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Priority Segments for Immediate Action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 txBox="1"/>
          <p:nvPr/>
        </p:nvSpPr>
        <p:spPr>
          <a:xfrm>
            <a:off x="4095598" y="972007"/>
            <a:ext cx="7620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Start with these 3 groups to capture the "low-hanging fruit" in your database.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4095598" y="1485900"/>
            <a:ext cx="2391156" cy="4895698"/>
          </a:xfrm>
          <a:prstGeom prst="roundRect">
            <a:avLst>
              <a:gd fmla="val 36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4105656" y="3047695"/>
            <a:ext cx="2371954" cy="9144"/>
          </a:xfrm>
          <a:prstGeom prst="roundRect">
            <a:avLst>
              <a:gd fmla="val 1463415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4334256" y="1723644"/>
            <a:ext cx="476402" cy="476402"/>
          </a:xfrm>
          <a:prstGeom prst="roundRect">
            <a:avLst>
              <a:gd fmla="val 76775" name="adj"/>
            </a:avLst>
          </a:prstGeom>
          <a:solidFill>
            <a:srgbClr val="E0F2F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9" name="Google Shape;4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902" y="186720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3"/>
          <p:cNvSpPr txBox="1"/>
          <p:nvPr/>
        </p:nvSpPr>
        <p:spPr>
          <a:xfrm>
            <a:off x="4334256" y="2352751"/>
            <a:ext cx="19147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Recent Dormant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 txBox="1"/>
          <p:nvPr/>
        </p:nvSpPr>
        <p:spPr>
          <a:xfrm>
            <a:off x="4334256" y="2632558"/>
            <a:ext cx="19147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6–18 months inactive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 txBox="1"/>
          <p:nvPr/>
        </p:nvSpPr>
        <p:spPr>
          <a:xfrm>
            <a:off x="4334256" y="3285439"/>
            <a:ext cx="19147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4334256" y="3494837"/>
            <a:ext cx="19147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340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4334256" y="4724705"/>
            <a:ext cx="15471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Reactivation Prob.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 txBox="1"/>
          <p:nvPr/>
        </p:nvSpPr>
        <p:spPr>
          <a:xfrm>
            <a:off x="5926226" y="4705502"/>
            <a:ext cx="3246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13"/>
          <p:cNvPicPr preferRelativeResize="0"/>
          <p:nvPr/>
        </p:nvPicPr>
        <p:blipFill rotWithShape="1">
          <a:blip r:embed="rId4">
            <a:alphaModFix/>
          </a:blip>
          <a:srcRect b="0" l="-197" r="-197" t="0"/>
          <a:stretch/>
        </p:blipFill>
        <p:spPr>
          <a:xfrm>
            <a:off x="4334256" y="5009998"/>
            <a:ext cx="1911096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7" name="Google Shape;507;p13"/>
          <p:cNvPicPr preferRelativeResize="0"/>
          <p:nvPr/>
        </p:nvPicPr>
        <p:blipFill rotWithShape="1">
          <a:blip r:embed="rId5">
            <a:alphaModFix/>
          </a:blip>
          <a:srcRect b="0" l="-157" r="-157" t="0"/>
          <a:stretch/>
        </p:blipFill>
        <p:spPr>
          <a:xfrm>
            <a:off x="4334256" y="5009998"/>
            <a:ext cx="477317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3"/>
          <p:cNvSpPr/>
          <p:nvPr/>
        </p:nvSpPr>
        <p:spPr>
          <a:xfrm>
            <a:off x="4105656" y="5315407"/>
            <a:ext cx="2371954" cy="1057046"/>
          </a:xfrm>
          <a:prstGeom prst="roundRect">
            <a:avLst>
              <a:gd fmla="val 187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4105656" y="5315407"/>
            <a:ext cx="2371954" cy="9144"/>
          </a:xfrm>
          <a:prstGeom prst="roundRect">
            <a:avLst>
              <a:gd fmla="val 2162162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3"/>
          <p:cNvSpPr txBox="1"/>
          <p:nvPr/>
        </p:nvSpPr>
        <p:spPr>
          <a:xfrm>
            <a:off x="4257446" y="5477256"/>
            <a:ext cx="2067458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Why: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The memory of your service is still fresh. They haven't established deep loyalty with a competitor yet.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6711696" y="1447495"/>
            <a:ext cx="2391156" cy="4934102"/>
          </a:xfrm>
          <a:prstGeom prst="roundRect">
            <a:avLst>
              <a:gd fmla="val 36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6711696" y="1447495"/>
            <a:ext cx="2391156" cy="38405"/>
          </a:xfrm>
          <a:prstGeom prst="roundRect">
            <a:avLst>
              <a:gd fmla="val 227660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6721754" y="3038551"/>
            <a:ext cx="2371954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6950354" y="1714500"/>
            <a:ext cx="476402" cy="476402"/>
          </a:xfrm>
          <a:prstGeom prst="roundRect">
            <a:avLst>
              <a:gd fmla="val 76775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5" name="Google Shape;51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3001" y="18571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3"/>
          <p:cNvSpPr txBox="1"/>
          <p:nvPr/>
        </p:nvSpPr>
        <p:spPr>
          <a:xfrm>
            <a:off x="6950354" y="2343607"/>
            <a:ext cx="19147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High-Value Past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 txBox="1"/>
          <p:nvPr/>
        </p:nvSpPr>
        <p:spPr>
          <a:xfrm>
            <a:off x="6950354" y="2623414"/>
            <a:ext cx="19147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LTV &gt; $3,000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 txBox="1"/>
          <p:nvPr/>
        </p:nvSpPr>
        <p:spPr>
          <a:xfrm>
            <a:off x="6950354" y="3275381"/>
            <a:ext cx="19147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 txBox="1"/>
          <p:nvPr/>
        </p:nvSpPr>
        <p:spPr>
          <a:xfrm>
            <a:off x="6950354" y="3485693"/>
            <a:ext cx="19147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180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 txBox="1"/>
          <p:nvPr/>
        </p:nvSpPr>
        <p:spPr>
          <a:xfrm>
            <a:off x="6950354" y="4724705"/>
            <a:ext cx="15471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Reactivation Prob.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 txBox="1"/>
          <p:nvPr/>
        </p:nvSpPr>
        <p:spPr>
          <a:xfrm>
            <a:off x="8528609" y="4705502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2" name="Google Shape;522;p13"/>
          <p:cNvPicPr preferRelativeResize="0"/>
          <p:nvPr/>
        </p:nvPicPr>
        <p:blipFill rotWithShape="1">
          <a:blip r:embed="rId4">
            <a:alphaModFix/>
          </a:blip>
          <a:srcRect b="0" l="-193" r="-193" t="0"/>
          <a:stretch/>
        </p:blipFill>
        <p:spPr>
          <a:xfrm>
            <a:off x="6950354" y="5009998"/>
            <a:ext cx="1911096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3" name="Google Shape;523;p13"/>
          <p:cNvPicPr preferRelativeResize="0"/>
          <p:nvPr/>
        </p:nvPicPr>
        <p:blipFill rotWithShape="1">
          <a:blip r:embed="rId7">
            <a:alphaModFix/>
          </a:blip>
          <a:srcRect b="0" l="-205" r="-205" t="0"/>
          <a:stretch/>
        </p:blipFill>
        <p:spPr>
          <a:xfrm>
            <a:off x="6950354" y="5009998"/>
            <a:ext cx="573329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3"/>
          <p:cNvSpPr/>
          <p:nvPr/>
        </p:nvSpPr>
        <p:spPr>
          <a:xfrm>
            <a:off x="6721754" y="5315407"/>
            <a:ext cx="2371954" cy="1057046"/>
          </a:xfrm>
          <a:prstGeom prst="roundRect">
            <a:avLst>
              <a:gd fmla="val 187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6721754" y="5315407"/>
            <a:ext cx="2371954" cy="9144"/>
          </a:xfrm>
          <a:prstGeom prst="roundRect">
            <a:avLst>
              <a:gd fmla="val 2162162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3"/>
          <p:cNvSpPr txBox="1"/>
          <p:nvPr/>
        </p:nvSpPr>
        <p:spPr>
          <a:xfrm>
            <a:off x="6873545" y="5477256"/>
            <a:ext cx="2067458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Why: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Proven spenders who appreciate quality. They are worth higher-cost outreach (phone/direct mail).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9327794" y="1485900"/>
            <a:ext cx="2391156" cy="4895698"/>
          </a:xfrm>
          <a:prstGeom prst="roundRect">
            <a:avLst>
              <a:gd fmla="val 36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9337853" y="3047695"/>
            <a:ext cx="2371954" cy="9144"/>
          </a:xfrm>
          <a:prstGeom prst="roundRect">
            <a:avLst>
              <a:gd fmla="val 1463415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9566453" y="1723644"/>
            <a:ext cx="476402" cy="476402"/>
          </a:xfrm>
          <a:prstGeom prst="roundRect">
            <a:avLst>
              <a:gd fmla="val 76775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0" name="Google Shape;530;p13"/>
          <p:cNvPicPr preferRelativeResize="0"/>
          <p:nvPr/>
        </p:nvPicPr>
        <p:blipFill rotWithShape="1">
          <a:blip r:embed="rId8">
            <a:alphaModFix/>
          </a:blip>
          <a:srcRect b="0" l="-1282" r="-1282" t="0"/>
          <a:stretch/>
        </p:blipFill>
        <p:spPr>
          <a:xfrm>
            <a:off x="9694469" y="186720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3"/>
          <p:cNvSpPr txBox="1"/>
          <p:nvPr/>
        </p:nvSpPr>
        <p:spPr>
          <a:xfrm>
            <a:off x="9566453" y="2352751"/>
            <a:ext cx="2202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Multi-Service Buyers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 txBox="1"/>
          <p:nvPr/>
        </p:nvSpPr>
        <p:spPr>
          <a:xfrm>
            <a:off x="9566453" y="2632558"/>
            <a:ext cx="19147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Purchased 3+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9566453" y="3285439"/>
            <a:ext cx="19147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 txBox="1"/>
          <p:nvPr/>
        </p:nvSpPr>
        <p:spPr>
          <a:xfrm>
            <a:off x="9566453" y="3494837"/>
            <a:ext cx="19147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125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 txBox="1"/>
          <p:nvPr/>
        </p:nvSpPr>
        <p:spPr>
          <a:xfrm>
            <a:off x="9566453" y="4910328"/>
            <a:ext cx="15471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Reactivation Prob.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 txBox="1"/>
          <p:nvPr/>
        </p:nvSpPr>
        <p:spPr>
          <a:xfrm>
            <a:off x="11159338" y="4891126"/>
            <a:ext cx="3246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35%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13"/>
          <p:cNvPicPr preferRelativeResize="0"/>
          <p:nvPr/>
        </p:nvPicPr>
        <p:blipFill rotWithShape="1">
          <a:blip r:embed="rId4">
            <a:alphaModFix/>
          </a:blip>
          <a:srcRect b="0" l="-193" r="-193" t="0"/>
          <a:stretch/>
        </p:blipFill>
        <p:spPr>
          <a:xfrm>
            <a:off x="9566453" y="5195621"/>
            <a:ext cx="1911096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13"/>
          <p:cNvPicPr preferRelativeResize="0"/>
          <p:nvPr/>
        </p:nvPicPr>
        <p:blipFill rotWithShape="1">
          <a:blip r:embed="rId9">
            <a:alphaModFix/>
          </a:blip>
          <a:srcRect b="0" l="-228" r="-228" t="0"/>
          <a:stretch/>
        </p:blipFill>
        <p:spPr>
          <a:xfrm>
            <a:off x="9566453" y="5195621"/>
            <a:ext cx="669341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3"/>
          <p:cNvSpPr/>
          <p:nvPr/>
        </p:nvSpPr>
        <p:spPr>
          <a:xfrm>
            <a:off x="9337853" y="5501030"/>
            <a:ext cx="2371954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9337853" y="5501030"/>
            <a:ext cx="2371954" cy="9144"/>
          </a:xfrm>
          <a:prstGeom prst="roundRect">
            <a:avLst>
              <a:gd fmla="val 2608696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3"/>
          <p:cNvSpPr txBox="1"/>
          <p:nvPr/>
        </p:nvSpPr>
        <p:spPr>
          <a:xfrm>
            <a:off x="9489643" y="5662879"/>
            <a:ext cx="206745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Why: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Highest trust level. They viewed you as their "go-to" partner. Usually just need a reminder.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 txBox="1"/>
          <p:nvPr/>
        </p:nvSpPr>
        <p:spPr>
          <a:xfrm>
            <a:off x="11705234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4" name="Google Shape;544;p13"/>
          <p:cNvPicPr preferRelativeResize="0"/>
          <p:nvPr/>
        </p:nvPicPr>
        <p:blipFill rotWithShape="1">
          <a:blip r:embed="rId10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3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Quick-Win Segments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3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Fastest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Revenue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381305" y="3116275"/>
            <a:ext cx="9144" cy="1133856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 txBox="1"/>
          <p:nvPr/>
        </p:nvSpPr>
        <p:spPr>
          <a:xfrm>
            <a:off x="580644" y="3116275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all dormant customers are equal.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 txBox="1"/>
          <p:nvPr/>
        </p:nvSpPr>
        <p:spPr>
          <a:xfrm>
            <a:off x="580644" y="3512210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identified three specific segments that offer the path of least resistance for immediate cash flow.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1" name="Google Shape;551;p13"/>
          <p:cNvPicPr preferRelativeResize="0"/>
          <p:nvPr/>
        </p:nvPicPr>
        <p:blipFill rotWithShape="1">
          <a:blip r:embed="rId11">
            <a:alphaModFix amt="80000"/>
          </a:blip>
          <a:srcRect b="0" l="0" r="0" t="0"/>
          <a:stretch/>
        </p:blipFill>
        <p:spPr>
          <a:xfrm>
            <a:off x="381305" y="4243730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4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Math of Partial Success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4381805" y="1410005"/>
            <a:ext cx="2076602" cy="1752905"/>
          </a:xfrm>
          <a:prstGeom prst="roundRect">
            <a:avLst>
              <a:gd fmla="val 680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4381805" y="3124505"/>
            <a:ext cx="2076602" cy="38405"/>
          </a:xfrm>
          <a:prstGeom prst="roundRect">
            <a:avLst>
              <a:gd fmla="val 310557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4572000" y="1600200"/>
            <a:ext cx="342900" cy="342900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4" name="Google Shape;564;p14"/>
          <p:cNvPicPr preferRelativeResize="0"/>
          <p:nvPr/>
        </p:nvPicPr>
        <p:blipFill rotWithShape="1">
          <a:blip r:embed="rId3">
            <a:alphaModFix/>
          </a:blip>
          <a:srcRect b="-43" l="0" r="0" t="-43"/>
          <a:stretch/>
        </p:blipFill>
        <p:spPr>
          <a:xfrm>
            <a:off x="4677156" y="1695298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4"/>
          <p:cNvSpPr txBox="1"/>
          <p:nvPr/>
        </p:nvSpPr>
        <p:spPr>
          <a:xfrm>
            <a:off x="4572000" y="2057400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Dormant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 txBox="1"/>
          <p:nvPr/>
        </p:nvSpPr>
        <p:spPr>
          <a:xfrm>
            <a:off x="4572000" y="2324405"/>
            <a:ext cx="16962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150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 txBox="1"/>
          <p:nvPr/>
        </p:nvSpPr>
        <p:spPr>
          <a:xfrm>
            <a:off x="4572000" y="2762402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Total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 txBox="1"/>
          <p:nvPr/>
        </p:nvSpPr>
        <p:spPr>
          <a:xfrm>
            <a:off x="6596482" y="2115007"/>
            <a:ext cx="1426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869887" y="1410005"/>
            <a:ext cx="2076602" cy="1752905"/>
          </a:xfrm>
          <a:prstGeom prst="roundRect">
            <a:avLst>
              <a:gd fmla="val 680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6869887" y="3124505"/>
            <a:ext cx="2076602" cy="38405"/>
          </a:xfrm>
          <a:prstGeom prst="roundRect">
            <a:avLst>
              <a:gd fmla="val 310557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7060082" y="1600200"/>
            <a:ext cx="342900" cy="3429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2" name="Google Shape;5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5180" y="169529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4"/>
          <p:cNvSpPr txBox="1"/>
          <p:nvPr/>
        </p:nvSpPr>
        <p:spPr>
          <a:xfrm>
            <a:off x="7060082" y="2057400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Success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 txBox="1"/>
          <p:nvPr/>
        </p:nvSpPr>
        <p:spPr>
          <a:xfrm>
            <a:off x="7060082" y="2324405"/>
            <a:ext cx="16962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 txBox="1"/>
          <p:nvPr/>
        </p:nvSpPr>
        <p:spPr>
          <a:xfrm>
            <a:off x="7060082" y="2762402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Conservative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 txBox="1"/>
          <p:nvPr/>
        </p:nvSpPr>
        <p:spPr>
          <a:xfrm>
            <a:off x="9084564" y="2115007"/>
            <a:ext cx="1426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9357970" y="1410005"/>
            <a:ext cx="2076602" cy="1752905"/>
          </a:xfrm>
          <a:prstGeom prst="roundRect">
            <a:avLst>
              <a:gd fmla="val 680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9357970" y="3124505"/>
            <a:ext cx="2076602" cy="38405"/>
          </a:xfrm>
          <a:prstGeom prst="roundRect">
            <a:avLst>
              <a:gd fmla="val 310557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9549079" y="1600200"/>
            <a:ext cx="342900" cy="342900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0" name="Google Shape;580;p14"/>
          <p:cNvPicPr preferRelativeResize="0"/>
          <p:nvPr/>
        </p:nvPicPr>
        <p:blipFill rotWithShape="1">
          <a:blip r:embed="rId5">
            <a:alphaModFix/>
          </a:blip>
          <a:srcRect b="-180" l="0" r="0" t="-180"/>
          <a:stretch/>
        </p:blipFill>
        <p:spPr>
          <a:xfrm>
            <a:off x="9624974" y="1695298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4"/>
          <p:cNvSpPr txBox="1"/>
          <p:nvPr/>
        </p:nvSpPr>
        <p:spPr>
          <a:xfrm>
            <a:off x="9549079" y="2057400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Reactivated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 txBox="1"/>
          <p:nvPr/>
        </p:nvSpPr>
        <p:spPr>
          <a:xfrm>
            <a:off x="9549079" y="2324405"/>
            <a:ext cx="16962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432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 txBox="1"/>
          <p:nvPr/>
        </p:nvSpPr>
        <p:spPr>
          <a:xfrm>
            <a:off x="9549079" y="2762402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Active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4" name="Google Shape;584;p14"/>
          <p:cNvPicPr preferRelativeResize="0"/>
          <p:nvPr/>
        </p:nvPicPr>
        <p:blipFill rotWithShape="1">
          <a:blip r:embed="rId6">
            <a:alphaModFix/>
          </a:blip>
          <a:srcRect b="-2" l="0" r="0" t="-2"/>
          <a:stretch/>
        </p:blipFill>
        <p:spPr>
          <a:xfrm>
            <a:off x="4381805" y="3543300"/>
            <a:ext cx="704819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4"/>
          <p:cNvSpPr/>
          <p:nvPr/>
        </p:nvSpPr>
        <p:spPr>
          <a:xfrm>
            <a:off x="4381805" y="3543300"/>
            <a:ext cx="75895" cy="203819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4"/>
          <p:cNvSpPr txBox="1"/>
          <p:nvPr/>
        </p:nvSpPr>
        <p:spPr>
          <a:xfrm>
            <a:off x="4677156" y="3838651"/>
            <a:ext cx="64584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Recovered Annual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 txBox="1"/>
          <p:nvPr/>
        </p:nvSpPr>
        <p:spPr>
          <a:xfrm>
            <a:off x="4677156" y="4134002"/>
            <a:ext cx="6458407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 txBox="1"/>
          <p:nvPr/>
        </p:nvSpPr>
        <p:spPr>
          <a:xfrm>
            <a:off x="4677156" y="4858207"/>
            <a:ext cx="6458407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That's pure revenue added to your top line </a:t>
            </a:r>
            <a:r>
              <a:rPr b="1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without spending a dollar</a:t>
            </a: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on new leads.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9" name="Google Shape;58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1805" y="592439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4"/>
          <p:cNvSpPr txBox="1"/>
          <p:nvPr/>
        </p:nvSpPr>
        <p:spPr>
          <a:xfrm>
            <a:off x="4724705" y="5886907"/>
            <a:ext cx="619140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Why 30%?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Based on industry benchmarks for multi-touch reactivation campaigns, 30% is a realistic target for customers dormant 6-18 months. Even a 20% success rate would yield over $30,000.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 txBox="1"/>
          <p:nvPr/>
        </p:nvSpPr>
        <p:spPr>
          <a:xfrm>
            <a:off x="11694262" y="6400800"/>
            <a:ext cx="1563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3" name="Google Shape;593;p14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4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Strategic Advantage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30%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Rule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381305" y="2155241"/>
            <a:ext cx="9144" cy="1772107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 txBox="1"/>
          <p:nvPr/>
        </p:nvSpPr>
        <p:spPr>
          <a:xfrm>
            <a:off x="580644" y="2155241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 don't need to win everyone back.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 txBox="1"/>
          <p:nvPr/>
        </p:nvSpPr>
        <p:spPr>
          <a:xfrm>
            <a:off x="580644" y="2552090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Reactivating just a fraction of your dormant list yields massive returns compared to the cost of acquisition.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 txBox="1"/>
          <p:nvPr/>
        </p:nvSpPr>
        <p:spPr>
          <a:xfrm>
            <a:off x="580644" y="34354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isn't about volume—it's about efficiency.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1" name="Google Shape;601;p14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92277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5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Projected Revenue Ramp-Up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4190695" y="1218895"/>
            <a:ext cx="7429500" cy="3038551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2" name="Google Shape;612;p15"/>
          <p:cNvPicPr preferRelativeResize="0"/>
          <p:nvPr/>
        </p:nvPicPr>
        <p:blipFill rotWithShape="1">
          <a:blip r:embed="rId3">
            <a:alphaModFix/>
          </a:blip>
          <a:srcRect b="0" l="-7" r="-7" t="0"/>
          <a:stretch/>
        </p:blipFill>
        <p:spPr>
          <a:xfrm>
            <a:off x="4476902" y="1410005"/>
            <a:ext cx="6858000" cy="275234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5"/>
          <p:cNvSpPr/>
          <p:nvPr/>
        </p:nvSpPr>
        <p:spPr>
          <a:xfrm>
            <a:off x="4190695" y="4486046"/>
            <a:ext cx="2352751" cy="1238098"/>
          </a:xfrm>
          <a:prstGeom prst="roundRect">
            <a:avLst>
              <a:gd fmla="val 113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4190695" y="4486046"/>
            <a:ext cx="2352751" cy="38405"/>
          </a:xfrm>
          <a:prstGeom prst="roundRect">
            <a:avLst>
              <a:gd fmla="val 36629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5"/>
          <p:cNvSpPr txBox="1"/>
          <p:nvPr/>
        </p:nvSpPr>
        <p:spPr>
          <a:xfrm>
            <a:off x="4381805" y="4714646"/>
            <a:ext cx="19723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1: Foundation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 txBox="1"/>
          <p:nvPr/>
        </p:nvSpPr>
        <p:spPr>
          <a:xfrm>
            <a:off x="4381805" y="4962449"/>
            <a:ext cx="19723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$20,619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5"/>
          <p:cNvSpPr txBox="1"/>
          <p:nvPr/>
        </p:nvSpPr>
        <p:spPr>
          <a:xfrm>
            <a:off x="4591202" y="5343754"/>
            <a:ext cx="176296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28 Reactivations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8" name="Google Shape;618;p15"/>
          <p:cNvPicPr preferRelativeResize="0"/>
          <p:nvPr/>
        </p:nvPicPr>
        <p:blipFill rotWithShape="1">
          <a:blip r:embed="rId4">
            <a:alphaModFix/>
          </a:blip>
          <a:srcRect b="-524" l="0" r="0" t="-524"/>
          <a:stretch/>
        </p:blipFill>
        <p:spPr>
          <a:xfrm>
            <a:off x="4381805" y="5374843"/>
            <a:ext cx="152705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5"/>
          <p:cNvSpPr/>
          <p:nvPr/>
        </p:nvSpPr>
        <p:spPr>
          <a:xfrm>
            <a:off x="6730898" y="4486046"/>
            <a:ext cx="2352751" cy="1238098"/>
          </a:xfrm>
          <a:prstGeom prst="roundRect">
            <a:avLst>
              <a:gd fmla="val 113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6730898" y="4486046"/>
            <a:ext cx="2352751" cy="38405"/>
          </a:xfrm>
          <a:prstGeom prst="roundRect">
            <a:avLst>
              <a:gd fmla="val 36629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5"/>
          <p:cNvSpPr txBox="1"/>
          <p:nvPr/>
        </p:nvSpPr>
        <p:spPr>
          <a:xfrm>
            <a:off x="6921094" y="4714646"/>
            <a:ext cx="19723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2: Momentum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 txBox="1"/>
          <p:nvPr/>
        </p:nvSpPr>
        <p:spPr>
          <a:xfrm>
            <a:off x="6921094" y="4962449"/>
            <a:ext cx="19723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$38,292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5"/>
          <p:cNvSpPr txBox="1"/>
          <p:nvPr/>
        </p:nvSpPr>
        <p:spPr>
          <a:xfrm>
            <a:off x="7130491" y="5343754"/>
            <a:ext cx="176296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52 Reactivations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4" name="Google Shape;624;p15"/>
          <p:cNvPicPr preferRelativeResize="0"/>
          <p:nvPr/>
        </p:nvPicPr>
        <p:blipFill rotWithShape="1">
          <a:blip r:embed="rId4">
            <a:alphaModFix/>
          </a:blip>
          <a:srcRect b="-524" l="0" r="0" t="-524"/>
          <a:stretch/>
        </p:blipFill>
        <p:spPr>
          <a:xfrm>
            <a:off x="6921094" y="5374843"/>
            <a:ext cx="152705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5"/>
          <p:cNvSpPr/>
          <p:nvPr/>
        </p:nvSpPr>
        <p:spPr>
          <a:xfrm>
            <a:off x="9271102" y="4486046"/>
            <a:ext cx="2352751" cy="1238098"/>
          </a:xfrm>
          <a:prstGeom prst="roundRect">
            <a:avLst>
              <a:gd fmla="val 1136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9271102" y="4486046"/>
            <a:ext cx="2352751" cy="38405"/>
          </a:xfrm>
          <a:prstGeom prst="roundRect">
            <a:avLst>
              <a:gd fmla="val 366298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5"/>
          <p:cNvSpPr txBox="1"/>
          <p:nvPr/>
        </p:nvSpPr>
        <p:spPr>
          <a:xfrm>
            <a:off x="9461297" y="4714646"/>
            <a:ext cx="19723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3: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 txBox="1"/>
          <p:nvPr/>
        </p:nvSpPr>
        <p:spPr>
          <a:xfrm>
            <a:off x="9461297" y="4962449"/>
            <a:ext cx="19723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$58,911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9" name="Google Shape;629;p15"/>
          <p:cNvPicPr preferRelativeResize="0"/>
          <p:nvPr/>
        </p:nvPicPr>
        <p:blipFill rotWithShape="1">
          <a:blip r:embed="rId5">
            <a:alphaModFix/>
          </a:blip>
          <a:srcRect b="-524" l="0" r="0" t="-524"/>
          <a:stretch/>
        </p:blipFill>
        <p:spPr>
          <a:xfrm>
            <a:off x="9461297" y="5374843"/>
            <a:ext cx="152705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5"/>
          <p:cNvSpPr txBox="1"/>
          <p:nvPr/>
        </p:nvSpPr>
        <p:spPr>
          <a:xfrm>
            <a:off x="9670694" y="5343754"/>
            <a:ext cx="137617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047857"/>
                </a:solidFill>
                <a:latin typeface="Open Sans"/>
                <a:ea typeface="Open Sans"/>
                <a:cs typeface="Open Sans"/>
                <a:sym typeface="Open Sans"/>
              </a:rPr>
              <a:t>79 Reactivations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1" name="Google Shape;631;p15"/>
          <p:cNvPicPr preferRelativeResize="0"/>
          <p:nvPr/>
        </p:nvPicPr>
        <p:blipFill rotWithShape="1">
          <a:blip r:embed="rId6">
            <a:alphaModFix/>
          </a:blip>
          <a:srcRect b="-521" l="0" r="0" t="-521"/>
          <a:stretch/>
        </p:blipFill>
        <p:spPr>
          <a:xfrm>
            <a:off x="4190695" y="5910682"/>
            <a:ext cx="7429500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5"/>
          <p:cNvSpPr txBox="1"/>
          <p:nvPr/>
        </p:nvSpPr>
        <p:spPr>
          <a:xfrm>
            <a:off x="4533595" y="5910682"/>
            <a:ext cx="70866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Projections based on average HVAC ticket value of $300-$350 and standard campaign conversion curves.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3" name="Google Shape;6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4256" y="6078017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5"/>
          <p:cNvSpPr txBox="1"/>
          <p:nvPr/>
        </p:nvSpPr>
        <p:spPr>
          <a:xfrm>
            <a:off x="11705234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36" name="Google Shape;636;p15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Revenue Projection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5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5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90-Day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Forecast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5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5"/>
          <p:cNvSpPr txBox="1"/>
          <p:nvPr/>
        </p:nvSpPr>
        <p:spPr>
          <a:xfrm>
            <a:off x="580644" y="215524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Reactivation isn't instant—it builds momentum.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5"/>
          <p:cNvSpPr txBox="1"/>
          <p:nvPr/>
        </p:nvSpPr>
        <p:spPr>
          <a:xfrm>
            <a:off x="580644" y="279532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multi-touch campaigns saturate your list, response rates (and revenue) compound month over month.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3" name="Google Shape;643;p15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77098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4" name="Google Shape;644;p15"/>
          <p:cNvPicPr preferRelativeResize="0"/>
          <p:nvPr/>
        </p:nvPicPr>
        <p:blipFill rotWithShape="1">
          <a:blip r:embed="rId10">
            <a:alphaModFix/>
          </a:blip>
          <a:srcRect b="0" l="-2" r="-2" t="0"/>
          <a:stretch/>
        </p:blipFill>
        <p:spPr>
          <a:xfrm>
            <a:off x="9567367" y="476402"/>
            <a:ext cx="2053742" cy="116220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5"/>
          <p:cNvSpPr txBox="1"/>
          <p:nvPr/>
        </p:nvSpPr>
        <p:spPr>
          <a:xfrm>
            <a:off x="9595714" y="666598"/>
            <a:ext cx="17437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Total 90-Day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 txBox="1"/>
          <p:nvPr/>
        </p:nvSpPr>
        <p:spPr>
          <a:xfrm>
            <a:off x="9731959" y="886054"/>
            <a:ext cx="16075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$36,800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 txBox="1"/>
          <p:nvPr/>
        </p:nvSpPr>
        <p:spPr>
          <a:xfrm>
            <a:off x="9852660" y="1276502"/>
            <a:ext cx="14859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Conservative Estimate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6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Reactivation vs. New Acquisition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7" name="Google Shape;657;p16"/>
          <p:cNvPicPr preferRelativeResize="0"/>
          <p:nvPr/>
        </p:nvPicPr>
        <p:blipFill rotWithShape="1">
          <a:blip r:embed="rId3">
            <a:alphaModFix/>
          </a:blip>
          <a:srcRect b="0" l="-2" r="-2" t="0"/>
          <a:stretch/>
        </p:blipFill>
        <p:spPr>
          <a:xfrm>
            <a:off x="4190695" y="1314907"/>
            <a:ext cx="3524098" cy="361919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16"/>
          <p:cNvSpPr/>
          <p:nvPr/>
        </p:nvSpPr>
        <p:spPr>
          <a:xfrm>
            <a:off x="4476902" y="2362810"/>
            <a:ext cx="2952598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4476902" y="1686154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FEF2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0" name="Google Shape;6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630" y="1819656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16"/>
          <p:cNvSpPr txBox="1"/>
          <p:nvPr/>
        </p:nvSpPr>
        <p:spPr>
          <a:xfrm>
            <a:off x="5086807" y="1657807"/>
            <a:ext cx="1334110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New Customer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Acquisition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6"/>
          <p:cNvSpPr txBox="1"/>
          <p:nvPr/>
        </p:nvSpPr>
        <p:spPr>
          <a:xfrm>
            <a:off x="4476902" y="2614270"/>
            <a:ext cx="13533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Marketing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6"/>
          <p:cNvSpPr txBox="1"/>
          <p:nvPr/>
        </p:nvSpPr>
        <p:spPr>
          <a:xfrm>
            <a:off x="6791249" y="2600554"/>
            <a:ext cx="6876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$500.00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6"/>
          <p:cNvSpPr txBox="1"/>
          <p:nvPr/>
        </p:nvSpPr>
        <p:spPr>
          <a:xfrm>
            <a:off x="4476902" y="2995574"/>
            <a:ext cx="135605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Conversion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6"/>
          <p:cNvSpPr txBox="1"/>
          <p:nvPr/>
        </p:nvSpPr>
        <p:spPr>
          <a:xfrm>
            <a:off x="7062826" y="2980944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2.0%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6"/>
          <p:cNvSpPr txBox="1"/>
          <p:nvPr/>
        </p:nvSpPr>
        <p:spPr>
          <a:xfrm>
            <a:off x="4476902" y="3376879"/>
            <a:ext cx="135605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Sales Generated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 txBox="1"/>
          <p:nvPr/>
        </p:nvSpPr>
        <p:spPr>
          <a:xfrm>
            <a:off x="7251192" y="3362249"/>
            <a:ext cx="1965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~2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4476902" y="3819449"/>
            <a:ext cx="2952598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6"/>
          <p:cNvSpPr txBox="1"/>
          <p:nvPr/>
        </p:nvSpPr>
        <p:spPr>
          <a:xfrm>
            <a:off x="4476902" y="4019702"/>
            <a:ext cx="29535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Cost Per Sale (CAC)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 txBox="1"/>
          <p:nvPr/>
        </p:nvSpPr>
        <p:spPr>
          <a:xfrm>
            <a:off x="4476902" y="4267505"/>
            <a:ext cx="29535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$250.00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1" name="Google Shape;671;p16"/>
          <p:cNvPicPr preferRelativeResize="0"/>
          <p:nvPr/>
        </p:nvPicPr>
        <p:blipFill rotWithShape="1">
          <a:blip r:embed="rId5">
            <a:alphaModFix/>
          </a:blip>
          <a:srcRect b="0" l="-198" r="-198" t="0"/>
          <a:stretch/>
        </p:blipFill>
        <p:spPr>
          <a:xfrm>
            <a:off x="4476902" y="4819802"/>
            <a:ext cx="2952598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2" name="Google Shape;672;p16"/>
          <p:cNvPicPr preferRelativeResize="0"/>
          <p:nvPr/>
        </p:nvPicPr>
        <p:blipFill rotWithShape="1">
          <a:blip r:embed="rId6">
            <a:alphaModFix/>
          </a:blip>
          <a:srcRect b="0" l="-198" r="-198" t="0"/>
          <a:stretch/>
        </p:blipFill>
        <p:spPr>
          <a:xfrm>
            <a:off x="4476902" y="4819802"/>
            <a:ext cx="2952598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16"/>
          <p:cNvSpPr/>
          <p:nvPr/>
        </p:nvSpPr>
        <p:spPr>
          <a:xfrm>
            <a:off x="4190695" y="5219395"/>
            <a:ext cx="7429500" cy="523951"/>
          </a:xfrm>
          <a:prstGeom prst="roundRect">
            <a:avLst>
              <a:gd fmla="val 50769" name="adj"/>
            </a:avLst>
          </a:prstGeom>
          <a:solidFill>
            <a:srgbClr val="FFFBEB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4" name="Google Shape;67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29354" y="5386730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16"/>
          <p:cNvSpPr txBox="1"/>
          <p:nvPr/>
        </p:nvSpPr>
        <p:spPr>
          <a:xfrm>
            <a:off x="4724705" y="5219395"/>
            <a:ext cx="64675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Bottom Line:</a:t>
            </a:r>
            <a:r>
              <a:rPr b="0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 You can acquire </a:t>
            </a:r>
            <a:r>
              <a:rPr b="1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40 reactivated customers</a:t>
            </a:r>
            <a:r>
              <a:rPr b="0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 for the same cost as finding </a:t>
            </a:r>
            <a:r>
              <a:rPr b="1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1 new stranger</a:t>
            </a:r>
            <a:r>
              <a:rPr b="0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 txBox="1"/>
          <p:nvPr/>
        </p:nvSpPr>
        <p:spPr>
          <a:xfrm>
            <a:off x="11699748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7" name="Google Shape;677;p16"/>
          <p:cNvPicPr preferRelativeResize="0"/>
          <p:nvPr/>
        </p:nvPicPr>
        <p:blipFill rotWithShape="1">
          <a:blip r:embed="rId8">
            <a:alphaModFix/>
          </a:blip>
          <a:srcRect b="0" l="-3" r="-3" t="0"/>
          <a:stretch/>
        </p:blipFill>
        <p:spPr>
          <a:xfrm>
            <a:off x="8061350" y="1278331"/>
            <a:ext cx="3594506" cy="3691433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6"/>
          <p:cNvSpPr/>
          <p:nvPr/>
        </p:nvSpPr>
        <p:spPr>
          <a:xfrm>
            <a:off x="8352130" y="2351837"/>
            <a:ext cx="3019349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6"/>
          <p:cNvSpPr/>
          <p:nvPr/>
        </p:nvSpPr>
        <p:spPr>
          <a:xfrm>
            <a:off x="8352130" y="1656893"/>
            <a:ext cx="466344" cy="466344"/>
          </a:xfrm>
          <a:prstGeom prst="roundRect">
            <a:avLst>
              <a:gd fmla="val 96038" name="adj"/>
            </a:avLst>
          </a:prstGeom>
          <a:solidFill>
            <a:srgbClr val="DCFCE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0" name="Google Shape;68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8375" y="1793138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6"/>
          <p:cNvSpPr txBox="1"/>
          <p:nvPr/>
        </p:nvSpPr>
        <p:spPr>
          <a:xfrm>
            <a:off x="8973922" y="1627632"/>
            <a:ext cx="1381658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Dormant Asset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Reactivation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 txBox="1"/>
          <p:nvPr/>
        </p:nvSpPr>
        <p:spPr>
          <a:xfrm>
            <a:off x="8352130" y="2604211"/>
            <a:ext cx="127467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Campaign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6"/>
          <p:cNvSpPr txBox="1"/>
          <p:nvPr/>
        </p:nvSpPr>
        <p:spPr>
          <a:xfrm>
            <a:off x="10830154" y="2589581"/>
            <a:ext cx="58887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$75.00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6"/>
          <p:cNvSpPr txBox="1"/>
          <p:nvPr/>
        </p:nvSpPr>
        <p:spPr>
          <a:xfrm>
            <a:off x="8352130" y="2992831"/>
            <a:ext cx="135879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Conversion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 txBox="1"/>
          <p:nvPr/>
        </p:nvSpPr>
        <p:spPr>
          <a:xfrm>
            <a:off x="10929823" y="2978201"/>
            <a:ext cx="490118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12.0%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 txBox="1"/>
          <p:nvPr/>
        </p:nvSpPr>
        <p:spPr>
          <a:xfrm>
            <a:off x="8352130" y="3381451"/>
            <a:ext cx="135879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Sales Generated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6"/>
          <p:cNvSpPr txBox="1"/>
          <p:nvPr/>
        </p:nvSpPr>
        <p:spPr>
          <a:xfrm>
            <a:off x="11121847" y="3366821"/>
            <a:ext cx="29352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~12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8352130" y="3833165"/>
            <a:ext cx="3019349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6"/>
          <p:cNvSpPr txBox="1"/>
          <p:nvPr/>
        </p:nvSpPr>
        <p:spPr>
          <a:xfrm>
            <a:off x="8352130" y="4037076"/>
            <a:ext cx="3020263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Cost Per Sale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 txBox="1"/>
          <p:nvPr/>
        </p:nvSpPr>
        <p:spPr>
          <a:xfrm>
            <a:off x="8352130" y="4290365"/>
            <a:ext cx="3020263" cy="4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$6.25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1" name="Google Shape;691;p16"/>
          <p:cNvPicPr preferRelativeResize="0"/>
          <p:nvPr/>
        </p:nvPicPr>
        <p:blipFill rotWithShape="1">
          <a:blip r:embed="rId10">
            <a:alphaModFix/>
          </a:blip>
          <a:srcRect b="0" l="-4" r="-4" t="0"/>
          <a:stretch/>
        </p:blipFill>
        <p:spPr>
          <a:xfrm>
            <a:off x="8352130" y="4853635"/>
            <a:ext cx="3012034" cy="77724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16"/>
          <p:cNvSpPr/>
          <p:nvPr/>
        </p:nvSpPr>
        <p:spPr>
          <a:xfrm>
            <a:off x="8352130" y="4853635"/>
            <a:ext cx="75895" cy="85954"/>
          </a:xfrm>
          <a:prstGeom prst="roundRect">
            <a:avLst>
              <a:gd fmla="val 1204822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4" name="Google Shape;694;p16"/>
          <p:cNvPicPr preferRelativeResize="0"/>
          <p:nvPr/>
        </p:nvPicPr>
        <p:blipFill rotWithShape="1">
          <a:blip r:embed="rId11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16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Opportunity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6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ROI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6"/>
          <p:cNvSpPr txBox="1"/>
          <p:nvPr/>
        </p:nvSpPr>
        <p:spPr>
          <a:xfrm>
            <a:off x="580644" y="2155241"/>
            <a:ext cx="2658161" cy="121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When we compare the unit economics of acquiring a new customer versus reactivating an asset you already own, the difference isn't just marginal.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 txBox="1"/>
          <p:nvPr/>
        </p:nvSpPr>
        <p:spPr>
          <a:xfrm>
            <a:off x="580644" y="3526841"/>
            <a:ext cx="265816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It's exponential.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1" name="Google Shape;701;p16"/>
          <p:cNvPicPr preferRelativeResize="0"/>
          <p:nvPr/>
        </p:nvPicPr>
        <p:blipFill rotWithShape="1">
          <a:blip r:embed="rId12">
            <a:alphaModFix amt="80000"/>
          </a:blip>
          <a:srcRect b="0" l="0" r="0" t="0"/>
          <a:stretch/>
        </p:blipFill>
        <p:spPr>
          <a:xfrm>
            <a:off x="381305" y="377098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2" name="Google Shape;702;p16"/>
          <p:cNvPicPr preferRelativeResize="0"/>
          <p:nvPr/>
        </p:nvPicPr>
        <p:blipFill rotWithShape="1">
          <a:blip r:embed="rId13">
            <a:alphaModFix/>
          </a:blip>
          <a:srcRect b="0" l="-160" r="-160" t="0"/>
          <a:stretch/>
        </p:blipFill>
        <p:spPr>
          <a:xfrm>
            <a:off x="6756502" y="2790749"/>
            <a:ext cx="2305202" cy="666598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6"/>
          <p:cNvSpPr/>
          <p:nvPr/>
        </p:nvSpPr>
        <p:spPr>
          <a:xfrm>
            <a:off x="7141271" y="2790750"/>
            <a:ext cx="2305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40x Better ROI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4" name="Google Shape;704;p16"/>
          <p:cNvPicPr preferRelativeResize="0"/>
          <p:nvPr/>
        </p:nvPicPr>
        <p:blipFill rotWithShape="1">
          <a:blip r:embed="rId14">
            <a:alphaModFix/>
          </a:blip>
          <a:srcRect b="0" l="-1648" r="-1648" t="0"/>
          <a:stretch/>
        </p:blipFill>
        <p:spPr>
          <a:xfrm>
            <a:off x="7023506" y="3029407"/>
            <a:ext cx="171907" cy="190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7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7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Why One Email Blast Won't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7"/>
          <p:cNvSpPr txBox="1"/>
          <p:nvPr/>
        </p:nvSpPr>
        <p:spPr>
          <a:xfrm>
            <a:off x="4190695" y="121889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execute a 90-day orchestrated campaign to surround your dormant customers and continue if your satisfied with the lead results.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7"/>
          <p:cNvSpPr/>
          <p:nvPr/>
        </p:nvSpPr>
        <p:spPr>
          <a:xfrm>
            <a:off x="4190700" y="1747574"/>
            <a:ext cx="7429500" cy="2333100"/>
          </a:xfrm>
          <a:prstGeom prst="roundRect">
            <a:avLst>
              <a:gd fmla="val 242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7"/>
          <p:cNvSpPr txBox="1"/>
          <p:nvPr/>
        </p:nvSpPr>
        <p:spPr>
          <a:xfrm>
            <a:off x="5381244" y="1914754"/>
            <a:ext cx="405079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7"/>
          <p:cNvSpPr txBox="1"/>
          <p:nvPr/>
        </p:nvSpPr>
        <p:spPr>
          <a:xfrm>
            <a:off x="7206386" y="1914754"/>
            <a:ext cx="4855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7"/>
          <p:cNvSpPr txBox="1"/>
          <p:nvPr/>
        </p:nvSpPr>
        <p:spPr>
          <a:xfrm>
            <a:off x="9096451" y="1914754"/>
            <a:ext cx="4855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7"/>
          <p:cNvSpPr txBox="1"/>
          <p:nvPr/>
        </p:nvSpPr>
        <p:spPr>
          <a:xfrm>
            <a:off x="10987430" y="1914754"/>
            <a:ext cx="4855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7"/>
          <p:cNvSpPr txBox="1"/>
          <p:nvPr/>
        </p:nvSpPr>
        <p:spPr>
          <a:xfrm>
            <a:off x="4629607" y="2373782"/>
            <a:ext cx="75255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Email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1" name="Google Shape;7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354" y="2404872"/>
            <a:ext cx="123444" cy="123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2" name="Google Shape;722;p17"/>
          <p:cNvPicPr preferRelativeResize="0"/>
          <p:nvPr/>
        </p:nvPicPr>
        <p:blipFill rotWithShape="1">
          <a:blip r:embed="rId4">
            <a:alphaModFix/>
          </a:blip>
          <a:srcRect b="0" l="-202" r="-202" t="0"/>
          <a:stretch/>
        </p:blipFill>
        <p:spPr>
          <a:xfrm>
            <a:off x="5533949" y="2428646"/>
            <a:ext cx="5848502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3" name="Google Shape;7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257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4" name="Google Shape;72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9008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5" name="Google Shape;72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558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6" name="Google Shape;72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3310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7" name="Google Shape;7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1774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8" name="Google Shape;72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8526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9" name="Google Shape;7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1292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0" name="Google Shape;7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043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1" name="Google Shape;7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2" name="Google Shape;7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03259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3" name="Google Shape;7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6026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4" name="Google Shape;7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2777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5" name="Google Shape;7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0327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6" name="Google Shape;7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7078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7"/>
          <p:cNvSpPr txBox="1"/>
          <p:nvPr/>
        </p:nvSpPr>
        <p:spPr>
          <a:xfrm>
            <a:off x="4629607" y="2907792"/>
            <a:ext cx="75255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Mail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8" name="Google Shape;7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29354" y="2938882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17"/>
          <p:cNvSpPr/>
          <p:nvPr/>
        </p:nvSpPr>
        <p:spPr>
          <a:xfrm>
            <a:off x="5533949" y="2962656"/>
            <a:ext cx="5848502" cy="75895"/>
          </a:xfrm>
          <a:prstGeom prst="roundRect">
            <a:avLst>
              <a:gd fmla="val 1204822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0" name="Google Shape;740;p17"/>
          <p:cNvPicPr preferRelativeResize="0"/>
          <p:nvPr/>
        </p:nvPicPr>
        <p:blipFill rotWithShape="1">
          <a:blip r:embed="rId8">
            <a:alphaModFix/>
          </a:blip>
          <a:srcRect b="0" l="-234" r="-234" t="0"/>
          <a:stretch/>
        </p:blipFill>
        <p:spPr>
          <a:xfrm>
            <a:off x="6119165" y="2885846"/>
            <a:ext cx="7050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7"/>
          <p:cNvSpPr txBox="1"/>
          <p:nvPr/>
        </p:nvSpPr>
        <p:spPr>
          <a:xfrm>
            <a:off x="6119165" y="2885846"/>
            <a:ext cx="705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Postcard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2" name="Google Shape;742;p17"/>
          <p:cNvPicPr preferRelativeResize="0"/>
          <p:nvPr/>
        </p:nvPicPr>
        <p:blipFill rotWithShape="1">
          <a:blip r:embed="rId8">
            <a:alphaModFix/>
          </a:blip>
          <a:srcRect b="0" l="-234" r="-234" t="0"/>
          <a:stretch/>
        </p:blipFill>
        <p:spPr>
          <a:xfrm>
            <a:off x="7872984" y="2885846"/>
            <a:ext cx="7050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17"/>
          <p:cNvSpPr txBox="1"/>
          <p:nvPr/>
        </p:nvSpPr>
        <p:spPr>
          <a:xfrm>
            <a:off x="7872984" y="2885846"/>
            <a:ext cx="705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Postcard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4" name="Google Shape;744;p17"/>
          <p:cNvPicPr preferRelativeResize="0"/>
          <p:nvPr/>
        </p:nvPicPr>
        <p:blipFill rotWithShape="1">
          <a:blip r:embed="rId8">
            <a:alphaModFix/>
          </a:blip>
          <a:srcRect b="0" l="-234" r="-234" t="0"/>
          <a:stretch/>
        </p:blipFill>
        <p:spPr>
          <a:xfrm>
            <a:off x="9627718" y="2885846"/>
            <a:ext cx="7050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17"/>
          <p:cNvSpPr txBox="1"/>
          <p:nvPr/>
        </p:nvSpPr>
        <p:spPr>
          <a:xfrm>
            <a:off x="9627718" y="2885846"/>
            <a:ext cx="705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Postcard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7"/>
          <p:cNvSpPr txBox="1"/>
          <p:nvPr/>
        </p:nvSpPr>
        <p:spPr>
          <a:xfrm>
            <a:off x="4629607" y="3372573"/>
            <a:ext cx="752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News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7" name="Google Shape;74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9354" y="3403663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7"/>
          <p:cNvSpPr/>
          <p:nvPr/>
        </p:nvSpPr>
        <p:spPr>
          <a:xfrm>
            <a:off x="5533949" y="3456538"/>
            <a:ext cx="5848500" cy="75900"/>
          </a:xfrm>
          <a:prstGeom prst="roundRect">
            <a:avLst>
              <a:gd fmla="val 1204822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9" name="Google Shape;749;p17"/>
          <p:cNvPicPr preferRelativeResize="0"/>
          <p:nvPr/>
        </p:nvPicPr>
        <p:blipFill rotWithShape="1">
          <a:blip r:embed="rId10">
            <a:alphaModFix/>
          </a:blip>
          <a:srcRect b="0" l="-923" r="-923" t="0"/>
          <a:stretch/>
        </p:blipFill>
        <p:spPr>
          <a:xfrm>
            <a:off x="7288682" y="3273941"/>
            <a:ext cx="4764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7"/>
          <p:cNvSpPr txBox="1"/>
          <p:nvPr/>
        </p:nvSpPr>
        <p:spPr>
          <a:xfrm>
            <a:off x="7288682" y="3283641"/>
            <a:ext cx="4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p17"/>
          <p:cNvPicPr preferRelativeResize="0"/>
          <p:nvPr/>
        </p:nvPicPr>
        <p:blipFill rotWithShape="1">
          <a:blip r:embed="rId10">
            <a:alphaModFix/>
          </a:blip>
          <a:srcRect b="0" l="-923" r="-923" t="0"/>
          <a:stretch/>
        </p:blipFill>
        <p:spPr>
          <a:xfrm>
            <a:off x="9042502" y="3293341"/>
            <a:ext cx="4764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17"/>
          <p:cNvSpPr txBox="1"/>
          <p:nvPr/>
        </p:nvSpPr>
        <p:spPr>
          <a:xfrm>
            <a:off x="9042502" y="3283641"/>
            <a:ext cx="4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3" name="Google Shape;753;p17"/>
          <p:cNvPicPr preferRelativeResize="0"/>
          <p:nvPr/>
        </p:nvPicPr>
        <p:blipFill rotWithShape="1">
          <a:blip r:embed="rId10">
            <a:alphaModFix/>
          </a:blip>
          <a:srcRect b="0" l="-923" r="-923" t="0"/>
          <a:stretch/>
        </p:blipFill>
        <p:spPr>
          <a:xfrm>
            <a:off x="10797235" y="3332142"/>
            <a:ext cx="4764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7"/>
          <p:cNvSpPr txBox="1"/>
          <p:nvPr/>
        </p:nvSpPr>
        <p:spPr>
          <a:xfrm>
            <a:off x="10797235" y="3341842"/>
            <a:ext cx="4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7"/>
          <p:cNvSpPr/>
          <p:nvPr/>
        </p:nvSpPr>
        <p:spPr>
          <a:xfrm>
            <a:off x="4190695" y="4100000"/>
            <a:ext cx="1714500" cy="2550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7"/>
          <p:cNvSpPr/>
          <p:nvPr/>
        </p:nvSpPr>
        <p:spPr>
          <a:xfrm>
            <a:off x="4790695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7" name="Google Shape;75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86046" y="4541139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7"/>
          <p:cNvSpPr txBox="1"/>
          <p:nvPr/>
        </p:nvSpPr>
        <p:spPr>
          <a:xfrm>
            <a:off x="4290695" y="4250000"/>
            <a:ext cx="15145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Sequence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 txBox="1"/>
          <p:nvPr/>
        </p:nvSpPr>
        <p:spPr>
          <a:xfrm>
            <a:off x="4290695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engine of the campaign. High frequency, low cost automated touchpoints to gauge interest.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7"/>
          <p:cNvSpPr/>
          <p:nvPr/>
        </p:nvSpPr>
        <p:spPr>
          <a:xfrm>
            <a:off x="4290695" y="6400000"/>
            <a:ext cx="1514500" cy="200000"/>
          </a:xfrm>
          <a:prstGeom prst="roundRect">
            <a:avLst>
              <a:gd fmla="val 53163" name="adj"/>
            </a:avLst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7"/>
          <p:cNvSpPr txBox="1"/>
          <p:nvPr/>
        </p:nvSpPr>
        <p:spPr>
          <a:xfrm>
            <a:off x="4290695" y="6050000"/>
            <a:ext cx="1514500" cy="400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Open Sans"/>
                <a:ea typeface="Open Sans"/>
                <a:cs typeface="Open Sans"/>
                <a:sym typeface="Open Sans"/>
              </a:rPr>
              <a:t>High Volume / Low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7"/>
          <p:cNvSpPr/>
          <p:nvPr/>
        </p:nvSpPr>
        <p:spPr>
          <a:xfrm>
            <a:off x="7124520" y="4100000"/>
            <a:ext cx="1714500" cy="2550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7"/>
          <p:cNvSpPr/>
          <p:nvPr/>
        </p:nvSpPr>
        <p:spPr>
          <a:xfrm>
            <a:off x="7724520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4" name="Google Shape;76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03469" y="463814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17"/>
          <p:cNvSpPr txBox="1"/>
          <p:nvPr/>
        </p:nvSpPr>
        <p:spPr>
          <a:xfrm>
            <a:off x="7224520" y="4250000"/>
            <a:ext cx="15145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Direct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7"/>
          <p:cNvSpPr txBox="1"/>
          <p:nvPr/>
        </p:nvSpPr>
        <p:spPr>
          <a:xfrm>
            <a:off x="7224520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Physical mail creates a "pattern interrupt" and cuts through digital noise. 100% viewability rate.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7"/>
          <p:cNvSpPr/>
          <p:nvPr/>
        </p:nvSpPr>
        <p:spPr>
          <a:xfrm>
            <a:off x="7224520" y="6400000"/>
            <a:ext cx="1514500" cy="200000"/>
          </a:xfrm>
          <a:prstGeom prst="roundRect">
            <a:avLst>
              <a:gd fmla="val 144928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7"/>
          <p:cNvSpPr txBox="1"/>
          <p:nvPr/>
        </p:nvSpPr>
        <p:spPr>
          <a:xfrm>
            <a:off x="7224520" y="6050000"/>
            <a:ext cx="1514500" cy="400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High Impact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7"/>
          <p:cNvSpPr/>
          <p:nvPr/>
        </p:nvSpPr>
        <p:spPr>
          <a:xfrm>
            <a:off x="7724520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7"/>
          <p:cNvSpPr txBox="1"/>
          <p:nvPr/>
        </p:nvSpPr>
        <p:spPr>
          <a:xfrm>
            <a:off x="7224520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7"/>
          <p:cNvSpPr/>
          <p:nvPr/>
        </p:nvSpPr>
        <p:spPr>
          <a:xfrm>
            <a:off x="7224520" y="6400000"/>
            <a:ext cx="1514500" cy="200000"/>
          </a:xfrm>
          <a:prstGeom prst="roundRect">
            <a:avLst>
              <a:gd fmla="val 144928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7"/>
          <p:cNvSpPr/>
          <p:nvPr/>
        </p:nvSpPr>
        <p:spPr>
          <a:xfrm>
            <a:off x="9905695" y="4100000"/>
            <a:ext cx="1714500" cy="2550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7"/>
          <p:cNvSpPr/>
          <p:nvPr/>
        </p:nvSpPr>
        <p:spPr>
          <a:xfrm>
            <a:off x="10505695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EEF2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4" name="Google Shape;774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01046" y="464784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17"/>
          <p:cNvSpPr txBox="1"/>
          <p:nvPr/>
        </p:nvSpPr>
        <p:spPr>
          <a:xfrm>
            <a:off x="10005695" y="4250000"/>
            <a:ext cx="15145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Monthly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Newsletter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7"/>
          <p:cNvSpPr txBox="1"/>
          <p:nvPr/>
        </p:nvSpPr>
        <p:spPr>
          <a:xfrm>
            <a:off x="10005695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Adds value without asking for a sale. Rebuilds trust and positions you as the expert.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7"/>
          <p:cNvSpPr/>
          <p:nvPr/>
        </p:nvSpPr>
        <p:spPr>
          <a:xfrm>
            <a:off x="10005695" y="6400000"/>
            <a:ext cx="1514500" cy="200000"/>
          </a:xfrm>
          <a:prstGeom prst="roundRect">
            <a:avLst>
              <a:gd fmla="val 144928" name="adj"/>
            </a:avLst>
          </a:prstGeom>
          <a:solidFill>
            <a:srgbClr val="EEF2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7"/>
          <p:cNvSpPr txBox="1"/>
          <p:nvPr/>
        </p:nvSpPr>
        <p:spPr>
          <a:xfrm>
            <a:off x="10005695" y="6050000"/>
            <a:ext cx="1514500" cy="400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366F1"/>
                </a:solidFill>
                <a:latin typeface="Open Sans"/>
                <a:ea typeface="Open Sans"/>
                <a:cs typeface="Open Sans"/>
                <a:sym typeface="Open Sans"/>
              </a:rPr>
              <a:t>Relationship Glue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7"/>
          <p:cNvSpPr txBox="1"/>
          <p:nvPr/>
        </p:nvSpPr>
        <p:spPr>
          <a:xfrm>
            <a:off x="11702491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0" name="Google Shape;780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55918" y="3486607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17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2" name="Google Shape;782;p17"/>
          <p:cNvPicPr preferRelativeResize="0"/>
          <p:nvPr/>
        </p:nvPicPr>
        <p:blipFill rotWithShape="1">
          <a:blip r:embed="rId1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17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What It Takes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7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7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Systematic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Multi-Touch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7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7"/>
          <p:cNvSpPr txBox="1"/>
          <p:nvPr/>
        </p:nvSpPr>
        <p:spPr>
          <a:xfrm>
            <a:off x="580644" y="2635301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Reactivation requires persistence.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7"/>
          <p:cNvSpPr txBox="1"/>
          <p:nvPr/>
        </p:nvSpPr>
        <p:spPr>
          <a:xfrm>
            <a:off x="580644" y="3032150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single email is easily ignored. A coordinated system across digital and physical channels makes your offer impossible to miss.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9" name="Google Shape;789;p17"/>
          <p:cNvPicPr preferRelativeResize="0"/>
          <p:nvPr/>
        </p:nvPicPr>
        <p:blipFill rotWithShape="1">
          <a:blip r:embed="rId16">
            <a:alphaModFix amt="80000"/>
          </a:blip>
          <a:srcRect b="0" l="-44" r="-44" t="0"/>
          <a:stretch/>
        </p:blipFill>
        <p:spPr>
          <a:xfrm>
            <a:off x="381305" y="4006901"/>
            <a:ext cx="514807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8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8"/>
          <p:cNvSpPr txBox="1"/>
          <p:nvPr/>
        </p:nvSpPr>
        <p:spPr>
          <a:xfrm>
            <a:off x="4381805" y="858622"/>
            <a:ext cx="729599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Introducing Your Asset Recovery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9" name="Google Shape;799;p18"/>
          <p:cNvPicPr preferRelativeResize="0"/>
          <p:nvPr/>
        </p:nvPicPr>
        <p:blipFill rotWithShape="1">
          <a:blip r:embed="rId3">
            <a:alphaModFix/>
          </a:blip>
          <a:srcRect b="-4" l="0" r="0" t="-4"/>
          <a:stretch/>
        </p:blipFill>
        <p:spPr>
          <a:xfrm>
            <a:off x="4381805" y="1697126"/>
            <a:ext cx="7048195" cy="2809951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8"/>
          <p:cNvSpPr/>
          <p:nvPr/>
        </p:nvSpPr>
        <p:spPr>
          <a:xfrm>
            <a:off x="4839005" y="1506931"/>
            <a:ext cx="381305" cy="381305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1" name="Google Shape;801;p18"/>
          <p:cNvPicPr preferRelativeResize="0"/>
          <p:nvPr/>
        </p:nvPicPr>
        <p:blipFill rotWithShape="1">
          <a:blip r:embed="rId4">
            <a:alphaModFix/>
          </a:blip>
          <a:srcRect b="0" l="-1648" r="-1648" t="0"/>
          <a:stretch/>
        </p:blipFill>
        <p:spPr>
          <a:xfrm>
            <a:off x="4943246" y="1602029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18"/>
          <p:cNvSpPr txBox="1"/>
          <p:nvPr/>
        </p:nvSpPr>
        <p:spPr>
          <a:xfrm>
            <a:off x="4934102" y="2173529"/>
            <a:ext cx="6020410" cy="1858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A systematic program that treats your dormant customers like </a:t>
            </a:r>
            <a:r>
              <a:rPr b="1" i="0" lang="en-US" sz="19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valuable assets</a:t>
            </a:r>
            <a:r>
              <a:rPr b="0" i="0" lang="en-US" sz="19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— with professional, multi-touch outreach designed specifically for HVAC customer reactivation.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8"/>
          <p:cNvSpPr/>
          <p:nvPr/>
        </p:nvSpPr>
        <p:spPr>
          <a:xfrm>
            <a:off x="4381805" y="4983480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E0F2F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4" name="Google Shape;80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0618" y="5116982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18"/>
          <p:cNvSpPr txBox="1"/>
          <p:nvPr/>
        </p:nvSpPr>
        <p:spPr>
          <a:xfrm>
            <a:off x="4990795" y="4983480"/>
            <a:ext cx="1762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Systematic 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8"/>
          <p:cNvSpPr txBox="1"/>
          <p:nvPr/>
        </p:nvSpPr>
        <p:spPr>
          <a:xfrm>
            <a:off x="4990795" y="5250485"/>
            <a:ext cx="15526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Replaces ad-hoc "blasts" with a structured, engineered workflow.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8"/>
          <p:cNvSpPr/>
          <p:nvPr/>
        </p:nvSpPr>
        <p:spPr>
          <a:xfrm>
            <a:off x="6825996" y="4983480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8" name="Google Shape;80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9498" y="51169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8"/>
          <p:cNvSpPr txBox="1"/>
          <p:nvPr/>
        </p:nvSpPr>
        <p:spPr>
          <a:xfrm>
            <a:off x="7435901" y="4983480"/>
            <a:ext cx="15526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Multi-Touch &amp; Channel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7435901" y="5479085"/>
            <a:ext cx="15526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Combines email, direct mail, and phone to cut through the noise.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8"/>
          <p:cNvSpPr/>
          <p:nvPr/>
        </p:nvSpPr>
        <p:spPr>
          <a:xfrm>
            <a:off x="9271102" y="4983480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2" name="Google Shape;812;p18"/>
          <p:cNvPicPr preferRelativeResize="0"/>
          <p:nvPr/>
        </p:nvPicPr>
        <p:blipFill rotWithShape="1">
          <a:blip r:embed="rId7">
            <a:alphaModFix/>
          </a:blip>
          <a:srcRect b="0" l="-1648" r="-1648" t="0"/>
          <a:stretch/>
        </p:blipFill>
        <p:spPr>
          <a:xfrm>
            <a:off x="9413748" y="511698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18"/>
          <p:cNvSpPr txBox="1"/>
          <p:nvPr/>
        </p:nvSpPr>
        <p:spPr>
          <a:xfrm>
            <a:off x="9881006" y="4983480"/>
            <a:ext cx="15526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HVAC Specific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9881006" y="5250485"/>
            <a:ext cx="15526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Messaging tailored to service cycles, seasonality, and equipment life.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1697005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8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7" name="Google Shape;817;p18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8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8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Revenue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Reactivation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Pilot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8"/>
          <p:cNvSpPr/>
          <p:nvPr/>
        </p:nvSpPr>
        <p:spPr>
          <a:xfrm>
            <a:off x="381305" y="2635301"/>
            <a:ext cx="9144" cy="1133856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Stop treating dormant customers like dead leads.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580644" y="327538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 treating them like the assets they 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4" name="Google Shape;824;p18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76367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9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Your Complete Reactivation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9"/>
          <p:cNvSpPr/>
          <p:nvPr/>
        </p:nvSpPr>
        <p:spPr>
          <a:xfrm>
            <a:off x="4190695" y="1314907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4190695" y="1314907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9"/>
          <p:cNvSpPr/>
          <p:nvPr/>
        </p:nvSpPr>
        <p:spPr>
          <a:xfrm>
            <a:off x="4429354" y="1552651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37" name="Google Shape;8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1144" y="17053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19"/>
          <p:cNvSpPr txBox="1"/>
          <p:nvPr/>
        </p:nvSpPr>
        <p:spPr>
          <a:xfrm>
            <a:off x="5152644" y="1552651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Personalized Email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9"/>
          <p:cNvSpPr txBox="1"/>
          <p:nvPr/>
        </p:nvSpPr>
        <p:spPr>
          <a:xfrm>
            <a:off x="5152644" y="1867205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2 targeted campaigns per month sent to up to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5,000 contacts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 Includes subject line testing and spam-check optimization.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8020202" y="1314907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8020202" y="1314907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9"/>
          <p:cNvSpPr/>
          <p:nvPr/>
        </p:nvSpPr>
        <p:spPr>
          <a:xfrm>
            <a:off x="8257946" y="1552651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3" name="Google Shape;8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0651" y="17053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19"/>
          <p:cNvSpPr txBox="1"/>
          <p:nvPr/>
        </p:nvSpPr>
        <p:spPr>
          <a:xfrm>
            <a:off x="8982151" y="1552651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Direct Mail Postcards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9"/>
          <p:cNvSpPr txBox="1"/>
          <p:nvPr/>
        </p:nvSpPr>
        <p:spPr>
          <a:xfrm>
            <a:off x="8982151" y="1867205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2 high-impact postcard drops per month to segmented lists. Full color, 5.5x8 oversized format to cut through mailbox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clutter. To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your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TOP 1,000 Customer</a:t>
            </a:r>
            <a:r>
              <a:rPr b="1"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9"/>
          <p:cNvSpPr/>
          <p:nvPr/>
        </p:nvSpPr>
        <p:spPr>
          <a:xfrm>
            <a:off x="4190695" y="3133649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9"/>
          <p:cNvSpPr/>
          <p:nvPr/>
        </p:nvSpPr>
        <p:spPr>
          <a:xfrm>
            <a:off x="4190695" y="3133649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9"/>
          <p:cNvSpPr/>
          <p:nvPr/>
        </p:nvSpPr>
        <p:spPr>
          <a:xfrm>
            <a:off x="4429354" y="3372307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9" name="Google Shape;84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1144" y="3524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19"/>
          <p:cNvSpPr txBox="1"/>
          <p:nvPr/>
        </p:nvSpPr>
        <p:spPr>
          <a:xfrm>
            <a:off x="5152644" y="3372307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VIP Newsletter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9"/>
          <p:cNvSpPr txBox="1"/>
          <p:nvPr/>
        </p:nvSpPr>
        <p:spPr>
          <a:xfrm>
            <a:off x="5152644" y="3685946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1 monthly printed or digital newsletter sent to your top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1,000 customers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to maintain top-of-mind awareness and trust.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9"/>
          <p:cNvSpPr/>
          <p:nvPr/>
        </p:nvSpPr>
        <p:spPr>
          <a:xfrm>
            <a:off x="8020202" y="3133649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9"/>
          <p:cNvSpPr/>
          <p:nvPr/>
        </p:nvSpPr>
        <p:spPr>
          <a:xfrm>
            <a:off x="8020202" y="3133649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9"/>
          <p:cNvSpPr/>
          <p:nvPr/>
        </p:nvSpPr>
        <p:spPr>
          <a:xfrm>
            <a:off x="8257946" y="3372307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55" name="Google Shape;85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0651" y="3524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19"/>
          <p:cNvSpPr txBox="1"/>
          <p:nvPr/>
        </p:nvSpPr>
        <p:spPr>
          <a:xfrm>
            <a:off x="8982151" y="3372307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Call Tracking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 txBox="1"/>
          <p:nvPr/>
        </p:nvSpPr>
        <p:spPr>
          <a:xfrm>
            <a:off x="8982151" y="3685946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Dedicated tracking numbers and real-time dashboard. We record and score every inbound call to verify lead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9"/>
          <p:cNvSpPr/>
          <p:nvPr/>
        </p:nvSpPr>
        <p:spPr>
          <a:xfrm>
            <a:off x="4190695" y="4953305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9"/>
          <p:cNvSpPr/>
          <p:nvPr/>
        </p:nvSpPr>
        <p:spPr>
          <a:xfrm>
            <a:off x="4190695" y="4953305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9"/>
          <p:cNvSpPr/>
          <p:nvPr/>
        </p:nvSpPr>
        <p:spPr>
          <a:xfrm>
            <a:off x="4429354" y="5191049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1" name="Google Shape;86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144" y="53437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19"/>
          <p:cNvSpPr txBox="1"/>
          <p:nvPr/>
        </p:nvSpPr>
        <p:spPr>
          <a:xfrm>
            <a:off x="5152644" y="5191049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Weekly Reporting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9"/>
          <p:cNvSpPr txBox="1"/>
          <p:nvPr/>
        </p:nvSpPr>
        <p:spPr>
          <a:xfrm>
            <a:off x="5152644" y="5505602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Comprehensive performance reports showing open rates, response rates, appointments booked, and direct revenue generated.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9"/>
          <p:cNvSpPr/>
          <p:nvPr/>
        </p:nvSpPr>
        <p:spPr>
          <a:xfrm>
            <a:off x="8020202" y="4953305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9"/>
          <p:cNvSpPr/>
          <p:nvPr/>
        </p:nvSpPr>
        <p:spPr>
          <a:xfrm>
            <a:off x="8020202" y="4953305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9"/>
          <p:cNvSpPr/>
          <p:nvPr/>
        </p:nvSpPr>
        <p:spPr>
          <a:xfrm>
            <a:off x="8257946" y="5191049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7" name="Google Shape;867;p19"/>
          <p:cNvPicPr preferRelativeResize="0"/>
          <p:nvPr/>
        </p:nvPicPr>
        <p:blipFill rotWithShape="1">
          <a:blip r:embed="rId9">
            <a:alphaModFix/>
          </a:blip>
          <a:srcRect b="0" l="-133" r="-133" t="0"/>
          <a:stretch/>
        </p:blipFill>
        <p:spPr>
          <a:xfrm>
            <a:off x="8438998" y="5343754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19"/>
          <p:cNvSpPr txBox="1"/>
          <p:nvPr/>
        </p:nvSpPr>
        <p:spPr>
          <a:xfrm>
            <a:off x="8982151" y="5191049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CRM Integration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9"/>
          <p:cNvSpPr txBox="1"/>
          <p:nvPr/>
        </p:nvSpPr>
        <p:spPr>
          <a:xfrm>
            <a:off x="8982151" y="5505602"/>
            <a:ext cx="2400300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Seamless sync with your existing tools. We pull data and push notes directly to your system of record.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9"/>
          <p:cNvSpPr/>
          <p:nvPr/>
        </p:nvSpPr>
        <p:spPr>
          <a:xfrm>
            <a:off x="4190695" y="6543446"/>
            <a:ext cx="7429500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1" name="Google Shape;87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90695" y="6774790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19"/>
          <p:cNvSpPr txBox="1"/>
          <p:nvPr/>
        </p:nvSpPr>
        <p:spPr>
          <a:xfrm>
            <a:off x="4390949" y="6743700"/>
            <a:ext cx="254386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100% Done-For-You Implementation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9"/>
          <p:cNvSpPr txBox="1"/>
          <p:nvPr/>
        </p:nvSpPr>
        <p:spPr>
          <a:xfrm>
            <a:off x="8338414" y="6760159"/>
            <a:ext cx="84856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Works With: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9"/>
          <p:cNvSpPr txBox="1"/>
          <p:nvPr/>
        </p:nvSpPr>
        <p:spPr>
          <a:xfrm>
            <a:off x="9324137" y="6743700"/>
            <a:ext cx="103784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ServiceTitan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9"/>
          <p:cNvSpPr txBox="1"/>
          <p:nvPr/>
        </p:nvSpPr>
        <p:spPr>
          <a:xfrm>
            <a:off x="10229393" y="6743700"/>
            <a:ext cx="11256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Housecall Pro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9"/>
          <p:cNvSpPr txBox="1"/>
          <p:nvPr/>
        </p:nvSpPr>
        <p:spPr>
          <a:xfrm>
            <a:off x="11216945" y="6743700"/>
            <a:ext cx="5221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Jobber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9"/>
          <p:cNvSpPr txBox="1"/>
          <p:nvPr/>
        </p:nvSpPr>
        <p:spPr>
          <a:xfrm>
            <a:off x="11699748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9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9" name="Google Shape;879;p19"/>
          <p:cNvPicPr preferRelativeResize="0"/>
          <p:nvPr/>
        </p:nvPicPr>
        <p:blipFill rotWithShape="1">
          <a:blip r:embed="rId11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19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9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9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What's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Included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9"/>
          <p:cNvSpPr/>
          <p:nvPr/>
        </p:nvSpPr>
        <p:spPr>
          <a:xfrm>
            <a:off x="381305" y="215524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9"/>
          <p:cNvSpPr txBox="1"/>
          <p:nvPr/>
        </p:nvSpPr>
        <p:spPr>
          <a:xfrm>
            <a:off x="580644" y="215524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a complete, "done-for-you" reactivation system.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9"/>
          <p:cNvSpPr txBox="1"/>
          <p:nvPr/>
        </p:nvSpPr>
        <p:spPr>
          <a:xfrm>
            <a:off x="580644" y="279532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handle the segmentation, creative, deployment, and tracking. You handle the appointments.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6" name="Google Shape;886;p19"/>
          <p:cNvPicPr preferRelativeResize="0"/>
          <p:nvPr/>
        </p:nvPicPr>
        <p:blipFill rotWithShape="1">
          <a:blip r:embed="rId12">
            <a:alphaModFix amt="80000"/>
          </a:blip>
          <a:srcRect b="0" l="0" r="0" t="0"/>
          <a:stretch/>
        </p:blipFill>
        <p:spPr>
          <a:xfrm>
            <a:off x="381305" y="3526841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20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Phase-by-Phase Roadmap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0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7" name="Google Shape;897;p20"/>
          <p:cNvPicPr preferRelativeResize="0"/>
          <p:nvPr/>
        </p:nvPicPr>
        <p:blipFill rotWithShape="1">
          <a:blip r:embed="rId3">
            <a:alphaModFix/>
          </a:blip>
          <a:srcRect b="-402" l="0" r="0" t="-402"/>
          <a:stretch/>
        </p:blipFill>
        <p:spPr>
          <a:xfrm>
            <a:off x="4667098" y="1695298"/>
            <a:ext cx="647669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20"/>
          <p:cNvSpPr/>
          <p:nvPr/>
        </p:nvSpPr>
        <p:spPr>
          <a:xfrm>
            <a:off x="4190695" y="1314907"/>
            <a:ext cx="2324405" cy="5162702"/>
          </a:xfrm>
          <a:prstGeom prst="roundRect">
            <a:avLst>
              <a:gd fmla="val 38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99" name="Google Shape;899;p20"/>
          <p:cNvPicPr preferRelativeResize="0"/>
          <p:nvPr/>
        </p:nvPicPr>
        <p:blipFill rotWithShape="1">
          <a:blip r:embed="rId4">
            <a:alphaModFix/>
          </a:blip>
          <a:srcRect b="-397" l="0" r="0" t="-397"/>
          <a:stretch/>
        </p:blipFill>
        <p:spPr>
          <a:xfrm>
            <a:off x="4200754" y="1324051"/>
            <a:ext cx="2305202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0" name="Google Shape;9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2702" y="1190549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20"/>
          <p:cNvSpPr/>
          <p:nvPr/>
        </p:nvSpPr>
        <p:spPr>
          <a:xfrm>
            <a:off x="5162702" y="1190549"/>
            <a:ext cx="3813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 txBox="1"/>
          <p:nvPr/>
        </p:nvSpPr>
        <p:spPr>
          <a:xfrm>
            <a:off x="4429354" y="1666951"/>
            <a:ext cx="18480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Month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0"/>
          <p:cNvSpPr txBox="1"/>
          <p:nvPr/>
        </p:nvSpPr>
        <p:spPr>
          <a:xfrm>
            <a:off x="4429354" y="1914754"/>
            <a:ext cx="1848002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Foundation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 txBox="1"/>
          <p:nvPr/>
        </p:nvSpPr>
        <p:spPr>
          <a:xfrm>
            <a:off x="4648810" y="2356409"/>
            <a:ext cx="1628546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Database Segmentation: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Cleaning list and identifying priority tiers.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5" name="Google Shape;905;p20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2356409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20"/>
          <p:cNvSpPr txBox="1"/>
          <p:nvPr/>
        </p:nvSpPr>
        <p:spPr>
          <a:xfrm>
            <a:off x="4648810" y="3309214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Message Development: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Crafting offers for At-Risk vs. Dormant.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7" name="Google Shape;907;p20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3309214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20"/>
          <p:cNvSpPr txBox="1"/>
          <p:nvPr/>
        </p:nvSpPr>
        <p:spPr>
          <a:xfrm>
            <a:off x="4648810" y="4061765"/>
            <a:ext cx="1628546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Initial Launch: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Wave 1 Email + Postcard drop.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9" name="Google Shape;909;p20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4061765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20"/>
          <p:cNvSpPr txBox="1"/>
          <p:nvPr/>
        </p:nvSpPr>
        <p:spPr>
          <a:xfrm>
            <a:off x="4648810" y="4614062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Tracking Setup: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Call recording and dashboard configuration.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1" name="Google Shape;911;p20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4614062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20"/>
          <p:cNvSpPr/>
          <p:nvPr/>
        </p:nvSpPr>
        <p:spPr>
          <a:xfrm>
            <a:off x="4200754" y="5595214"/>
            <a:ext cx="2305202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0"/>
          <p:cNvSpPr/>
          <p:nvPr/>
        </p:nvSpPr>
        <p:spPr>
          <a:xfrm>
            <a:off x="4200754" y="5595214"/>
            <a:ext cx="2305202" cy="9144"/>
          </a:xfrm>
          <a:prstGeom prst="roundRect">
            <a:avLst>
              <a:gd fmla="val 260869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20"/>
          <p:cNvSpPr txBox="1"/>
          <p:nvPr/>
        </p:nvSpPr>
        <p:spPr>
          <a:xfrm>
            <a:off x="4429354" y="5795467"/>
            <a:ext cx="184800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Monthly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0"/>
          <p:cNvSpPr txBox="1"/>
          <p:nvPr/>
        </p:nvSpPr>
        <p:spPr>
          <a:xfrm>
            <a:off x="4429354" y="5990234"/>
            <a:ext cx="184800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25–30 Leads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0"/>
          <p:cNvSpPr/>
          <p:nvPr/>
        </p:nvSpPr>
        <p:spPr>
          <a:xfrm>
            <a:off x="6748275" y="1314907"/>
            <a:ext cx="2324400" cy="5162700"/>
          </a:xfrm>
          <a:prstGeom prst="roundRect">
            <a:avLst>
              <a:gd fmla="val 38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7" name="Google Shape;917;p20"/>
          <p:cNvPicPr preferRelativeResize="0"/>
          <p:nvPr/>
        </p:nvPicPr>
        <p:blipFill rotWithShape="1">
          <a:blip r:embed="rId7">
            <a:alphaModFix/>
          </a:blip>
          <a:srcRect b="-397" l="0" r="0" t="-397"/>
          <a:stretch/>
        </p:blipFill>
        <p:spPr>
          <a:xfrm>
            <a:off x="6752844" y="1324051"/>
            <a:ext cx="2305202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8" name="Google Shape;9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707" y="1190549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20"/>
          <p:cNvSpPr/>
          <p:nvPr/>
        </p:nvSpPr>
        <p:spPr>
          <a:xfrm>
            <a:off x="7715707" y="1190549"/>
            <a:ext cx="3813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0"/>
          <p:cNvSpPr txBox="1"/>
          <p:nvPr/>
        </p:nvSpPr>
        <p:spPr>
          <a:xfrm>
            <a:off x="6981444" y="1666951"/>
            <a:ext cx="18480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Month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0"/>
          <p:cNvSpPr txBox="1"/>
          <p:nvPr/>
        </p:nvSpPr>
        <p:spPr>
          <a:xfrm>
            <a:off x="6981444" y="1914754"/>
            <a:ext cx="1848002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Momentum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0"/>
          <p:cNvSpPr txBox="1"/>
          <p:nvPr/>
        </p:nvSpPr>
        <p:spPr>
          <a:xfrm>
            <a:off x="7200900" y="2356409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Second Touch: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Follow-up sequences to non-responders.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3" name="Google Shape;923;p20"/>
          <p:cNvPicPr preferRelativeResize="0"/>
          <p:nvPr/>
        </p:nvPicPr>
        <p:blipFill rotWithShape="1">
          <a:blip r:embed="rId9">
            <a:alphaModFix/>
          </a:blip>
          <a:srcRect b="0" l="-2571" r="-2571" t="0"/>
          <a:stretch/>
        </p:blipFill>
        <p:spPr>
          <a:xfrm>
            <a:off x="6981444" y="2356409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20"/>
          <p:cNvSpPr txBox="1"/>
          <p:nvPr/>
        </p:nvSpPr>
        <p:spPr>
          <a:xfrm>
            <a:off x="7200900" y="3182501"/>
            <a:ext cx="16284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Newsletter Launch: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First retention-focused content piece sent.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5" name="Google Shape;925;p20"/>
          <p:cNvPicPr preferRelativeResize="0"/>
          <p:nvPr/>
        </p:nvPicPr>
        <p:blipFill rotWithShape="1">
          <a:blip r:embed="rId9">
            <a:alphaModFix/>
          </a:blip>
          <a:srcRect b="0" l="-2571" r="-2571" t="0"/>
          <a:stretch/>
        </p:blipFill>
        <p:spPr>
          <a:xfrm>
            <a:off x="6981444" y="3434705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20"/>
          <p:cNvSpPr txBox="1"/>
          <p:nvPr/>
        </p:nvSpPr>
        <p:spPr>
          <a:xfrm>
            <a:off x="7200900" y="4614062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Response Analysis: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Reviewing call recordings for training.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7" name="Google Shape;927;p20"/>
          <p:cNvPicPr preferRelativeResize="0"/>
          <p:nvPr/>
        </p:nvPicPr>
        <p:blipFill rotWithShape="1">
          <a:blip r:embed="rId9">
            <a:alphaModFix/>
          </a:blip>
          <a:srcRect b="0" l="-2571" r="-2571" t="0"/>
          <a:stretch/>
        </p:blipFill>
        <p:spPr>
          <a:xfrm>
            <a:off x="6981444" y="4614062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20"/>
          <p:cNvSpPr/>
          <p:nvPr/>
        </p:nvSpPr>
        <p:spPr>
          <a:xfrm>
            <a:off x="6752844" y="5595214"/>
            <a:ext cx="2305202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0"/>
          <p:cNvSpPr/>
          <p:nvPr/>
        </p:nvSpPr>
        <p:spPr>
          <a:xfrm>
            <a:off x="6752844" y="5595214"/>
            <a:ext cx="2305202" cy="9144"/>
          </a:xfrm>
          <a:prstGeom prst="roundRect">
            <a:avLst>
              <a:gd fmla="val 260869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0"/>
          <p:cNvSpPr txBox="1"/>
          <p:nvPr/>
        </p:nvSpPr>
        <p:spPr>
          <a:xfrm>
            <a:off x="6981444" y="5795467"/>
            <a:ext cx="184800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Monthly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0"/>
          <p:cNvSpPr txBox="1"/>
          <p:nvPr/>
        </p:nvSpPr>
        <p:spPr>
          <a:xfrm>
            <a:off x="6981444" y="5990234"/>
            <a:ext cx="184800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40–50 Leads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0"/>
          <p:cNvSpPr/>
          <p:nvPr/>
        </p:nvSpPr>
        <p:spPr>
          <a:xfrm>
            <a:off x="9296705" y="1314907"/>
            <a:ext cx="2324405" cy="5162702"/>
          </a:xfrm>
          <a:prstGeom prst="roundRect">
            <a:avLst>
              <a:gd fmla="val 38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33" name="Google Shape;933;p20"/>
          <p:cNvPicPr preferRelativeResize="0"/>
          <p:nvPr/>
        </p:nvPicPr>
        <p:blipFill rotWithShape="1">
          <a:blip r:embed="rId10">
            <a:alphaModFix/>
          </a:blip>
          <a:srcRect b="-397" l="0" r="0" t="-397"/>
          <a:stretch/>
        </p:blipFill>
        <p:spPr>
          <a:xfrm>
            <a:off x="9305849" y="1324051"/>
            <a:ext cx="2305202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4" name="Google Shape;93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67798" y="1190549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20"/>
          <p:cNvSpPr/>
          <p:nvPr/>
        </p:nvSpPr>
        <p:spPr>
          <a:xfrm>
            <a:off x="10267798" y="1190549"/>
            <a:ext cx="3813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0"/>
          <p:cNvSpPr txBox="1"/>
          <p:nvPr/>
        </p:nvSpPr>
        <p:spPr>
          <a:xfrm>
            <a:off x="9534449" y="1666951"/>
            <a:ext cx="18480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Month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0"/>
          <p:cNvSpPr txBox="1"/>
          <p:nvPr/>
        </p:nvSpPr>
        <p:spPr>
          <a:xfrm>
            <a:off x="9534449" y="1914754"/>
            <a:ext cx="1848002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Optimization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0"/>
          <p:cNvSpPr txBox="1"/>
          <p:nvPr/>
        </p:nvSpPr>
        <p:spPr>
          <a:xfrm>
            <a:off x="9753905" y="2356409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Double Down: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Scaling the offers/channels with highest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9" name="Google Shape;939;p20"/>
          <p:cNvPicPr preferRelativeResize="0"/>
          <p:nvPr/>
        </p:nvPicPr>
        <p:blipFill rotWithShape="1">
          <a:blip r:embed="rId12">
            <a:alphaModFix/>
          </a:blip>
          <a:srcRect b="0" l="-2571" r="-2571" t="0"/>
          <a:stretch/>
        </p:blipFill>
        <p:spPr>
          <a:xfrm>
            <a:off x="9534449" y="2356409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20"/>
          <p:cNvSpPr txBox="1"/>
          <p:nvPr/>
        </p:nvSpPr>
        <p:spPr>
          <a:xfrm>
            <a:off x="9753905" y="3108960"/>
            <a:ext cx="1628546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A/B Testing: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Testing new subject lines on remaining dormant segments.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1" name="Google Shape;941;p20"/>
          <p:cNvPicPr preferRelativeResize="0"/>
          <p:nvPr/>
        </p:nvPicPr>
        <p:blipFill rotWithShape="1">
          <a:blip r:embed="rId12">
            <a:alphaModFix/>
          </a:blip>
          <a:srcRect b="0" l="-2571" r="-2571" t="0"/>
          <a:stretch/>
        </p:blipFill>
        <p:spPr>
          <a:xfrm>
            <a:off x="9534449" y="3108960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20"/>
          <p:cNvSpPr txBox="1"/>
          <p:nvPr/>
        </p:nvSpPr>
        <p:spPr>
          <a:xfrm>
            <a:off x="9753905" y="4061765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Full Expansion: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Rolling out successful campaigns to older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3" name="Google Shape;943;p20"/>
          <p:cNvPicPr preferRelativeResize="0"/>
          <p:nvPr/>
        </p:nvPicPr>
        <p:blipFill rotWithShape="1">
          <a:blip r:embed="rId12">
            <a:alphaModFix/>
          </a:blip>
          <a:srcRect b="0" l="-2571" r="-2571" t="0"/>
          <a:stretch/>
        </p:blipFill>
        <p:spPr>
          <a:xfrm>
            <a:off x="9534449" y="4061765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20"/>
          <p:cNvSpPr/>
          <p:nvPr/>
        </p:nvSpPr>
        <p:spPr>
          <a:xfrm>
            <a:off x="9305849" y="5595214"/>
            <a:ext cx="2305202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0"/>
          <p:cNvSpPr/>
          <p:nvPr/>
        </p:nvSpPr>
        <p:spPr>
          <a:xfrm>
            <a:off x="9305849" y="5595214"/>
            <a:ext cx="2305202" cy="9144"/>
          </a:xfrm>
          <a:prstGeom prst="roundRect">
            <a:avLst>
              <a:gd fmla="val 260869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0"/>
          <p:cNvSpPr txBox="1"/>
          <p:nvPr/>
        </p:nvSpPr>
        <p:spPr>
          <a:xfrm>
            <a:off x="9534449" y="5795467"/>
            <a:ext cx="184800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Monthly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0"/>
          <p:cNvSpPr txBox="1"/>
          <p:nvPr/>
        </p:nvSpPr>
        <p:spPr>
          <a:xfrm>
            <a:off x="9534449" y="5990234"/>
            <a:ext cx="184800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50–60 Leads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9" name="Google Shape;949;p20"/>
          <p:cNvPicPr preferRelativeResize="0"/>
          <p:nvPr/>
        </p:nvPicPr>
        <p:blipFill rotWithShape="1">
          <a:blip r:embed="rId13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20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Execution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0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20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90-Day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Timeline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 Targets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0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20"/>
          <p:cNvSpPr txBox="1"/>
          <p:nvPr/>
        </p:nvSpPr>
        <p:spPr>
          <a:xfrm>
            <a:off x="580644" y="263530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Reactivation follows a predictable curve. We build the foundation, generate initial momentum, and then optimize for maximum yield.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0"/>
          <p:cNvSpPr txBox="1"/>
          <p:nvPr/>
        </p:nvSpPr>
        <p:spPr>
          <a:xfrm>
            <a:off x="580644" y="3763670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Here is the roadmap for the next quarter.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6" name="Google Shape;956;p20"/>
          <p:cNvPicPr preferRelativeResize="0"/>
          <p:nvPr/>
        </p:nvPicPr>
        <p:blipFill rotWithShape="1">
          <a:blip r:embed="rId14">
            <a:alphaModFix amt="80000"/>
          </a:blip>
          <a:srcRect b="0" l="-57" r="-57" t="0"/>
          <a:stretch/>
        </p:blipFill>
        <p:spPr>
          <a:xfrm>
            <a:off x="381305" y="4251046"/>
            <a:ext cx="4005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20"/>
          <p:cNvSpPr txBox="1"/>
          <p:nvPr/>
        </p:nvSpPr>
        <p:spPr>
          <a:xfrm>
            <a:off x="7217800" y="3783402"/>
            <a:ext cx="1628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Post card Launch (2)</a:t>
            </a:r>
            <a:endParaRPr b="1" i="0" sz="100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ollowing up on the emails sending them back to you for any specials </a:t>
            </a:r>
            <a:endParaRPr b="0" i="0" sz="100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preencoded.png" id="958" name="Google Shape;958;p20"/>
          <p:cNvPicPr preferRelativeResize="0"/>
          <p:nvPr/>
        </p:nvPicPr>
        <p:blipFill rotWithShape="1">
          <a:blip r:embed="rId9">
            <a:alphaModFix/>
          </a:blip>
          <a:srcRect b="0" l="-2576" r="-2565" t="0"/>
          <a:stretch/>
        </p:blipFill>
        <p:spPr>
          <a:xfrm>
            <a:off x="6959241" y="3887809"/>
            <a:ext cx="105156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1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7" name="Google Shape;967;p21"/>
          <p:cNvPicPr preferRelativeResize="0"/>
          <p:nvPr/>
        </p:nvPicPr>
        <p:blipFill rotWithShape="1">
          <a:blip r:embed="rId3">
            <a:alphaModFix/>
          </a:blip>
          <a:srcRect b="-3" l="0" r="0" t="-3"/>
          <a:stretch/>
        </p:blipFill>
        <p:spPr>
          <a:xfrm>
            <a:off x="4381805" y="502920"/>
            <a:ext cx="7048195" cy="5280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8" name="Google Shape;9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598" y="160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9" name="Google Shape;969;p21"/>
          <p:cNvPicPr preferRelativeResize="0"/>
          <p:nvPr/>
        </p:nvPicPr>
        <p:blipFill rotWithShape="1">
          <a:blip r:embed="rId5">
            <a:alphaModFix/>
          </a:blip>
          <a:srcRect b="-45" l="0" r="0" t="-45"/>
          <a:stretch/>
        </p:blipFill>
        <p:spPr>
          <a:xfrm>
            <a:off x="7776972" y="369418"/>
            <a:ext cx="25694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21"/>
          <p:cNvSpPr txBox="1"/>
          <p:nvPr/>
        </p:nvSpPr>
        <p:spPr>
          <a:xfrm>
            <a:off x="4895698" y="1207922"/>
            <a:ext cx="60204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The Performance Guarantee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1"/>
          <p:cNvSpPr txBox="1"/>
          <p:nvPr/>
        </p:nvSpPr>
        <p:spPr>
          <a:xfrm>
            <a:off x="4895698" y="1598371"/>
            <a:ext cx="6020410" cy="1343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We will generate </a:t>
            </a: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40 Qualified Reactivation Leads</a:t>
            </a: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in your first 90 days.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1"/>
          <p:cNvSpPr/>
          <p:nvPr/>
        </p:nvSpPr>
        <p:spPr>
          <a:xfrm>
            <a:off x="4895698" y="3735324"/>
            <a:ext cx="6019495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1"/>
          <p:cNvSpPr txBox="1"/>
          <p:nvPr/>
        </p:nvSpPr>
        <p:spPr>
          <a:xfrm>
            <a:off x="4895698" y="3163824"/>
            <a:ext cx="6020410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Open Sans"/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...Or we work for free until you get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1"/>
          <p:cNvSpPr/>
          <p:nvPr/>
        </p:nvSpPr>
        <p:spPr>
          <a:xfrm>
            <a:off x="4895698" y="4030675"/>
            <a:ext cx="6019495" cy="1238098"/>
          </a:xfrm>
          <a:prstGeom prst="roundRect">
            <a:avLst>
              <a:gd fmla="val 9090" name="adj"/>
            </a:avLst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5" name="Google Shape;97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6807" y="4297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21"/>
          <p:cNvSpPr txBox="1"/>
          <p:nvPr/>
        </p:nvSpPr>
        <p:spPr>
          <a:xfrm>
            <a:off x="5467198" y="4221785"/>
            <a:ext cx="5257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What counts as a "Qualified Lead"?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1"/>
          <p:cNvSpPr txBox="1"/>
          <p:nvPr/>
        </p:nvSpPr>
        <p:spPr>
          <a:xfrm>
            <a:off x="5467198" y="4478731"/>
            <a:ext cx="5257800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past customer who responds to our outreach with interest in service, agrees to a quote or appointment booking, or explicitly requests a callback from your team. We don't count "unsubscribe" clicks or wrong numbers.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8" name="Google Shape;978;p21"/>
          <p:cNvPicPr preferRelativeResize="0"/>
          <p:nvPr/>
        </p:nvPicPr>
        <p:blipFill rotWithShape="1">
          <a:blip r:embed="rId7">
            <a:alphaModFix amt="70000"/>
          </a:blip>
          <a:srcRect b="-43" l="0" r="0" t="-43"/>
          <a:stretch/>
        </p:blipFill>
        <p:spPr>
          <a:xfrm>
            <a:off x="4925873" y="6184087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21"/>
          <p:cNvSpPr txBox="1"/>
          <p:nvPr/>
        </p:nvSpPr>
        <p:spPr>
          <a:xfrm>
            <a:off x="5135270" y="6164885"/>
            <a:ext cx="187086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Long-Term Contracts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0" name="Google Shape;980;p21"/>
          <p:cNvPicPr preferRelativeResize="0"/>
          <p:nvPr/>
        </p:nvPicPr>
        <p:blipFill rotWithShape="1">
          <a:blip r:embed="rId7">
            <a:alphaModFix amt="70000"/>
          </a:blip>
          <a:srcRect b="-43" l="0" r="0" t="-43"/>
          <a:stretch/>
        </p:blipFill>
        <p:spPr>
          <a:xfrm>
            <a:off x="7009790" y="6184087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21"/>
          <p:cNvSpPr txBox="1"/>
          <p:nvPr/>
        </p:nvSpPr>
        <p:spPr>
          <a:xfrm>
            <a:off x="7219188" y="6164885"/>
            <a:ext cx="201808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Results-Based Partnership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2" name="Google Shape;982;p21"/>
          <p:cNvPicPr preferRelativeResize="0"/>
          <p:nvPr/>
        </p:nvPicPr>
        <p:blipFill rotWithShape="1">
          <a:blip r:embed="rId7">
            <a:alphaModFix amt="70000"/>
          </a:blip>
          <a:srcRect b="-43" l="0" r="0" t="-43"/>
          <a:stretch/>
        </p:blipFill>
        <p:spPr>
          <a:xfrm>
            <a:off x="9217152" y="6184087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21"/>
          <p:cNvSpPr txBox="1"/>
          <p:nvPr/>
        </p:nvSpPr>
        <p:spPr>
          <a:xfrm>
            <a:off x="9426550" y="6164885"/>
            <a:ext cx="174559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Transparent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1"/>
          <p:cNvSpPr txBox="1"/>
          <p:nvPr/>
        </p:nvSpPr>
        <p:spPr>
          <a:xfrm>
            <a:off x="11704320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1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6" name="Google Shape;986;p21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2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Montserrat"/>
                <a:ea typeface="Montserrat"/>
                <a:cs typeface="Montserrat"/>
                <a:sym typeface="Montserrat"/>
              </a:rPr>
              <a:t>Risk Reversal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1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1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90-Day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Promise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1"/>
          <p:cNvSpPr/>
          <p:nvPr/>
        </p:nvSpPr>
        <p:spPr>
          <a:xfrm>
            <a:off x="381305" y="2635301"/>
            <a:ext cx="9144" cy="886054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1"/>
          <p:cNvSpPr txBox="1"/>
          <p:nvPr/>
        </p:nvSpPr>
        <p:spPr>
          <a:xfrm>
            <a:off x="580644" y="2635301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don't ask you to take the risk.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1"/>
          <p:cNvSpPr txBox="1"/>
          <p:nvPr/>
        </p:nvSpPr>
        <p:spPr>
          <a:xfrm>
            <a:off x="580644" y="3032150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We're betting our own revenue on our ability to reactivate your assets.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3" name="Google Shape;993;p21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519526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2"/>
          <p:cNvSpPr txBox="1"/>
          <p:nvPr/>
        </p:nvSpPr>
        <p:spPr>
          <a:xfrm>
            <a:off x="4190695" y="476402"/>
            <a:ext cx="78629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Investment vs. Projected Return (90 Days)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2"/>
          <p:cNvSpPr/>
          <p:nvPr/>
        </p:nvSpPr>
        <p:spPr>
          <a:xfrm>
            <a:off x="4190695" y="1314907"/>
            <a:ext cx="2943454" cy="5067605"/>
          </a:xfrm>
          <a:prstGeom prst="roundRect">
            <a:avLst>
              <a:gd fmla="val 32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2"/>
          <p:cNvSpPr/>
          <p:nvPr/>
        </p:nvSpPr>
        <p:spPr>
          <a:xfrm>
            <a:off x="4200754" y="1324051"/>
            <a:ext cx="2924251" cy="724205"/>
          </a:xfrm>
          <a:prstGeom prst="roundRect">
            <a:avLst>
              <a:gd fmla="val 531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4200754" y="2039112"/>
            <a:ext cx="2924251" cy="9144"/>
          </a:xfrm>
          <a:prstGeom prst="roundRect">
            <a:avLst>
              <a:gd fmla="val 421052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22"/>
          <p:cNvSpPr txBox="1"/>
          <p:nvPr/>
        </p:nvSpPr>
        <p:spPr>
          <a:xfrm>
            <a:off x="4667098" y="1552651"/>
            <a:ext cx="222930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Total Investment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7" name="Google Shape;1007;p22"/>
          <p:cNvPicPr preferRelativeResize="0"/>
          <p:nvPr/>
        </p:nvPicPr>
        <p:blipFill rotWithShape="1">
          <a:blip r:embed="rId3">
            <a:alphaModFix/>
          </a:blip>
          <a:srcRect b="0" l="-5319" r="-5319" t="0"/>
          <a:stretch/>
        </p:blipFill>
        <p:spPr>
          <a:xfrm>
            <a:off x="4429354" y="1595628"/>
            <a:ext cx="14264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22"/>
          <p:cNvSpPr/>
          <p:nvPr/>
        </p:nvSpPr>
        <p:spPr>
          <a:xfrm>
            <a:off x="4486046" y="2743200"/>
            <a:ext cx="2352751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2"/>
          <p:cNvSpPr txBox="1"/>
          <p:nvPr/>
        </p:nvSpPr>
        <p:spPr>
          <a:xfrm>
            <a:off x="4486046" y="2348179"/>
            <a:ext cx="13267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One-Time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2"/>
          <p:cNvSpPr txBox="1"/>
          <p:nvPr/>
        </p:nvSpPr>
        <p:spPr>
          <a:xfrm>
            <a:off x="6220663" y="2333549"/>
            <a:ext cx="66294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$6,000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2"/>
          <p:cNvSpPr/>
          <p:nvPr/>
        </p:nvSpPr>
        <p:spPr>
          <a:xfrm>
            <a:off x="4486046" y="3390595"/>
            <a:ext cx="2352751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2"/>
          <p:cNvSpPr txBox="1"/>
          <p:nvPr/>
        </p:nvSpPr>
        <p:spPr>
          <a:xfrm>
            <a:off x="4486046" y="2995574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Program (Month 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2"/>
          <p:cNvSpPr txBox="1"/>
          <p:nvPr/>
        </p:nvSpPr>
        <p:spPr>
          <a:xfrm>
            <a:off x="6239866" y="2980944"/>
            <a:ext cx="66202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$7,900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2"/>
          <p:cNvSpPr/>
          <p:nvPr/>
        </p:nvSpPr>
        <p:spPr>
          <a:xfrm>
            <a:off x="4486046" y="4038905"/>
            <a:ext cx="2352751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2"/>
          <p:cNvSpPr txBox="1"/>
          <p:nvPr/>
        </p:nvSpPr>
        <p:spPr>
          <a:xfrm>
            <a:off x="4486046" y="3642970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Program (Month 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2"/>
          <p:cNvSpPr txBox="1"/>
          <p:nvPr/>
        </p:nvSpPr>
        <p:spPr>
          <a:xfrm>
            <a:off x="6239866" y="3629254"/>
            <a:ext cx="66202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$7,900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2"/>
          <p:cNvSpPr txBox="1"/>
          <p:nvPr/>
        </p:nvSpPr>
        <p:spPr>
          <a:xfrm>
            <a:off x="4486046" y="4291279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Program (Month 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2"/>
          <p:cNvSpPr txBox="1"/>
          <p:nvPr/>
        </p:nvSpPr>
        <p:spPr>
          <a:xfrm>
            <a:off x="6239866" y="4276649"/>
            <a:ext cx="66202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$7,900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2"/>
          <p:cNvSpPr/>
          <p:nvPr/>
        </p:nvSpPr>
        <p:spPr>
          <a:xfrm>
            <a:off x="4200754" y="5514746"/>
            <a:ext cx="2924251" cy="857707"/>
          </a:xfrm>
          <a:prstGeom prst="roundRect">
            <a:avLst>
              <a:gd fmla="val 37906" name="adj"/>
            </a:avLst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2"/>
          <p:cNvSpPr txBox="1"/>
          <p:nvPr/>
        </p:nvSpPr>
        <p:spPr>
          <a:xfrm>
            <a:off x="4486046" y="5843930"/>
            <a:ext cx="125181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startup investment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2"/>
          <p:cNvSpPr txBox="1"/>
          <p:nvPr/>
        </p:nvSpPr>
        <p:spPr>
          <a:xfrm>
            <a:off x="5731459" y="5743346"/>
            <a:ext cx="1202436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$29,700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2"/>
          <p:cNvSpPr txBox="1"/>
          <p:nvPr/>
        </p:nvSpPr>
        <p:spPr>
          <a:xfrm>
            <a:off x="7509053" y="1314907"/>
            <a:ext cx="4114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Projected Revenue Scenarios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2"/>
          <p:cNvSpPr/>
          <p:nvPr/>
        </p:nvSpPr>
        <p:spPr>
          <a:xfrm>
            <a:off x="7509053" y="1800454"/>
            <a:ext cx="4114800" cy="1028700"/>
          </a:xfrm>
          <a:prstGeom prst="roundRect">
            <a:avLst>
              <a:gd fmla="val 197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22"/>
          <p:cNvSpPr/>
          <p:nvPr/>
        </p:nvSpPr>
        <p:spPr>
          <a:xfrm>
            <a:off x="7509053" y="1800454"/>
            <a:ext cx="57607" cy="100492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2"/>
          <p:cNvSpPr txBox="1"/>
          <p:nvPr/>
        </p:nvSpPr>
        <p:spPr>
          <a:xfrm>
            <a:off x="7804404" y="2100377"/>
            <a:ext cx="17529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Conservative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2"/>
          <p:cNvSpPr txBox="1"/>
          <p:nvPr/>
        </p:nvSpPr>
        <p:spPr>
          <a:xfrm>
            <a:off x="7804404" y="2324405"/>
            <a:ext cx="2085746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40 Reactivations @ $850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2"/>
          <p:cNvSpPr txBox="1"/>
          <p:nvPr/>
        </p:nvSpPr>
        <p:spPr>
          <a:xfrm>
            <a:off x="9955987" y="2000707"/>
            <a:ext cx="137617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$34,000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2"/>
          <p:cNvSpPr/>
          <p:nvPr/>
        </p:nvSpPr>
        <p:spPr>
          <a:xfrm>
            <a:off x="10594238" y="2361895"/>
            <a:ext cx="733349" cy="267005"/>
          </a:xfrm>
          <a:prstGeom prst="roundRect">
            <a:avLst>
              <a:gd fmla="val 342465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22"/>
          <p:cNvSpPr/>
          <p:nvPr/>
        </p:nvSpPr>
        <p:spPr>
          <a:xfrm>
            <a:off x="10594238" y="2361895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1.2x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0" name="Google Shape;1030;p22"/>
          <p:cNvPicPr preferRelativeResize="0"/>
          <p:nvPr/>
        </p:nvPicPr>
        <p:blipFill rotWithShape="1">
          <a:blip r:embed="rId4">
            <a:alphaModFix/>
          </a:blip>
          <a:srcRect b="0" l="-4" r="-4" t="0"/>
          <a:stretch/>
        </p:blipFill>
        <p:spPr>
          <a:xfrm>
            <a:off x="7467905" y="3004718"/>
            <a:ext cx="4193438" cy="1044245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2"/>
          <p:cNvSpPr/>
          <p:nvPr/>
        </p:nvSpPr>
        <p:spPr>
          <a:xfrm>
            <a:off x="7467905" y="3004718"/>
            <a:ext cx="57607" cy="100492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2"/>
          <p:cNvSpPr txBox="1"/>
          <p:nvPr/>
        </p:nvSpPr>
        <p:spPr>
          <a:xfrm>
            <a:off x="7768742" y="3310128"/>
            <a:ext cx="17913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Realistic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2"/>
          <p:cNvSpPr txBox="1"/>
          <p:nvPr/>
        </p:nvSpPr>
        <p:spPr>
          <a:xfrm>
            <a:off x="7768742" y="3538728"/>
            <a:ext cx="213146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80 Reactivations @ $850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2"/>
          <p:cNvSpPr txBox="1"/>
          <p:nvPr/>
        </p:nvSpPr>
        <p:spPr>
          <a:xfrm>
            <a:off x="10023653" y="3208630"/>
            <a:ext cx="1343254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$68,000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2"/>
          <p:cNvSpPr/>
          <p:nvPr/>
        </p:nvSpPr>
        <p:spPr>
          <a:xfrm>
            <a:off x="10615270" y="3578047"/>
            <a:ext cx="752551" cy="276149"/>
          </a:xfrm>
          <a:prstGeom prst="roundRect">
            <a:avLst>
              <a:gd fmla="val 331126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2"/>
          <p:cNvSpPr/>
          <p:nvPr/>
        </p:nvSpPr>
        <p:spPr>
          <a:xfrm>
            <a:off x="10615270" y="3578047"/>
            <a:ext cx="752551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2.3x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2"/>
          <p:cNvSpPr/>
          <p:nvPr/>
        </p:nvSpPr>
        <p:spPr>
          <a:xfrm>
            <a:off x="7509053" y="4229100"/>
            <a:ext cx="4114800" cy="1028700"/>
          </a:xfrm>
          <a:prstGeom prst="roundRect">
            <a:avLst>
              <a:gd fmla="val 197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2"/>
          <p:cNvSpPr/>
          <p:nvPr/>
        </p:nvSpPr>
        <p:spPr>
          <a:xfrm>
            <a:off x="7509053" y="4229100"/>
            <a:ext cx="57607" cy="1004926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2"/>
          <p:cNvSpPr txBox="1"/>
          <p:nvPr/>
        </p:nvSpPr>
        <p:spPr>
          <a:xfrm>
            <a:off x="7804404" y="4529023"/>
            <a:ext cx="18288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Optimistic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2"/>
          <p:cNvSpPr txBox="1"/>
          <p:nvPr/>
        </p:nvSpPr>
        <p:spPr>
          <a:xfrm>
            <a:off x="7804404" y="4753051"/>
            <a:ext cx="217627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120 Reactivations @ $850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2"/>
          <p:cNvSpPr txBox="1"/>
          <p:nvPr/>
        </p:nvSpPr>
        <p:spPr>
          <a:xfrm>
            <a:off x="9757562" y="4429354"/>
            <a:ext cx="156911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$102,000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2"/>
          <p:cNvSpPr/>
          <p:nvPr/>
        </p:nvSpPr>
        <p:spPr>
          <a:xfrm>
            <a:off x="10594238" y="4791456"/>
            <a:ext cx="733349" cy="267005"/>
          </a:xfrm>
          <a:prstGeom prst="roundRect">
            <a:avLst>
              <a:gd fmla="val 342465" name="adj"/>
            </a:avLst>
          </a:prstGeom>
          <a:solidFill>
            <a:srgbClr val="D1FAE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22"/>
          <p:cNvSpPr/>
          <p:nvPr/>
        </p:nvSpPr>
        <p:spPr>
          <a:xfrm>
            <a:off x="10594238" y="4791456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3.4x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2"/>
          <p:cNvSpPr/>
          <p:nvPr/>
        </p:nvSpPr>
        <p:spPr>
          <a:xfrm>
            <a:off x="7509053" y="5556809"/>
            <a:ext cx="4114800" cy="828446"/>
          </a:xfrm>
          <a:prstGeom prst="roundRect">
            <a:avLst>
              <a:gd fmla="val 20299" name="adj"/>
            </a:avLst>
          </a:prstGeom>
          <a:solidFill>
            <a:srgbClr val="FFFBEB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5" name="Google Shape;1045;p22"/>
          <p:cNvPicPr preferRelativeResize="0"/>
          <p:nvPr/>
        </p:nvPicPr>
        <p:blipFill rotWithShape="1">
          <a:blip r:embed="rId5">
            <a:alphaModFix/>
          </a:blip>
          <a:srcRect b="-43" l="0" r="0" t="-43"/>
          <a:stretch/>
        </p:blipFill>
        <p:spPr>
          <a:xfrm>
            <a:off x="7660843" y="5747918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22"/>
          <p:cNvSpPr txBox="1"/>
          <p:nvPr/>
        </p:nvSpPr>
        <p:spPr>
          <a:xfrm>
            <a:off x="7908646" y="5709514"/>
            <a:ext cx="3562502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Break-Even Point:</a:t>
            </a:r>
            <a:r>
              <a:rPr b="0" i="0" lang="en-US" sz="9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 You only need ~35 reactivations over 90 days to cover the entire program cost. Everything after that is profit.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2"/>
          <p:cNvSpPr txBox="1"/>
          <p:nvPr/>
        </p:nvSpPr>
        <p:spPr>
          <a:xfrm>
            <a:off x="11681460" y="6400800"/>
            <a:ext cx="15727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2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9" name="Google Shape;1049;p22"/>
          <p:cNvPicPr preferRelativeResize="0"/>
          <p:nvPr/>
        </p:nvPicPr>
        <p:blipFill rotWithShape="1">
          <a:blip r:embed="rId6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22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Investment &amp;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22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Numbers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2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2"/>
          <p:cNvSpPr txBox="1"/>
          <p:nvPr/>
        </p:nvSpPr>
        <p:spPr>
          <a:xfrm>
            <a:off x="580644" y="215524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structured this pilot to minimize risk while maximizing speed to revenue.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2"/>
          <p:cNvSpPr txBox="1"/>
          <p:nvPr/>
        </p:nvSpPr>
        <p:spPr>
          <a:xfrm>
            <a:off x="580644" y="3039466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Here is exactly what you put in, compared to what conservative models project you'll get 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6" name="Google Shape;1056;p22"/>
          <p:cNvPicPr preferRelativeResize="0"/>
          <p:nvPr/>
        </p:nvPicPr>
        <p:blipFill rotWithShape="1">
          <a:blip r:embed="rId7">
            <a:alphaModFix amt="80000"/>
          </a:blip>
          <a:srcRect b="0" l="0" r="0" t="0"/>
          <a:stretch/>
        </p:blipFill>
        <p:spPr>
          <a:xfrm>
            <a:off x="381305" y="3770986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3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Roadmap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6" name="Google Shape;1066;p23"/>
          <p:cNvPicPr preferRelativeResize="0"/>
          <p:nvPr/>
        </p:nvPicPr>
        <p:blipFill rotWithShape="1">
          <a:blip r:embed="rId3">
            <a:alphaModFix/>
          </a:blip>
          <a:srcRect b="0" l="-398" r="-398" t="0"/>
          <a:stretch/>
        </p:blipFill>
        <p:spPr>
          <a:xfrm>
            <a:off x="4619549" y="1552651"/>
            <a:ext cx="38405" cy="4772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7" name="Google Shape;10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049" y="64099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23"/>
          <p:cNvSpPr txBox="1"/>
          <p:nvPr/>
        </p:nvSpPr>
        <p:spPr>
          <a:xfrm>
            <a:off x="5495544" y="6115507"/>
            <a:ext cx="6124651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 high-pressure sales tactics. Just a transparent conversation to see if the math makes sense for your business.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3"/>
          <p:cNvSpPr txBox="1"/>
          <p:nvPr/>
        </p:nvSpPr>
        <p:spPr>
          <a:xfrm>
            <a:off x="11681460" y="6400800"/>
            <a:ext cx="15727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3"/>
          <p:cNvSpPr/>
          <p:nvPr/>
        </p:nvSpPr>
        <p:spPr>
          <a:xfrm>
            <a:off x="4381805" y="1543507"/>
            <a:ext cx="514807" cy="514807"/>
          </a:xfrm>
          <a:prstGeom prst="ellipse">
            <a:avLst/>
          </a:prstGeom>
          <a:solidFill>
            <a:srgbClr val="10B981"/>
          </a:solidFill>
          <a:ln cap="flat" cmpd="sng" w="508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1" name="Google Shape;1071;p23"/>
          <p:cNvPicPr preferRelativeResize="0"/>
          <p:nvPr/>
        </p:nvPicPr>
        <p:blipFill rotWithShape="1">
          <a:blip r:embed="rId5">
            <a:alphaModFix/>
          </a:blip>
          <a:srcRect b="0" l="-1648" r="-1648" t="0"/>
          <a:stretch/>
        </p:blipFill>
        <p:spPr>
          <a:xfrm>
            <a:off x="4552798" y="170535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23"/>
          <p:cNvSpPr/>
          <p:nvPr/>
        </p:nvSpPr>
        <p:spPr>
          <a:xfrm>
            <a:off x="5181905" y="1314907"/>
            <a:ext cx="6439205" cy="972007"/>
          </a:xfrm>
          <a:prstGeom prst="roundRect">
            <a:avLst>
              <a:gd fmla="val 22135" name="adj"/>
            </a:avLst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3"/>
          <p:cNvSpPr txBox="1"/>
          <p:nvPr/>
        </p:nvSpPr>
        <p:spPr>
          <a:xfrm>
            <a:off x="5419649" y="1552651"/>
            <a:ext cx="4734763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Review This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3"/>
          <p:cNvSpPr txBox="1"/>
          <p:nvPr/>
        </p:nvSpPr>
        <p:spPr>
          <a:xfrm>
            <a:off x="5419649" y="1848002"/>
            <a:ext cx="54205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You've analyzed the dormant revenue opportunity in your specific database.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3"/>
          <p:cNvSpPr/>
          <p:nvPr/>
        </p:nvSpPr>
        <p:spPr>
          <a:xfrm>
            <a:off x="10222078" y="1657807"/>
            <a:ext cx="1162202" cy="286207"/>
          </a:xfrm>
          <a:prstGeom prst="roundRect">
            <a:avLst>
              <a:gd fmla="val 319489" name="adj"/>
            </a:avLst>
          </a:prstGeom>
          <a:solidFill>
            <a:srgbClr val="DCFCE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3"/>
          <p:cNvSpPr/>
          <p:nvPr/>
        </p:nvSpPr>
        <p:spPr>
          <a:xfrm>
            <a:off x="10222078" y="1657807"/>
            <a:ext cx="1162202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Open Sans"/>
                <a:ea typeface="Open Sans"/>
                <a:cs typeface="Open Sans"/>
                <a:sym typeface="Open Sans"/>
              </a:rPr>
              <a:t>You Are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7" name="Google Shape;107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6202" y="271759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23"/>
          <p:cNvSpPr/>
          <p:nvPr/>
        </p:nvSpPr>
        <p:spPr>
          <a:xfrm>
            <a:off x="4356202" y="2717597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9" name="Google Shape;1079;p23"/>
          <p:cNvPicPr preferRelativeResize="0"/>
          <p:nvPr/>
        </p:nvPicPr>
        <p:blipFill rotWithShape="1">
          <a:blip r:embed="rId7">
            <a:alphaModFix/>
          </a:blip>
          <a:srcRect b="-21" l="0" r="0" t="-21"/>
          <a:stretch/>
        </p:blipFill>
        <p:spPr>
          <a:xfrm>
            <a:off x="5277002" y="2514600"/>
            <a:ext cx="6439205" cy="972007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23"/>
          <p:cNvSpPr txBox="1"/>
          <p:nvPr/>
        </p:nvSpPr>
        <p:spPr>
          <a:xfrm>
            <a:off x="5514746" y="2752344"/>
            <a:ext cx="40389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Connect with us email,text,or schedule a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3"/>
          <p:cNvSpPr txBox="1"/>
          <p:nvPr/>
        </p:nvSpPr>
        <p:spPr>
          <a:xfrm>
            <a:off x="5514746" y="3047695"/>
            <a:ext cx="47247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We'll walk through your specific segments and answer questions.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3"/>
          <p:cNvSpPr/>
          <p:nvPr/>
        </p:nvSpPr>
        <p:spPr>
          <a:xfrm>
            <a:off x="9776765" y="2848356"/>
            <a:ext cx="1705356" cy="304495"/>
          </a:xfrm>
          <a:prstGeom prst="roundRect">
            <a:avLst>
              <a:gd fmla="val 300300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3"/>
          <p:cNvSpPr/>
          <p:nvPr/>
        </p:nvSpPr>
        <p:spPr>
          <a:xfrm>
            <a:off x="9776765" y="2848356"/>
            <a:ext cx="1705356" cy="3054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Immediate Next Step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3"/>
          <p:cNvSpPr/>
          <p:nvPr/>
        </p:nvSpPr>
        <p:spPr>
          <a:xfrm>
            <a:off x="4381805" y="3943807"/>
            <a:ext cx="514807" cy="514807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23"/>
          <p:cNvSpPr/>
          <p:nvPr/>
        </p:nvSpPr>
        <p:spPr>
          <a:xfrm>
            <a:off x="4381805" y="3943807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3"/>
          <p:cNvSpPr/>
          <p:nvPr/>
        </p:nvSpPr>
        <p:spPr>
          <a:xfrm>
            <a:off x="5181905" y="3715207"/>
            <a:ext cx="6439205" cy="972007"/>
          </a:xfrm>
          <a:prstGeom prst="roundRect">
            <a:avLst>
              <a:gd fmla="val 221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23"/>
          <p:cNvSpPr txBox="1"/>
          <p:nvPr/>
        </p:nvSpPr>
        <p:spPr>
          <a:xfrm>
            <a:off x="5419649" y="3952951"/>
            <a:ext cx="4010558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Build Custom Reactivation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3"/>
          <p:cNvSpPr txBox="1"/>
          <p:nvPr/>
        </p:nvSpPr>
        <p:spPr>
          <a:xfrm>
            <a:off x="5439050" y="4195101"/>
            <a:ext cx="46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 design the messaging and select the 1000 priority targets for the mailing. And the email campaigns for  your complete email list  </a:t>
            </a:r>
            <a:endParaRPr b="0" i="0" sz="1000" u="none" cap="none" strike="noStrike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3"/>
          <p:cNvSpPr/>
          <p:nvPr/>
        </p:nvSpPr>
        <p:spPr>
          <a:xfrm>
            <a:off x="10582351" y="4058107"/>
            <a:ext cx="800100" cy="286207"/>
          </a:xfrm>
          <a:prstGeom prst="roundRect">
            <a:avLst>
              <a:gd fmla="val 319489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23"/>
          <p:cNvSpPr/>
          <p:nvPr/>
        </p:nvSpPr>
        <p:spPr>
          <a:xfrm>
            <a:off x="10582351" y="4058107"/>
            <a:ext cx="800100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2-3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3"/>
          <p:cNvSpPr/>
          <p:nvPr/>
        </p:nvSpPr>
        <p:spPr>
          <a:xfrm>
            <a:off x="4381805" y="5143500"/>
            <a:ext cx="514807" cy="514807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23"/>
          <p:cNvSpPr/>
          <p:nvPr/>
        </p:nvSpPr>
        <p:spPr>
          <a:xfrm>
            <a:off x="4381805" y="5143500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3"/>
          <p:cNvSpPr/>
          <p:nvPr/>
        </p:nvSpPr>
        <p:spPr>
          <a:xfrm>
            <a:off x="5191055" y="4915350"/>
            <a:ext cx="6439200" cy="972000"/>
          </a:xfrm>
          <a:prstGeom prst="roundRect">
            <a:avLst>
              <a:gd fmla="val 221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23"/>
          <p:cNvSpPr txBox="1"/>
          <p:nvPr/>
        </p:nvSpPr>
        <p:spPr>
          <a:xfrm>
            <a:off x="5419649" y="5152644"/>
            <a:ext cx="32772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Launch Pilot Program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3"/>
          <p:cNvSpPr txBox="1"/>
          <p:nvPr/>
        </p:nvSpPr>
        <p:spPr>
          <a:xfrm>
            <a:off x="5419650" y="5448000"/>
            <a:ext cx="457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First emails and postcards deploy. Tracking goes live.whith tracking phone numbers 1. for mailings an  1. for emails that ring to your main number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3"/>
          <p:cNvSpPr/>
          <p:nvPr/>
        </p:nvSpPr>
        <p:spPr>
          <a:xfrm>
            <a:off x="10053828" y="5257800"/>
            <a:ext cx="1333195" cy="286207"/>
          </a:xfrm>
          <a:prstGeom prst="roundRect">
            <a:avLst>
              <a:gd fmla="val 319489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23"/>
          <p:cNvSpPr/>
          <p:nvPr/>
        </p:nvSpPr>
        <p:spPr>
          <a:xfrm>
            <a:off x="10053828" y="5257800"/>
            <a:ext cx="1334110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7-10 Days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9" name="Google Shape;1099;p23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23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3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23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Path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Forward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3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3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There is a clear process to turning this data into revenue.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3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operate with full transparency—no hidden steps, no complex contracts.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6" name="Google Shape;1106;p23"/>
          <p:cNvPicPr preferRelativeResize="0"/>
          <p:nvPr/>
        </p:nvPicPr>
        <p:blipFill rotWithShape="1">
          <a:blip r:embed="rId9">
            <a:alphaModFix amt="80000"/>
          </a:blip>
          <a:srcRect b="0" l="-57" r="-57" t="0"/>
          <a:stretch/>
        </p:blipFill>
        <p:spPr>
          <a:xfrm>
            <a:off x="381305" y="4006901"/>
            <a:ext cx="400507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4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4"/>
          <p:cNvSpPr txBox="1"/>
          <p:nvPr/>
        </p:nvSpPr>
        <p:spPr>
          <a:xfrm>
            <a:off x="10673791" y="381305"/>
            <a:ext cx="1272845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0"/>
              <a:buFont typeface="Montserrat"/>
              <a:buNone/>
            </a:pPr>
            <a:r>
              <a:rPr b="1" i="0" lang="en-US" sz="15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4"/>
          <p:cNvSpPr txBox="1"/>
          <p:nvPr/>
        </p:nvSpPr>
        <p:spPr>
          <a:xfrm>
            <a:off x="11673230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4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Frequently Asked Questions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4"/>
          <p:cNvSpPr/>
          <p:nvPr/>
        </p:nvSpPr>
        <p:spPr>
          <a:xfrm>
            <a:off x="4190695" y="12188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4"/>
          <p:cNvSpPr/>
          <p:nvPr/>
        </p:nvSpPr>
        <p:spPr>
          <a:xfrm>
            <a:off x="4429354" y="14767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0" name="Google Shape;1120;p24"/>
          <p:cNvPicPr preferRelativeResize="0"/>
          <p:nvPr/>
        </p:nvPicPr>
        <p:blipFill rotWithShape="1">
          <a:blip r:embed="rId3">
            <a:alphaModFix/>
          </a:blip>
          <a:srcRect b="0" l="-760" r="-760" t="0"/>
          <a:stretch/>
        </p:blipFill>
        <p:spPr>
          <a:xfrm>
            <a:off x="4543654" y="1580998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24"/>
          <p:cNvSpPr txBox="1"/>
          <p:nvPr/>
        </p:nvSpPr>
        <p:spPr>
          <a:xfrm>
            <a:off x="5000854" y="14575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"What if our database is messy?"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4"/>
          <p:cNvSpPr txBox="1"/>
          <p:nvPr/>
        </p:nvSpPr>
        <p:spPr>
          <a:xfrm>
            <a:off x="5000854" y="17620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Don't worry, everyone's is. We clean, deduplicate, and segment your list as part of the initial setup. We can work with exports from any CRM or even basic spreadsheets.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4"/>
          <p:cNvSpPr/>
          <p:nvPr/>
        </p:nvSpPr>
        <p:spPr>
          <a:xfrm>
            <a:off x="4190695" y="25904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4"/>
          <p:cNvSpPr/>
          <p:nvPr/>
        </p:nvSpPr>
        <p:spPr>
          <a:xfrm>
            <a:off x="4429354" y="28483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5" name="Google Shape;1125;p24"/>
          <p:cNvPicPr preferRelativeResize="0"/>
          <p:nvPr/>
        </p:nvPicPr>
        <p:blipFill rotWithShape="1">
          <a:blip r:embed="rId4">
            <a:alphaModFix/>
          </a:blip>
          <a:srcRect b="0" l="-1773" r="-1773" t="0"/>
          <a:stretch/>
        </p:blipFill>
        <p:spPr>
          <a:xfrm>
            <a:off x="4552798" y="2952598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24"/>
          <p:cNvSpPr txBox="1"/>
          <p:nvPr/>
        </p:nvSpPr>
        <p:spPr>
          <a:xfrm>
            <a:off x="5000854" y="28291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"Will this work with our existing tools?"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4"/>
          <p:cNvSpPr txBox="1"/>
          <p:nvPr/>
        </p:nvSpPr>
        <p:spPr>
          <a:xfrm>
            <a:off x="5000854" y="31336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Yes. We integrate seamlessly with ServiceTitan, Housecall Pro, Jobber, and most other industry platforms. We pull data to trigger campaigns and push notes back so your records stay updated.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4"/>
          <p:cNvSpPr/>
          <p:nvPr/>
        </p:nvSpPr>
        <p:spPr>
          <a:xfrm>
            <a:off x="4190695" y="39620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4"/>
          <p:cNvSpPr/>
          <p:nvPr/>
        </p:nvSpPr>
        <p:spPr>
          <a:xfrm>
            <a:off x="4429354" y="42199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0" name="Google Shape;11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3595" y="432419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24"/>
          <p:cNvSpPr txBox="1"/>
          <p:nvPr/>
        </p:nvSpPr>
        <p:spPr>
          <a:xfrm>
            <a:off x="5000854" y="42007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"What's your typical response rate?"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4"/>
          <p:cNvSpPr txBox="1"/>
          <p:nvPr/>
        </p:nvSpPr>
        <p:spPr>
          <a:xfrm>
            <a:off x="5000854" y="45052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For HVAC dormant lists, we typically see 8–15% email open rates leading to a 2–4% conversion rate into qualified inquiries. Consistency over time is what drives these numbers.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4"/>
          <p:cNvSpPr/>
          <p:nvPr/>
        </p:nvSpPr>
        <p:spPr>
          <a:xfrm>
            <a:off x="4190695" y="53336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4"/>
          <p:cNvSpPr/>
          <p:nvPr/>
        </p:nvSpPr>
        <p:spPr>
          <a:xfrm>
            <a:off x="4429354" y="55915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5" name="Google Shape;1135;p24"/>
          <p:cNvPicPr preferRelativeResize="0"/>
          <p:nvPr/>
        </p:nvPicPr>
        <p:blipFill rotWithShape="1">
          <a:blip r:embed="rId6">
            <a:alphaModFix/>
          </a:blip>
          <a:srcRect b="0" l="-760" r="-760" t="0"/>
          <a:stretch/>
        </p:blipFill>
        <p:spPr>
          <a:xfrm>
            <a:off x="4543654" y="5695798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24"/>
          <p:cNvSpPr txBox="1"/>
          <p:nvPr/>
        </p:nvSpPr>
        <p:spPr>
          <a:xfrm>
            <a:off x="5000854" y="55723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"Can we start smaller?"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4"/>
          <p:cNvSpPr txBox="1"/>
          <p:nvPr/>
        </p:nvSpPr>
        <p:spPr>
          <a:xfrm>
            <a:off x="5000854" y="58768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This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the small pilot. We designed this 90-day program specifically to prove the concept and ROI before you commit to a long-term retention strategy.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4"/>
          <p:cNvSpPr/>
          <p:nvPr/>
        </p:nvSpPr>
        <p:spPr>
          <a:xfrm>
            <a:off x="4190695" y="67052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4"/>
          <p:cNvSpPr/>
          <p:nvPr/>
        </p:nvSpPr>
        <p:spPr>
          <a:xfrm>
            <a:off x="4429354" y="69631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0" name="Google Shape;1140;p24"/>
          <p:cNvPicPr preferRelativeResize="0"/>
          <p:nvPr/>
        </p:nvPicPr>
        <p:blipFill rotWithShape="1">
          <a:blip r:embed="rId7">
            <a:alphaModFix/>
          </a:blip>
          <a:srcRect b="0" l="-1064" r="-1064" t="0"/>
          <a:stretch/>
        </p:blipFill>
        <p:spPr>
          <a:xfrm>
            <a:off x="4509821" y="7067398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24"/>
          <p:cNvSpPr txBox="1"/>
          <p:nvPr/>
        </p:nvSpPr>
        <p:spPr>
          <a:xfrm>
            <a:off x="5000854" y="69439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"How hands-on do we need to be?"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4"/>
          <p:cNvSpPr txBox="1"/>
          <p:nvPr/>
        </p:nvSpPr>
        <p:spPr>
          <a:xfrm>
            <a:off x="5000854" y="72484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Minimal. We need your pricing, availability, and an onboarding call. After that, we handle the outreach. You just need someone ready to answer the phone and book the jobs.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4" name="Google Shape;1144;p24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24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Common Questions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4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4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You're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Probably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Wondering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4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4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implemented this system for dozens of HVAC companies.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4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Here are the answers to the most common concerns we hear from owners like you.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1" name="Google Shape;1151;p24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400690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5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5"/>
          <p:cNvSpPr txBox="1"/>
          <p:nvPr/>
        </p:nvSpPr>
        <p:spPr>
          <a:xfrm>
            <a:off x="3810000" y="280000"/>
            <a:ext cx="80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Let's Talk About Your </a:t>
            </a:r>
            <a:r>
              <a:rPr b="1" i="0" lang="en-US" sz="27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5"/>
          <p:cNvSpPr/>
          <p:nvPr/>
        </p:nvSpPr>
        <p:spPr>
          <a:xfrm>
            <a:off x="0" y="0"/>
            <a:ext cx="361920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5"/>
          <p:cNvSpPr txBox="1"/>
          <p:nvPr/>
        </p:nvSpPr>
        <p:spPr>
          <a:xfrm>
            <a:off x="381305" y="571500"/>
            <a:ext cx="2857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Action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5"/>
          <p:cNvSpPr/>
          <p:nvPr/>
        </p:nvSpPr>
        <p:spPr>
          <a:xfrm>
            <a:off x="381305" y="571500"/>
            <a:ext cx="190200" cy="192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5"/>
          <p:cNvSpPr txBox="1"/>
          <p:nvPr/>
        </p:nvSpPr>
        <p:spPr>
          <a:xfrm>
            <a:off x="381305" y="909828"/>
            <a:ext cx="28575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Move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5"/>
          <p:cNvSpPr/>
          <p:nvPr/>
        </p:nvSpPr>
        <p:spPr>
          <a:xfrm>
            <a:off x="381305" y="2635301"/>
            <a:ext cx="9000" cy="11340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5"/>
          <p:cNvSpPr txBox="1"/>
          <p:nvPr/>
        </p:nvSpPr>
        <p:spPr>
          <a:xfrm>
            <a:off x="580644" y="2635301"/>
            <a:ext cx="3033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Stop leaving money on the 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5"/>
          <p:cNvSpPr txBox="1"/>
          <p:nvPr/>
        </p:nvSpPr>
        <p:spPr>
          <a:xfrm>
            <a:off x="580644" y="3032150"/>
            <a:ext cx="26583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can have your reactivation pilot launched and generating leads in less than 3 weeks.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5"/>
          <p:cNvSpPr/>
          <p:nvPr/>
        </p:nvSpPr>
        <p:spPr>
          <a:xfrm>
            <a:off x="3810000" y="950000"/>
            <a:ext cx="8281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You've just seen what's likely sitting in your database. If the numbers we walked through resonate with you — and you're ready to find out how much of that revenue is actually recoverable — I'd love to connect.</a:t>
            </a:r>
            <a:endParaRPr/>
          </a:p>
        </p:txBody>
      </p:sp>
      <p:sp>
        <p:nvSpPr>
          <p:cNvPr id="1169" name="Google Shape;1169;p25"/>
          <p:cNvSpPr/>
          <p:nvPr/>
        </p:nvSpPr>
        <p:spPr>
          <a:xfrm>
            <a:off x="3810000" y="1900000"/>
            <a:ext cx="9144" cy="350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5"/>
          <p:cNvSpPr/>
          <p:nvPr/>
        </p:nvSpPr>
        <p:spPr>
          <a:xfrm>
            <a:off x="3940000" y="1880000"/>
            <a:ext cx="81517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No pressure. No pitch. Just next steps — on your terms.</a:t>
            </a:r>
            <a:endParaRPr/>
          </a:p>
        </p:txBody>
      </p:sp>
      <p:sp>
        <p:nvSpPr>
          <p:cNvPr id="1171" name="Google Shape;1171;p25"/>
          <p:cNvSpPr/>
          <p:nvPr/>
        </p:nvSpPr>
        <p:spPr>
          <a:xfrm>
            <a:off x="3810000" y="2420000"/>
            <a:ext cx="2684566" cy="29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5"/>
          <p:cNvSpPr/>
          <p:nvPr/>
        </p:nvSpPr>
        <p:spPr>
          <a:xfrm>
            <a:off x="5052283" y="2600000"/>
            <a:ext cx="200000" cy="2000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5"/>
          <p:cNvSpPr/>
          <p:nvPr/>
        </p:nvSpPr>
        <p:spPr>
          <a:xfrm>
            <a:off x="3960000" y="2900000"/>
            <a:ext cx="2384566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Email Me</a:t>
            </a:r>
            <a:endParaRPr/>
          </a:p>
        </p:txBody>
      </p:sp>
      <p:sp>
        <p:nvSpPr>
          <p:cNvPr id="1174" name="Google Shape;1174;p25"/>
          <p:cNvSpPr/>
          <p:nvPr/>
        </p:nvSpPr>
        <p:spPr>
          <a:xfrm>
            <a:off x="3960000" y="3370000"/>
            <a:ext cx="2384566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Send your questions at your own pace</a:t>
            </a:r>
            <a:endParaRPr/>
          </a:p>
        </p:txBody>
      </p:sp>
      <p:sp>
        <p:nvSpPr>
          <p:cNvPr id="1175" name="Google Shape;1175;p25"/>
          <p:cNvSpPr/>
          <p:nvPr/>
        </p:nvSpPr>
        <p:spPr>
          <a:xfrm>
            <a:off x="3960000" y="4120000"/>
            <a:ext cx="2384566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AA6E"/>
                </a:solidFill>
                <a:latin typeface="Arial"/>
                <a:ea typeface="Arial"/>
                <a:cs typeface="Arial"/>
                <a:sym typeface="Arial"/>
              </a:rPr>
              <a:t>dave@profitablebusinesssolutions.com</a:t>
            </a:r>
            <a:endParaRPr/>
          </a:p>
        </p:txBody>
      </p:sp>
      <p:sp>
        <p:nvSpPr>
          <p:cNvPr id="1176" name="Google Shape;1176;p25"/>
          <p:cNvSpPr/>
          <p:nvPr/>
        </p:nvSpPr>
        <p:spPr>
          <a:xfrm>
            <a:off x="6608566" y="2420000"/>
            <a:ext cx="2684566" cy="29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5"/>
          <p:cNvSpPr/>
          <p:nvPr/>
        </p:nvSpPr>
        <p:spPr>
          <a:xfrm>
            <a:off x="7850849" y="2600000"/>
            <a:ext cx="200000" cy="2000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5"/>
          <p:cNvSpPr/>
          <p:nvPr/>
        </p:nvSpPr>
        <p:spPr>
          <a:xfrm>
            <a:off x="6758566" y="2900000"/>
            <a:ext cx="2384566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Text Me</a:t>
            </a:r>
            <a:endParaRPr/>
          </a:p>
        </p:txBody>
      </p:sp>
      <p:sp>
        <p:nvSpPr>
          <p:cNvPr id="1179" name="Google Shape;1179;p25"/>
          <p:cNvSpPr/>
          <p:nvPr/>
        </p:nvSpPr>
        <p:spPr>
          <a:xfrm>
            <a:off x="6758566" y="3370000"/>
            <a:ext cx="2384566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We'll go back and forth at your pace</a:t>
            </a:r>
            <a:endParaRPr/>
          </a:p>
        </p:txBody>
      </p:sp>
      <p:sp>
        <p:nvSpPr>
          <p:cNvPr id="1180" name="Google Shape;1180;p25"/>
          <p:cNvSpPr/>
          <p:nvPr/>
        </p:nvSpPr>
        <p:spPr>
          <a:xfrm>
            <a:off x="6758566" y="4120000"/>
            <a:ext cx="2384566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AA6E"/>
                </a:solidFill>
                <a:latin typeface="Arial"/>
                <a:ea typeface="Arial"/>
                <a:cs typeface="Arial"/>
                <a:sym typeface="Arial"/>
              </a:rPr>
              <a:t>727-599-9252</a:t>
            </a:r>
            <a:endParaRPr/>
          </a:p>
        </p:txBody>
      </p:sp>
      <p:sp>
        <p:nvSpPr>
          <p:cNvPr id="1181" name="Google Shape;1181;p25"/>
          <p:cNvSpPr/>
          <p:nvPr/>
        </p:nvSpPr>
        <p:spPr>
          <a:xfrm>
            <a:off x="9407132" y="2420000"/>
            <a:ext cx="2684566" cy="2980000"/>
          </a:xfrm>
          <a:prstGeom prst="rect">
            <a:avLst/>
          </a:prstGeom>
          <a:solidFill>
            <a:srgbClr val="FFF8F4"/>
          </a:solidFill>
          <a:ln cap="flat" cmpd="sng" w="1905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25"/>
          <p:cNvSpPr/>
          <p:nvPr/>
        </p:nvSpPr>
        <p:spPr>
          <a:xfrm>
            <a:off x="10649415" y="2600000"/>
            <a:ext cx="200000" cy="2000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25"/>
          <p:cNvSpPr/>
          <p:nvPr/>
        </p:nvSpPr>
        <p:spPr>
          <a:xfrm>
            <a:off x="9557132" y="2900000"/>
            <a:ext cx="2384566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Strategy Call</a:t>
            </a:r>
            <a:endParaRPr/>
          </a:p>
        </p:txBody>
      </p:sp>
      <p:sp>
        <p:nvSpPr>
          <p:cNvPr id="1184" name="Google Shape;1184;p25"/>
          <p:cNvSpPr/>
          <p:nvPr/>
        </p:nvSpPr>
        <p:spPr>
          <a:xfrm>
            <a:off x="9557132" y="3370000"/>
            <a:ext cx="2384566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you'd rather just talk it through</a:t>
            </a:r>
            <a:endParaRPr/>
          </a:p>
        </p:txBody>
      </p:sp>
      <p:sp>
        <p:nvSpPr>
          <p:cNvPr id="1185" name="Google Shape;1185;p25"/>
          <p:cNvSpPr/>
          <p:nvPr/>
        </p:nvSpPr>
        <p:spPr>
          <a:xfrm>
            <a:off x="9557132" y="4170000"/>
            <a:ext cx="2384566" cy="380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25"/>
          <p:cNvSpPr/>
          <p:nvPr/>
        </p:nvSpPr>
        <p:spPr>
          <a:xfrm>
            <a:off x="9557132" y="4170000"/>
            <a:ext cx="2384566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 a Call  →</a:t>
            </a:r>
            <a:endParaRPr/>
          </a:p>
        </p:txBody>
      </p:sp>
      <p:sp>
        <p:nvSpPr>
          <p:cNvPr id="1187" name="Google Shape;1187;p25"/>
          <p:cNvSpPr/>
          <p:nvPr/>
        </p:nvSpPr>
        <p:spPr>
          <a:xfrm>
            <a:off x="3810000" y="5870000"/>
            <a:ext cx="82817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25"/>
          <p:cNvSpPr/>
          <p:nvPr/>
        </p:nvSpPr>
        <p:spPr>
          <a:xfrm>
            <a:off x="3810000" y="5900000"/>
            <a:ext cx="82817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No obligation. Just clarity.  |  This report was prepared exclusively for Profitable Business Solutions based on analysis completed [DATE].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2026-04-18T15:30:52Z</dcterms:created>
  <dc:creator>Visual Extract to PPTX Converter</dc:creator>
</cp:coreProperties>
</file>